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8" r:id="rId9"/>
    <p:sldId id="263" r:id="rId10"/>
    <p:sldId id="264" r:id="rId11"/>
    <p:sldId id="265" r:id="rId12"/>
    <p:sldId id="266" r:id="rId13"/>
    <p:sldId id="267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108" d="100"/>
          <a:sy n="108" d="100"/>
        </p:scale>
        <p:origin x="73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386414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1599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13" Type="http://schemas.openxmlformats.org/officeDocument/2006/relationships/image" Target="../media/image19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12" Type="http://schemas.openxmlformats.org/officeDocument/2006/relationships/image" Target="../media/image1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11" Type="http://schemas.openxmlformats.org/officeDocument/2006/relationships/image" Target="../media/image17.png"/><Relationship Id="rId5" Type="http://schemas.openxmlformats.org/officeDocument/2006/relationships/image" Target="../media/image11.png"/><Relationship Id="rId10" Type="http://schemas.openxmlformats.org/officeDocument/2006/relationships/image" Target="../media/image16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3" Type="http://schemas.openxmlformats.org/officeDocument/2006/relationships/image" Target="../media/image25.png"/><Relationship Id="rId7" Type="http://schemas.openxmlformats.org/officeDocument/2006/relationships/image" Target="../media/image2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Relationship Id="rId9" Type="http://schemas.openxmlformats.org/officeDocument/2006/relationships/image" Target="../media/image3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7" Type="http://schemas.openxmlformats.org/officeDocument/2006/relationships/image" Target="../media/image3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7.png"/><Relationship Id="rId5" Type="http://schemas.openxmlformats.org/officeDocument/2006/relationships/image" Target="../media/image36.png"/><Relationship Id="rId4" Type="http://schemas.openxmlformats.org/officeDocument/2006/relationships/image" Target="../media/image29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png"/><Relationship Id="rId3" Type="http://schemas.openxmlformats.org/officeDocument/2006/relationships/image" Target="../media/image39.png"/><Relationship Id="rId7" Type="http://schemas.openxmlformats.org/officeDocument/2006/relationships/image" Target="../media/image4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1.png"/><Relationship Id="rId5" Type="http://schemas.openxmlformats.org/officeDocument/2006/relationships/image" Target="../media/image40.png"/><Relationship Id="rId4" Type="http://schemas.openxmlformats.org/officeDocument/2006/relationships/image" Target="../media/image20.png"/><Relationship Id="rId9" Type="http://schemas.openxmlformats.org/officeDocument/2006/relationships/image" Target="../media/image44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png"/><Relationship Id="rId13" Type="http://schemas.openxmlformats.org/officeDocument/2006/relationships/image" Target="../media/image53.png"/><Relationship Id="rId3" Type="http://schemas.openxmlformats.org/officeDocument/2006/relationships/image" Target="../media/image45.png"/><Relationship Id="rId7" Type="http://schemas.openxmlformats.org/officeDocument/2006/relationships/image" Target="../media/image48.png"/><Relationship Id="rId12" Type="http://schemas.openxmlformats.org/officeDocument/2006/relationships/image" Target="../media/image5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7.png"/><Relationship Id="rId11" Type="http://schemas.openxmlformats.org/officeDocument/2006/relationships/image" Target="../media/image51.png"/><Relationship Id="rId5" Type="http://schemas.openxmlformats.org/officeDocument/2006/relationships/image" Target="../media/image46.png"/><Relationship Id="rId10" Type="http://schemas.openxmlformats.org/officeDocument/2006/relationships/image" Target="../media/image50.png"/><Relationship Id="rId4" Type="http://schemas.openxmlformats.org/officeDocument/2006/relationships/image" Target="../media/image29.png"/><Relationship Id="rId9" Type="http://schemas.openxmlformats.org/officeDocument/2006/relationships/image" Target="../media/image3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5.png"/><Relationship Id="rId4" Type="http://schemas.openxmlformats.org/officeDocument/2006/relationships/image" Target="../media/image54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1.png"/><Relationship Id="rId3" Type="http://schemas.openxmlformats.org/officeDocument/2006/relationships/image" Target="../media/image56.png"/><Relationship Id="rId7" Type="http://schemas.openxmlformats.org/officeDocument/2006/relationships/image" Target="../media/image6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9.png"/><Relationship Id="rId5" Type="http://schemas.openxmlformats.org/officeDocument/2006/relationships/image" Target="../media/image58.png"/><Relationship Id="rId10" Type="http://schemas.openxmlformats.org/officeDocument/2006/relationships/image" Target="../media/image63.png"/><Relationship Id="rId4" Type="http://schemas.openxmlformats.org/officeDocument/2006/relationships/image" Target="../media/image57.png"/><Relationship Id="rId9" Type="http://schemas.openxmlformats.org/officeDocument/2006/relationships/image" Target="../media/image62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8.png"/><Relationship Id="rId3" Type="http://schemas.openxmlformats.org/officeDocument/2006/relationships/image" Target="../media/image64.png"/><Relationship Id="rId7" Type="http://schemas.openxmlformats.org/officeDocument/2006/relationships/image" Target="../media/image6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6.png"/><Relationship Id="rId5" Type="http://schemas.openxmlformats.org/officeDocument/2006/relationships/image" Target="../media/image29.png"/><Relationship Id="rId4" Type="http://schemas.openxmlformats.org/officeDocument/2006/relationships/image" Target="../media/image65.png"/><Relationship Id="rId9" Type="http://schemas.openxmlformats.org/officeDocument/2006/relationships/image" Target="../media/image6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0" y="0"/>
                </a:moveTo>
                <a:lnTo>
                  <a:pt x="9144000" y="0"/>
                </a:lnTo>
                <a:lnTo>
                  <a:pt x="9144000" y="5143500"/>
                </a:lnTo>
                <a:lnTo>
                  <a:pt x="0" y="514350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noFill/>
          <a:ln/>
        </p:spPr>
        <p:txBody>
          <a:bodyPr wrap="square" lIns="71438" tIns="71438" rIns="71438" bIns="71438" rtlCol="0" anchor="ctr"/>
          <a:lstStyle/>
          <a:p>
            <a:pPr marL="0" indent="0" algn="l">
              <a:lnSpc>
                <a:spcPct val="130435"/>
              </a:lnSpc>
              <a:spcBef>
                <a:spcPts val="281"/>
              </a:spcBef>
              <a:buNone/>
            </a:pP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85725" cy="5143500"/>
          </a:xfrm>
          <a:custGeom>
            <a:avLst/>
            <a:gdLst/>
            <a:ahLst/>
            <a:cxnLst/>
            <a:rect l="l" t="t" r="r" b="b"/>
            <a:pathLst>
              <a:path w="85725" h="5143500">
                <a:moveTo>
                  <a:pt x="0" y="0"/>
                </a:moveTo>
                <a:lnTo>
                  <a:pt x="85725" y="0"/>
                </a:lnTo>
                <a:lnTo>
                  <a:pt x="85725" y="5143500"/>
                </a:lnTo>
                <a:lnTo>
                  <a:pt x="0" y="5143500"/>
                </a:lnTo>
                <a:close/>
              </a:path>
            </a:pathLst>
          </a:custGeom>
          <a:solidFill>
            <a:srgbClr val="2F6B8E"/>
          </a:solidFill>
          <a:ln/>
        </p:spPr>
      </p:sp>
      <p:sp>
        <p:nvSpPr>
          <p:cNvPr id="6" name="Shape 4"/>
          <p:cNvSpPr/>
          <p:nvPr/>
        </p:nvSpPr>
        <p:spPr>
          <a:xfrm>
            <a:off x="9058275" y="0"/>
            <a:ext cx="85725" cy="5143500"/>
          </a:xfrm>
          <a:custGeom>
            <a:avLst/>
            <a:gdLst/>
            <a:ahLst/>
            <a:cxnLst/>
            <a:rect l="l" t="t" r="r" b="b"/>
            <a:pathLst>
              <a:path w="85725" h="5143500">
                <a:moveTo>
                  <a:pt x="0" y="0"/>
                </a:moveTo>
                <a:lnTo>
                  <a:pt x="85725" y="0"/>
                </a:lnTo>
                <a:lnTo>
                  <a:pt x="85725" y="5143500"/>
                </a:lnTo>
                <a:lnTo>
                  <a:pt x="0" y="5143500"/>
                </a:lnTo>
                <a:close/>
              </a:path>
            </a:pathLst>
          </a:custGeom>
          <a:solidFill>
            <a:srgbClr val="4AA3A2"/>
          </a:solidFill>
          <a:ln/>
        </p:spPr>
      </p:sp>
      <p:sp>
        <p:nvSpPr>
          <p:cNvPr id="7" name="Shape 5"/>
          <p:cNvSpPr/>
          <p:nvPr/>
        </p:nvSpPr>
        <p:spPr>
          <a:xfrm>
            <a:off x="2633772" y="711731"/>
            <a:ext cx="3962400" cy="385763"/>
          </a:xfrm>
          <a:custGeom>
            <a:avLst/>
            <a:gdLst/>
            <a:ahLst/>
            <a:cxnLst/>
            <a:rect l="l" t="t" r="r" b="b"/>
            <a:pathLst>
              <a:path w="3962400" h="385763">
                <a:moveTo>
                  <a:pt x="0" y="0"/>
                </a:moveTo>
                <a:lnTo>
                  <a:pt x="3962400" y="0"/>
                </a:lnTo>
                <a:lnTo>
                  <a:pt x="3962400" y="385763"/>
                </a:lnTo>
                <a:lnTo>
                  <a:pt x="0" y="385763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2723856" y="713887"/>
            <a:ext cx="3696287" cy="2649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7391"/>
              </a:lnSpc>
              <a:spcBef>
                <a:spcPts val="281"/>
              </a:spcBef>
              <a:buNone/>
            </a:pPr>
            <a:r>
              <a:rPr lang="en-US" sz="2565" b="1" dirty="0">
                <a:solidFill>
                  <a:srgbClr val="0B1F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Major Project – Batch 5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733731" y="1637755"/>
            <a:ext cx="3719512" cy="214313"/>
          </a:xfrm>
          <a:custGeom>
            <a:avLst/>
            <a:gdLst/>
            <a:ahLst/>
            <a:cxnLst/>
            <a:rect l="l" t="t" r="r" b="b"/>
            <a:pathLst>
              <a:path w="3719512" h="214313">
                <a:moveTo>
                  <a:pt x="0" y="0"/>
                </a:moveTo>
                <a:lnTo>
                  <a:pt x="3719512" y="0"/>
                </a:lnTo>
                <a:lnTo>
                  <a:pt x="3719512" y="214313"/>
                </a:lnTo>
                <a:lnTo>
                  <a:pt x="0" y="214313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2343484" y="1754612"/>
            <a:ext cx="437748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1739"/>
              </a:lnSpc>
              <a:spcBef>
                <a:spcPts val="281"/>
              </a:spcBef>
              <a:buNone/>
            </a:pPr>
            <a:r>
              <a:rPr lang="en-US" sz="1198" dirty="0">
                <a:solidFill>
                  <a:srgbClr val="5B6B7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From verified financial data to grounded insights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794762" y="2658962"/>
            <a:ext cx="2565206" cy="517672"/>
          </a:xfrm>
          <a:custGeom>
            <a:avLst/>
            <a:gdLst/>
            <a:ahLst/>
            <a:cxnLst/>
            <a:rect l="l" t="t" r="r" b="b"/>
            <a:pathLst>
              <a:path w="2565206" h="517672">
                <a:moveTo>
                  <a:pt x="0" y="0"/>
                </a:moveTo>
                <a:lnTo>
                  <a:pt x="2565206" y="0"/>
                </a:lnTo>
                <a:lnTo>
                  <a:pt x="2565206" y="517672"/>
                </a:lnTo>
                <a:lnTo>
                  <a:pt x="0" y="517672"/>
                </a:lnTo>
                <a:close/>
              </a:path>
            </a:pathLst>
          </a:custGeom>
          <a:solidFill>
            <a:srgbClr val="F6F9FC"/>
          </a:solidFill>
          <a:ln/>
        </p:spPr>
      </p:sp>
      <p:sp>
        <p:nvSpPr>
          <p:cNvPr id="12" name="Shape 10"/>
          <p:cNvSpPr/>
          <p:nvPr/>
        </p:nvSpPr>
        <p:spPr>
          <a:xfrm>
            <a:off x="571500" y="4657725"/>
            <a:ext cx="8001000" cy="142875"/>
          </a:xfrm>
          <a:custGeom>
            <a:avLst/>
            <a:gdLst/>
            <a:ahLst/>
            <a:cxnLst/>
            <a:rect l="l" t="t" r="r" b="b"/>
            <a:pathLst>
              <a:path w="8001000" h="142875">
                <a:moveTo>
                  <a:pt x="0" y="0"/>
                </a:moveTo>
                <a:lnTo>
                  <a:pt x="8001000" y="0"/>
                </a:lnTo>
                <a:lnTo>
                  <a:pt x="8001000" y="142875"/>
                </a:lnTo>
                <a:lnTo>
                  <a:pt x="0" y="142875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571500" y="4657725"/>
            <a:ext cx="800100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86957"/>
              </a:lnSpc>
              <a:spcBef>
                <a:spcPts val="281"/>
              </a:spcBef>
              <a:buNone/>
            </a:pPr>
            <a:r>
              <a:rPr lang="en-US" sz="698" dirty="0">
                <a:solidFill>
                  <a:srgbClr val="5B6B7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Financial data analysis project </a:t>
            </a:r>
            <a:r>
              <a:rPr lang="en-US" sz="698" dirty="0">
                <a:solidFill>
                  <a:srgbClr val="2F6B8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Batch 5</a:t>
            </a:r>
            <a:endParaRPr lang="en-US" sz="900" dirty="0"/>
          </a:p>
        </p:txBody>
      </p:sp>
      <p:pic>
        <p:nvPicPr>
          <p:cNvPr id="14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94762" y="2658962"/>
            <a:ext cx="2565206" cy="459599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1050465" y="2785178"/>
            <a:ext cx="2586038" cy="228600"/>
          </a:xfrm>
          <a:prstGeom prst="rect">
            <a:avLst/>
          </a:prstGeom>
          <a:noFill/>
          <a:ln/>
        </p:spPr>
        <p:txBody>
          <a:bodyPr wrap="square" lIns="71438" tIns="71438" rIns="71438" bIns="71438" rtlCol="0" anchor="t"/>
          <a:lstStyle/>
          <a:p>
            <a:pPr marL="0" indent="0" algn="l">
              <a:lnSpc>
                <a:spcPct val="86957"/>
              </a:lnSpc>
              <a:spcBef>
                <a:spcPts val="281"/>
              </a:spcBef>
              <a:buNone/>
            </a:pPr>
            <a:r>
              <a:rPr lang="en-US" sz="1238" dirty="0">
                <a:solidFill>
                  <a:srgbClr val="000000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TEAM MEMBERS:</a:t>
            </a:r>
            <a:endParaRPr lang="en-US" sz="1238" dirty="0"/>
          </a:p>
        </p:txBody>
      </p:sp>
      <p:sp>
        <p:nvSpPr>
          <p:cNvPr id="16" name="Text 13"/>
          <p:cNvSpPr/>
          <p:nvPr/>
        </p:nvSpPr>
        <p:spPr>
          <a:xfrm>
            <a:off x="946853" y="3285736"/>
            <a:ext cx="2893219" cy="828675"/>
          </a:xfrm>
          <a:prstGeom prst="rect">
            <a:avLst/>
          </a:prstGeom>
          <a:noFill/>
          <a:ln/>
        </p:spPr>
        <p:txBody>
          <a:bodyPr wrap="square" lIns="71438" tIns="71438" rIns="71438" bIns="71438" rtlCol="0" anchor="t"/>
          <a:lstStyle/>
          <a:p>
            <a:pPr marL="0" indent="0" algn="l">
              <a:lnSpc>
                <a:spcPct val="86957"/>
              </a:lnSpc>
              <a:spcBef>
                <a:spcPts val="281"/>
              </a:spcBef>
              <a:buNone/>
            </a:pPr>
            <a:r>
              <a:rPr lang="en-US" sz="1294" dirty="0">
                <a:solidFill>
                  <a:srgbClr val="000000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R. Lalithasahasra – 6642</a:t>
            </a:r>
            <a:endParaRPr lang="en-US" sz="1294" dirty="0"/>
          </a:p>
          <a:p>
            <a:pPr marL="0" indent="0" algn="l">
              <a:lnSpc>
                <a:spcPct val="86957"/>
              </a:lnSpc>
              <a:spcBef>
                <a:spcPts val="281"/>
              </a:spcBef>
              <a:buNone/>
            </a:pPr>
            <a:r>
              <a:rPr lang="en-US" sz="1294" dirty="0">
                <a:solidFill>
                  <a:srgbClr val="000000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Md. Maaz – 6646</a:t>
            </a:r>
            <a:endParaRPr lang="en-US" sz="1294" dirty="0"/>
          </a:p>
          <a:p>
            <a:pPr marL="0" indent="0" algn="l">
              <a:lnSpc>
                <a:spcPct val="86957"/>
              </a:lnSpc>
              <a:spcBef>
                <a:spcPts val="281"/>
              </a:spcBef>
              <a:buNone/>
            </a:pPr>
            <a:r>
              <a:rPr lang="en-US" sz="1294" dirty="0">
                <a:solidFill>
                  <a:srgbClr val="000000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G. Nikhil – 6663</a:t>
            </a:r>
            <a:endParaRPr lang="en-US" sz="1294" dirty="0"/>
          </a:p>
          <a:p>
            <a:pPr marL="0" indent="0" algn="l">
              <a:lnSpc>
                <a:spcPct val="86957"/>
              </a:lnSpc>
              <a:spcBef>
                <a:spcPts val="281"/>
              </a:spcBef>
              <a:buNone/>
            </a:pPr>
            <a:r>
              <a:rPr lang="en-US" sz="1294" dirty="0">
                <a:solidFill>
                  <a:srgbClr val="000000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K. Praveen - 6674</a:t>
            </a:r>
            <a:endParaRPr lang="en-US" sz="1294" dirty="0"/>
          </a:p>
        </p:txBody>
      </p:sp>
      <p:sp>
        <p:nvSpPr>
          <p:cNvPr id="17" name="Shape 14"/>
          <p:cNvSpPr/>
          <p:nvPr/>
        </p:nvSpPr>
        <p:spPr>
          <a:xfrm>
            <a:off x="5529737" y="2715890"/>
            <a:ext cx="2565206" cy="517672"/>
          </a:xfrm>
          <a:custGeom>
            <a:avLst/>
            <a:gdLst/>
            <a:ahLst/>
            <a:cxnLst/>
            <a:rect l="l" t="t" r="r" b="b"/>
            <a:pathLst>
              <a:path w="2565206" h="517672">
                <a:moveTo>
                  <a:pt x="0" y="0"/>
                </a:moveTo>
                <a:lnTo>
                  <a:pt x="2565206" y="0"/>
                </a:lnTo>
                <a:lnTo>
                  <a:pt x="2565206" y="517672"/>
                </a:lnTo>
                <a:lnTo>
                  <a:pt x="0" y="517672"/>
                </a:lnTo>
                <a:close/>
              </a:path>
            </a:pathLst>
          </a:custGeom>
          <a:solidFill>
            <a:srgbClr val="F6F9FC"/>
          </a:solidFill>
          <a:ln/>
        </p:spPr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529737" y="2744926"/>
            <a:ext cx="2565206" cy="459599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5653709" y="2860426"/>
            <a:ext cx="2081097" cy="228600"/>
          </a:xfrm>
          <a:prstGeom prst="rect">
            <a:avLst/>
          </a:prstGeom>
          <a:noFill/>
          <a:ln/>
        </p:spPr>
        <p:txBody>
          <a:bodyPr wrap="square" lIns="71438" tIns="71438" rIns="71438" bIns="71438" rtlCol="0" anchor="t"/>
          <a:lstStyle/>
          <a:p>
            <a:pPr marL="0" indent="0" algn="l">
              <a:lnSpc>
                <a:spcPct val="86957"/>
              </a:lnSpc>
              <a:spcBef>
                <a:spcPts val="281"/>
              </a:spcBef>
              <a:buNone/>
            </a:pPr>
            <a:r>
              <a:rPr lang="en-US" sz="1238" dirty="0">
                <a:solidFill>
                  <a:srgbClr val="000000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TEAM GUIDE:</a:t>
            </a:r>
            <a:endParaRPr lang="en-US" sz="1238" dirty="0"/>
          </a:p>
        </p:txBody>
      </p:sp>
      <p:sp>
        <p:nvSpPr>
          <p:cNvPr id="20" name="Text 16"/>
          <p:cNvSpPr/>
          <p:nvPr/>
        </p:nvSpPr>
        <p:spPr>
          <a:xfrm>
            <a:off x="5650706" y="3364706"/>
            <a:ext cx="2093119" cy="200025"/>
          </a:xfrm>
          <a:prstGeom prst="rect">
            <a:avLst/>
          </a:prstGeom>
          <a:noFill/>
          <a:ln/>
        </p:spPr>
        <p:txBody>
          <a:bodyPr wrap="square" lIns="71438" tIns="71438" rIns="71438" bIns="71438" rtlCol="0" anchor="t"/>
          <a:lstStyle/>
          <a:p>
            <a:pPr marL="0" indent="0" algn="l">
              <a:lnSpc>
                <a:spcPct val="86957"/>
              </a:lnSpc>
              <a:spcBef>
                <a:spcPts val="281"/>
              </a:spcBef>
              <a:buNone/>
            </a:pPr>
            <a:r>
              <a:rPr lang="en-US" sz="1181" dirty="0">
                <a:solidFill>
                  <a:srgbClr val="000000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Dr.M.Chalapathi Rao</a:t>
            </a:r>
            <a:endParaRPr lang="en-US" sz="118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FF6A4EF-C372-1CD7-745D-F6F4DF45C116}"/>
              </a:ext>
            </a:extLst>
          </p:cNvPr>
          <p:cNvSpPr txBox="1"/>
          <p:nvPr/>
        </p:nvSpPr>
        <p:spPr>
          <a:xfrm>
            <a:off x="2288553" y="1387080"/>
            <a:ext cx="456689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LLM-Assisted Financial Statement Analysis Tool</a:t>
            </a:r>
          </a:p>
          <a:p>
            <a:endParaRPr lang="en-IN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0" y="0"/>
                </a:moveTo>
                <a:lnTo>
                  <a:pt x="9144000" y="0"/>
                </a:lnTo>
                <a:lnTo>
                  <a:pt x="9144000" y="5143500"/>
                </a:lnTo>
                <a:lnTo>
                  <a:pt x="0" y="514350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0" y="0"/>
                </a:moveTo>
                <a:lnTo>
                  <a:pt x="9144000" y="0"/>
                </a:lnTo>
                <a:lnTo>
                  <a:pt x="9144000" y="5143500"/>
                </a:lnTo>
                <a:lnTo>
                  <a:pt x="0" y="514350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342424"/>
            <a:ext cx="8229600" cy="138113"/>
          </a:xfrm>
          <a:custGeom>
            <a:avLst/>
            <a:gdLst/>
            <a:ahLst/>
            <a:cxnLst/>
            <a:rect l="l" t="t" r="r" b="b"/>
            <a:pathLst>
              <a:path w="8229600" h="138113">
                <a:moveTo>
                  <a:pt x="0" y="0"/>
                </a:moveTo>
                <a:lnTo>
                  <a:pt x="8229600" y="0"/>
                </a:lnTo>
                <a:lnTo>
                  <a:pt x="8229600" y="138113"/>
                </a:lnTo>
                <a:lnTo>
                  <a:pt x="0" y="138113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342424"/>
            <a:ext cx="8229600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4348"/>
              </a:lnSpc>
              <a:spcBef>
                <a:spcPts val="281"/>
              </a:spcBef>
              <a:buNone/>
            </a:pPr>
            <a:r>
              <a:rPr lang="en-US" sz="900" b="1" dirty="0">
                <a:solidFill>
                  <a:srgbClr val="2F6B8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SYSTEM OVERVIEW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547002"/>
            <a:ext cx="8229600" cy="328613"/>
          </a:xfrm>
          <a:custGeom>
            <a:avLst/>
            <a:gdLst/>
            <a:ahLst/>
            <a:cxnLst/>
            <a:rect l="l" t="t" r="r" b="b"/>
            <a:pathLst>
              <a:path w="8229600" h="328613">
                <a:moveTo>
                  <a:pt x="0" y="0"/>
                </a:moveTo>
                <a:lnTo>
                  <a:pt x="8229600" y="0"/>
                </a:lnTo>
                <a:lnTo>
                  <a:pt x="8229600" y="328613"/>
                </a:lnTo>
                <a:lnTo>
                  <a:pt x="0" y="328613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547002"/>
            <a:ext cx="8229600" cy="3286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3913"/>
              </a:lnSpc>
              <a:spcBef>
                <a:spcPts val="281"/>
              </a:spcBef>
              <a:buNone/>
            </a:pPr>
            <a:r>
              <a:rPr lang="en-US" sz="2402" b="1" dirty="0">
                <a:solidFill>
                  <a:srgbClr val="0B1F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High-Level Architecture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57200" y="942556"/>
            <a:ext cx="5619750" cy="385763"/>
          </a:xfrm>
          <a:custGeom>
            <a:avLst/>
            <a:gdLst/>
            <a:ahLst/>
            <a:cxnLst/>
            <a:rect l="l" t="t" r="r" b="b"/>
            <a:pathLst>
              <a:path w="5619750" h="385763">
                <a:moveTo>
                  <a:pt x="0" y="0"/>
                </a:moveTo>
                <a:lnTo>
                  <a:pt x="5619750" y="0"/>
                </a:lnTo>
                <a:lnTo>
                  <a:pt x="5619750" y="385763"/>
                </a:lnTo>
                <a:lnTo>
                  <a:pt x="0" y="385763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942556"/>
            <a:ext cx="5619750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spcBef>
                <a:spcPts val="281"/>
              </a:spcBef>
              <a:buNone/>
            </a:pPr>
            <a:r>
              <a:rPr lang="en-US" sz="1103" dirty="0">
                <a:solidFill>
                  <a:srgbClr val="5B6B7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verified financial-data pipeline turns annual-report documents into grounded analytical insight.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57200" y="1588945"/>
            <a:ext cx="8229600" cy="2102259"/>
          </a:xfrm>
          <a:custGeom>
            <a:avLst/>
            <a:gdLst/>
            <a:ahLst/>
            <a:cxnLst/>
            <a:rect l="l" t="t" r="r" b="b"/>
            <a:pathLst>
              <a:path w="8229600" h="2102259">
                <a:moveTo>
                  <a:pt x="68513" y="0"/>
                </a:moveTo>
                <a:lnTo>
                  <a:pt x="8161087" y="0"/>
                </a:lnTo>
                <a:quadBezTo>
                  <a:pt x="8229600" y="0"/>
                  <a:pt x="8229600" y="68513"/>
                </a:quadBezTo>
                <a:lnTo>
                  <a:pt x="8229600" y="2033747"/>
                </a:lnTo>
                <a:quadBezTo>
                  <a:pt x="8229600" y="2102259"/>
                  <a:pt x="8161087" y="2102259"/>
                </a:quadBezTo>
                <a:lnTo>
                  <a:pt x="68513" y="2102259"/>
                </a:lnTo>
                <a:quadBezTo>
                  <a:pt x="0" y="2102259"/>
                  <a:pt x="0" y="2033747"/>
                </a:quadBezTo>
                <a:lnTo>
                  <a:pt x="0" y="68513"/>
                </a:lnTo>
                <a:quadBezTo>
                  <a:pt x="0" y="0"/>
                  <a:pt x="68513" y="0"/>
                </a:quadBezTo>
                <a:close/>
              </a:path>
            </a:pathLst>
          </a:custGeom>
          <a:solidFill>
            <a:srgbClr val="F6F9FC"/>
          </a:solidFill>
          <a:ln/>
        </p:spPr>
      </p:sp>
      <p:sp>
        <p:nvSpPr>
          <p:cNvPr id="11" name="Shape 9"/>
          <p:cNvSpPr/>
          <p:nvPr/>
        </p:nvSpPr>
        <p:spPr>
          <a:xfrm>
            <a:off x="1162050" y="1944588"/>
            <a:ext cx="676275" cy="676275"/>
          </a:xfrm>
          <a:custGeom>
            <a:avLst/>
            <a:gdLst/>
            <a:ahLst/>
            <a:cxnLst/>
            <a:rect l="l" t="t" r="r" b="b"/>
            <a:pathLst>
              <a:path w="676275" h="676275">
                <a:moveTo>
                  <a:pt x="141666" y="0"/>
                </a:moveTo>
                <a:lnTo>
                  <a:pt x="534609" y="0"/>
                </a:lnTo>
                <a:quadBezTo>
                  <a:pt x="676275" y="0"/>
                  <a:pt x="676275" y="141666"/>
                </a:quadBezTo>
                <a:lnTo>
                  <a:pt x="676275" y="534609"/>
                </a:lnTo>
                <a:quadBezTo>
                  <a:pt x="676275" y="676275"/>
                  <a:pt x="534609" y="676275"/>
                </a:quadBezTo>
                <a:lnTo>
                  <a:pt x="141666" y="676275"/>
                </a:lnTo>
                <a:quadBezTo>
                  <a:pt x="0" y="676275"/>
                  <a:pt x="0" y="534609"/>
                </a:quadBezTo>
                <a:lnTo>
                  <a:pt x="0" y="141666"/>
                </a:lnTo>
                <a:quadBezTo>
                  <a:pt x="0" y="0"/>
                  <a:pt x="141666" y="0"/>
                </a:quadBezTo>
                <a:close/>
              </a:path>
            </a:pathLst>
          </a:custGeom>
          <a:solidFill>
            <a:srgbClr val="EAF3F7"/>
          </a:solidFill>
          <a:ln/>
        </p:spPr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62075" y="2144613"/>
            <a:ext cx="276225" cy="276225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850108" y="2725579"/>
            <a:ext cx="1300163" cy="161925"/>
          </a:xfrm>
          <a:custGeom>
            <a:avLst/>
            <a:gdLst/>
            <a:ahLst/>
            <a:cxnLst/>
            <a:rect l="l" t="t" r="r" b="b"/>
            <a:pathLst>
              <a:path w="1300163" h="161925">
                <a:moveTo>
                  <a:pt x="0" y="0"/>
                </a:moveTo>
                <a:lnTo>
                  <a:pt x="1300163" y="0"/>
                </a:lnTo>
                <a:lnTo>
                  <a:pt x="1300163" y="161925"/>
                </a:lnTo>
                <a:lnTo>
                  <a:pt x="0" y="161925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14" name="Text 11"/>
          <p:cNvSpPr/>
          <p:nvPr/>
        </p:nvSpPr>
        <p:spPr>
          <a:xfrm>
            <a:off x="850108" y="2725579"/>
            <a:ext cx="1300163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0435"/>
              </a:lnSpc>
              <a:spcBef>
                <a:spcPts val="281"/>
              </a:spcBef>
              <a:buNone/>
            </a:pPr>
            <a:r>
              <a:rPr lang="en-US" sz="1001" b="1" dirty="0">
                <a:solidFill>
                  <a:srgbClr val="0B1F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Source Document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904875" y="2991921"/>
            <a:ext cx="1190625" cy="285750"/>
          </a:xfrm>
          <a:custGeom>
            <a:avLst/>
            <a:gdLst/>
            <a:ahLst/>
            <a:cxnLst/>
            <a:rect l="l" t="t" r="r" b="b"/>
            <a:pathLst>
              <a:path w="1190625" h="285750">
                <a:moveTo>
                  <a:pt x="0" y="0"/>
                </a:moveTo>
                <a:lnTo>
                  <a:pt x="1190625" y="0"/>
                </a:lnTo>
                <a:lnTo>
                  <a:pt x="1190625" y="285750"/>
                </a:lnTo>
                <a:lnTo>
                  <a:pt x="0" y="285750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16" name="Text 13"/>
          <p:cNvSpPr/>
          <p:nvPr/>
        </p:nvSpPr>
        <p:spPr>
          <a:xfrm>
            <a:off x="904875" y="2991921"/>
            <a:ext cx="1190625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1739"/>
              </a:lnSpc>
              <a:spcBef>
                <a:spcPts val="281"/>
              </a:spcBef>
              <a:buNone/>
            </a:pPr>
            <a:r>
              <a:rPr lang="en-US" sz="799" dirty="0">
                <a:solidFill>
                  <a:srgbClr val="5B6B7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Annual report / 10-K-style PDF</a:t>
            </a:r>
            <a:endParaRPr lang="en-US" sz="900" dirty="0"/>
          </a:p>
        </p:txBody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19350" y="2506205"/>
            <a:ext cx="209550" cy="209550"/>
          </a:xfrm>
          <a:prstGeom prst="rect">
            <a:avLst/>
          </a:prstGeom>
        </p:spPr>
      </p:pic>
      <p:sp>
        <p:nvSpPr>
          <p:cNvPr id="18" name="Shape 14"/>
          <p:cNvSpPr/>
          <p:nvPr/>
        </p:nvSpPr>
        <p:spPr>
          <a:xfrm>
            <a:off x="3209925" y="1944588"/>
            <a:ext cx="676275" cy="676275"/>
          </a:xfrm>
          <a:custGeom>
            <a:avLst/>
            <a:gdLst/>
            <a:ahLst/>
            <a:cxnLst/>
            <a:rect l="l" t="t" r="r" b="b"/>
            <a:pathLst>
              <a:path w="676275" h="676275">
                <a:moveTo>
                  <a:pt x="141666" y="0"/>
                </a:moveTo>
                <a:lnTo>
                  <a:pt x="534609" y="0"/>
                </a:lnTo>
                <a:quadBezTo>
                  <a:pt x="676275" y="0"/>
                  <a:pt x="676275" y="141666"/>
                </a:quadBezTo>
                <a:lnTo>
                  <a:pt x="676275" y="534609"/>
                </a:lnTo>
                <a:quadBezTo>
                  <a:pt x="676275" y="676275"/>
                  <a:pt x="534609" y="676275"/>
                </a:quadBezTo>
                <a:lnTo>
                  <a:pt x="141666" y="676275"/>
                </a:lnTo>
                <a:quadBezTo>
                  <a:pt x="0" y="676275"/>
                  <a:pt x="0" y="534609"/>
                </a:quadBezTo>
                <a:lnTo>
                  <a:pt x="0" y="141666"/>
                </a:lnTo>
                <a:quadBezTo>
                  <a:pt x="0" y="0"/>
                  <a:pt x="141666" y="0"/>
                </a:quadBezTo>
                <a:close/>
              </a:path>
            </a:pathLst>
          </a:custGeom>
          <a:solidFill>
            <a:srgbClr val="EAF3F7"/>
          </a:solidFill>
          <a:ln/>
        </p:spPr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09950" y="2144613"/>
            <a:ext cx="276225" cy="276225"/>
          </a:xfrm>
          <a:prstGeom prst="rect">
            <a:avLst/>
          </a:prstGeom>
        </p:spPr>
      </p:pic>
      <p:sp>
        <p:nvSpPr>
          <p:cNvPr id="20" name="Shape 15"/>
          <p:cNvSpPr/>
          <p:nvPr/>
        </p:nvSpPr>
        <p:spPr>
          <a:xfrm>
            <a:off x="2750312" y="2725579"/>
            <a:ext cx="1595437" cy="161925"/>
          </a:xfrm>
          <a:custGeom>
            <a:avLst/>
            <a:gdLst/>
            <a:ahLst/>
            <a:cxnLst/>
            <a:rect l="l" t="t" r="r" b="b"/>
            <a:pathLst>
              <a:path w="1595437" h="161925">
                <a:moveTo>
                  <a:pt x="0" y="0"/>
                </a:moveTo>
                <a:lnTo>
                  <a:pt x="1595437" y="0"/>
                </a:lnTo>
                <a:lnTo>
                  <a:pt x="1595437" y="161925"/>
                </a:lnTo>
                <a:lnTo>
                  <a:pt x="0" y="161925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21" name="Text 16"/>
          <p:cNvSpPr/>
          <p:nvPr/>
        </p:nvSpPr>
        <p:spPr>
          <a:xfrm>
            <a:off x="2750312" y="2725579"/>
            <a:ext cx="1595437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0435"/>
              </a:lnSpc>
              <a:spcBef>
                <a:spcPts val="281"/>
              </a:spcBef>
              <a:buNone/>
            </a:pPr>
            <a:r>
              <a:rPr lang="en-US" sz="1001" b="1" dirty="0">
                <a:solidFill>
                  <a:srgbClr val="0B1F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Document Processing</a:t>
            </a:r>
            <a:endParaRPr lang="en-US" sz="900" dirty="0"/>
          </a:p>
        </p:txBody>
      </p:sp>
      <p:sp>
        <p:nvSpPr>
          <p:cNvPr id="22" name="Shape 17"/>
          <p:cNvSpPr/>
          <p:nvPr/>
        </p:nvSpPr>
        <p:spPr>
          <a:xfrm>
            <a:off x="2952750" y="2991921"/>
            <a:ext cx="1190625" cy="285750"/>
          </a:xfrm>
          <a:custGeom>
            <a:avLst/>
            <a:gdLst/>
            <a:ahLst/>
            <a:cxnLst/>
            <a:rect l="l" t="t" r="r" b="b"/>
            <a:pathLst>
              <a:path w="1190625" h="285750">
                <a:moveTo>
                  <a:pt x="0" y="0"/>
                </a:moveTo>
                <a:lnTo>
                  <a:pt x="1190625" y="0"/>
                </a:lnTo>
                <a:lnTo>
                  <a:pt x="1190625" y="285750"/>
                </a:lnTo>
                <a:lnTo>
                  <a:pt x="0" y="285750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23" name="Text 18"/>
          <p:cNvSpPr/>
          <p:nvPr/>
        </p:nvSpPr>
        <p:spPr>
          <a:xfrm>
            <a:off x="2952750" y="2991921"/>
            <a:ext cx="1190625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1739"/>
              </a:lnSpc>
              <a:spcBef>
                <a:spcPts val="281"/>
              </a:spcBef>
              <a:buNone/>
            </a:pPr>
            <a:r>
              <a:rPr lang="en-US" sz="799" dirty="0">
                <a:solidFill>
                  <a:srgbClr val="5B6B7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Extract tables and financial information</a:t>
            </a:r>
            <a:endParaRPr lang="en-US" sz="900" dirty="0"/>
          </a:p>
        </p:txBody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67225" y="2506205"/>
            <a:ext cx="209550" cy="209550"/>
          </a:xfrm>
          <a:prstGeom prst="rect">
            <a:avLst/>
          </a:prstGeom>
        </p:spPr>
      </p:pic>
      <p:sp>
        <p:nvSpPr>
          <p:cNvPr id="25" name="Shape 19"/>
          <p:cNvSpPr/>
          <p:nvPr/>
        </p:nvSpPr>
        <p:spPr>
          <a:xfrm>
            <a:off x="5257800" y="1944588"/>
            <a:ext cx="676275" cy="676275"/>
          </a:xfrm>
          <a:custGeom>
            <a:avLst/>
            <a:gdLst/>
            <a:ahLst/>
            <a:cxnLst/>
            <a:rect l="l" t="t" r="r" b="b"/>
            <a:pathLst>
              <a:path w="676275" h="676275">
                <a:moveTo>
                  <a:pt x="141666" y="0"/>
                </a:moveTo>
                <a:lnTo>
                  <a:pt x="534609" y="0"/>
                </a:lnTo>
                <a:quadBezTo>
                  <a:pt x="676275" y="0"/>
                  <a:pt x="676275" y="141666"/>
                </a:quadBezTo>
                <a:lnTo>
                  <a:pt x="676275" y="534609"/>
                </a:lnTo>
                <a:quadBezTo>
                  <a:pt x="676275" y="676275"/>
                  <a:pt x="534609" y="676275"/>
                </a:quadBezTo>
                <a:lnTo>
                  <a:pt x="141666" y="676275"/>
                </a:lnTo>
                <a:quadBezTo>
                  <a:pt x="0" y="676275"/>
                  <a:pt x="0" y="534609"/>
                </a:quadBezTo>
                <a:lnTo>
                  <a:pt x="0" y="141666"/>
                </a:lnTo>
                <a:quadBezTo>
                  <a:pt x="0" y="0"/>
                  <a:pt x="141666" y="0"/>
                </a:quadBezTo>
                <a:close/>
              </a:path>
            </a:pathLst>
          </a:custGeom>
          <a:solidFill>
            <a:srgbClr val="EAF3F7"/>
          </a:solidFill>
          <a:ln/>
        </p:spPr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57825" y="2144613"/>
            <a:ext cx="276225" cy="276225"/>
          </a:xfrm>
          <a:prstGeom prst="rect">
            <a:avLst/>
          </a:prstGeom>
        </p:spPr>
      </p:pic>
      <p:sp>
        <p:nvSpPr>
          <p:cNvPr id="27" name="Shape 20"/>
          <p:cNvSpPr/>
          <p:nvPr/>
        </p:nvSpPr>
        <p:spPr>
          <a:xfrm>
            <a:off x="5210145" y="2725579"/>
            <a:ext cx="771525" cy="161925"/>
          </a:xfrm>
          <a:custGeom>
            <a:avLst/>
            <a:gdLst/>
            <a:ahLst/>
            <a:cxnLst/>
            <a:rect l="l" t="t" r="r" b="b"/>
            <a:pathLst>
              <a:path w="771525" h="161925">
                <a:moveTo>
                  <a:pt x="0" y="0"/>
                </a:moveTo>
                <a:lnTo>
                  <a:pt x="771525" y="0"/>
                </a:lnTo>
                <a:lnTo>
                  <a:pt x="771525" y="161925"/>
                </a:lnTo>
                <a:lnTo>
                  <a:pt x="0" y="161925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28" name="Text 21"/>
          <p:cNvSpPr/>
          <p:nvPr/>
        </p:nvSpPr>
        <p:spPr>
          <a:xfrm>
            <a:off x="5210145" y="2725579"/>
            <a:ext cx="77152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0435"/>
              </a:lnSpc>
              <a:spcBef>
                <a:spcPts val="281"/>
              </a:spcBef>
              <a:buNone/>
            </a:pPr>
            <a:r>
              <a:rPr lang="en-US" sz="1001" b="1" dirty="0">
                <a:solidFill>
                  <a:srgbClr val="0B1F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Data Layer</a:t>
            </a:r>
            <a:endParaRPr lang="en-US" sz="900" dirty="0"/>
          </a:p>
        </p:txBody>
      </p:sp>
      <p:sp>
        <p:nvSpPr>
          <p:cNvPr id="29" name="Shape 22"/>
          <p:cNvSpPr/>
          <p:nvPr/>
        </p:nvSpPr>
        <p:spPr>
          <a:xfrm>
            <a:off x="5000625" y="2991921"/>
            <a:ext cx="1190625" cy="285750"/>
          </a:xfrm>
          <a:custGeom>
            <a:avLst/>
            <a:gdLst/>
            <a:ahLst/>
            <a:cxnLst/>
            <a:rect l="l" t="t" r="r" b="b"/>
            <a:pathLst>
              <a:path w="1190625" h="285750">
                <a:moveTo>
                  <a:pt x="0" y="0"/>
                </a:moveTo>
                <a:lnTo>
                  <a:pt x="1190625" y="0"/>
                </a:lnTo>
                <a:lnTo>
                  <a:pt x="1190625" y="285750"/>
                </a:lnTo>
                <a:lnTo>
                  <a:pt x="0" y="285750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30" name="Text 23"/>
          <p:cNvSpPr/>
          <p:nvPr/>
        </p:nvSpPr>
        <p:spPr>
          <a:xfrm>
            <a:off x="5000625" y="2991921"/>
            <a:ext cx="1190625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1739"/>
              </a:lnSpc>
              <a:spcBef>
                <a:spcPts val="281"/>
              </a:spcBef>
              <a:buNone/>
            </a:pPr>
            <a:r>
              <a:rPr lang="en-US" sz="799" dirty="0">
                <a:solidFill>
                  <a:srgbClr val="5B6B7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Clean, normalize, and validate</a:t>
            </a:r>
            <a:endParaRPr lang="en-US" sz="900" dirty="0"/>
          </a:p>
        </p:txBody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5100" y="2506205"/>
            <a:ext cx="209550" cy="209550"/>
          </a:xfrm>
          <a:prstGeom prst="rect">
            <a:avLst/>
          </a:prstGeom>
        </p:spPr>
      </p:pic>
      <p:sp>
        <p:nvSpPr>
          <p:cNvPr id="32" name="Shape 24"/>
          <p:cNvSpPr/>
          <p:nvPr/>
        </p:nvSpPr>
        <p:spPr>
          <a:xfrm>
            <a:off x="7305675" y="1944588"/>
            <a:ext cx="676275" cy="676275"/>
          </a:xfrm>
          <a:custGeom>
            <a:avLst/>
            <a:gdLst/>
            <a:ahLst/>
            <a:cxnLst/>
            <a:rect l="l" t="t" r="r" b="b"/>
            <a:pathLst>
              <a:path w="676275" h="676275">
                <a:moveTo>
                  <a:pt x="141666" y="0"/>
                </a:moveTo>
                <a:lnTo>
                  <a:pt x="534609" y="0"/>
                </a:lnTo>
                <a:quadBezTo>
                  <a:pt x="676275" y="0"/>
                  <a:pt x="676275" y="141666"/>
                </a:quadBezTo>
                <a:lnTo>
                  <a:pt x="676275" y="534609"/>
                </a:lnTo>
                <a:quadBezTo>
                  <a:pt x="676275" y="676275"/>
                  <a:pt x="534609" y="676275"/>
                </a:quadBezTo>
                <a:lnTo>
                  <a:pt x="141666" y="676275"/>
                </a:lnTo>
                <a:quadBezTo>
                  <a:pt x="0" y="676275"/>
                  <a:pt x="0" y="534609"/>
                </a:quadBezTo>
                <a:lnTo>
                  <a:pt x="0" y="141666"/>
                </a:lnTo>
                <a:quadBezTo>
                  <a:pt x="0" y="0"/>
                  <a:pt x="141666" y="0"/>
                </a:quadBezTo>
                <a:close/>
              </a:path>
            </a:pathLst>
          </a:custGeom>
          <a:solidFill>
            <a:srgbClr val="EAF3F7"/>
          </a:solidFill>
          <a:ln/>
        </p:spPr>
      </p:sp>
      <p:pic>
        <p:nvPicPr>
          <p:cNvPr id="33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05700" y="2144613"/>
            <a:ext cx="276225" cy="276225"/>
          </a:xfrm>
          <a:prstGeom prst="rect">
            <a:avLst/>
          </a:prstGeom>
        </p:spPr>
      </p:pic>
      <p:sp>
        <p:nvSpPr>
          <p:cNvPr id="34" name="Shape 25"/>
          <p:cNvSpPr/>
          <p:nvPr/>
        </p:nvSpPr>
        <p:spPr>
          <a:xfrm>
            <a:off x="7096126" y="2725579"/>
            <a:ext cx="1095375" cy="161925"/>
          </a:xfrm>
          <a:custGeom>
            <a:avLst/>
            <a:gdLst/>
            <a:ahLst/>
            <a:cxnLst/>
            <a:rect l="l" t="t" r="r" b="b"/>
            <a:pathLst>
              <a:path w="1095375" h="161925">
                <a:moveTo>
                  <a:pt x="0" y="0"/>
                </a:moveTo>
                <a:lnTo>
                  <a:pt x="1095375" y="0"/>
                </a:lnTo>
                <a:lnTo>
                  <a:pt x="1095375" y="161925"/>
                </a:lnTo>
                <a:lnTo>
                  <a:pt x="0" y="161925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35" name="Text 26"/>
          <p:cNvSpPr/>
          <p:nvPr/>
        </p:nvSpPr>
        <p:spPr>
          <a:xfrm>
            <a:off x="7096126" y="2725579"/>
            <a:ext cx="109537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0435"/>
              </a:lnSpc>
              <a:spcBef>
                <a:spcPts val="281"/>
              </a:spcBef>
              <a:buNone/>
            </a:pPr>
            <a:r>
              <a:rPr lang="en-US" sz="1001" b="1" dirty="0">
                <a:solidFill>
                  <a:srgbClr val="0B1F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Analytics Layer</a:t>
            </a:r>
            <a:endParaRPr lang="en-US" sz="900" dirty="0"/>
          </a:p>
        </p:txBody>
      </p:sp>
      <p:sp>
        <p:nvSpPr>
          <p:cNvPr id="36" name="Shape 27"/>
          <p:cNvSpPr/>
          <p:nvPr/>
        </p:nvSpPr>
        <p:spPr>
          <a:xfrm>
            <a:off x="7048500" y="2991921"/>
            <a:ext cx="1190625" cy="285750"/>
          </a:xfrm>
          <a:custGeom>
            <a:avLst/>
            <a:gdLst/>
            <a:ahLst/>
            <a:cxnLst/>
            <a:rect l="l" t="t" r="r" b="b"/>
            <a:pathLst>
              <a:path w="1190625" h="285750">
                <a:moveTo>
                  <a:pt x="0" y="0"/>
                </a:moveTo>
                <a:lnTo>
                  <a:pt x="1190625" y="0"/>
                </a:lnTo>
                <a:lnTo>
                  <a:pt x="1190625" y="285750"/>
                </a:lnTo>
                <a:lnTo>
                  <a:pt x="0" y="285750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37" name="Text 28"/>
          <p:cNvSpPr/>
          <p:nvPr/>
        </p:nvSpPr>
        <p:spPr>
          <a:xfrm>
            <a:off x="7048500" y="2991921"/>
            <a:ext cx="1190625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1739"/>
              </a:lnSpc>
              <a:spcBef>
                <a:spcPts val="281"/>
              </a:spcBef>
              <a:buNone/>
            </a:pPr>
            <a:r>
              <a:rPr lang="en-US" sz="799" dirty="0">
                <a:solidFill>
                  <a:srgbClr val="5B6B7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Calculate ratios and trends</a:t>
            </a:r>
            <a:endParaRPr lang="en-US" sz="900" dirty="0"/>
          </a:p>
        </p:txBody>
      </p:sp>
      <p:sp>
        <p:nvSpPr>
          <p:cNvPr id="38" name="Shape 29"/>
          <p:cNvSpPr/>
          <p:nvPr/>
        </p:nvSpPr>
        <p:spPr>
          <a:xfrm>
            <a:off x="685800" y="3533717"/>
            <a:ext cx="7772400" cy="133350"/>
          </a:xfrm>
          <a:custGeom>
            <a:avLst/>
            <a:gdLst/>
            <a:ahLst/>
            <a:cxnLst/>
            <a:rect l="l" t="t" r="r" b="b"/>
            <a:pathLst>
              <a:path w="7772400" h="133350">
                <a:moveTo>
                  <a:pt x="0" y="0"/>
                </a:moveTo>
                <a:lnTo>
                  <a:pt x="7772400" y="0"/>
                </a:lnTo>
                <a:lnTo>
                  <a:pt x="7772400" y="133350"/>
                </a:lnTo>
                <a:lnTo>
                  <a:pt x="0" y="133350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39" name="Text 30"/>
          <p:cNvSpPr/>
          <p:nvPr/>
        </p:nvSpPr>
        <p:spPr>
          <a:xfrm>
            <a:off x="685800" y="3533717"/>
            <a:ext cx="777240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86957"/>
              </a:lnSpc>
              <a:spcBef>
                <a:spcPts val="281"/>
              </a:spcBef>
              <a:buNone/>
            </a:pPr>
            <a:r>
              <a:rPr lang="en-US" sz="602" b="1" dirty="0">
                <a:solidFill>
                  <a:srgbClr val="5B6B7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INGESTEXTRACTVERIFYINTERPRET</a:t>
            </a:r>
            <a:endParaRPr lang="en-US" sz="900" dirty="0"/>
          </a:p>
        </p:txBody>
      </p:sp>
      <p:sp>
        <p:nvSpPr>
          <p:cNvPr id="40" name="Shape 31"/>
          <p:cNvSpPr/>
          <p:nvPr/>
        </p:nvSpPr>
        <p:spPr>
          <a:xfrm>
            <a:off x="457200" y="3900962"/>
            <a:ext cx="4010025" cy="633412"/>
          </a:xfrm>
          <a:custGeom>
            <a:avLst/>
            <a:gdLst/>
            <a:ahLst/>
            <a:cxnLst/>
            <a:rect l="l" t="t" r="r" b="b"/>
            <a:pathLst>
              <a:path w="4010025" h="633412">
                <a:moveTo>
                  <a:pt x="137501" y="0"/>
                </a:moveTo>
                <a:lnTo>
                  <a:pt x="3872524" y="0"/>
                </a:lnTo>
                <a:quadBezTo>
                  <a:pt x="4010025" y="0"/>
                  <a:pt x="4010025" y="137501"/>
                </a:quadBezTo>
                <a:lnTo>
                  <a:pt x="4010025" y="495911"/>
                </a:lnTo>
                <a:quadBezTo>
                  <a:pt x="4010025" y="633412"/>
                  <a:pt x="3872524" y="633412"/>
                </a:quadBezTo>
                <a:lnTo>
                  <a:pt x="137501" y="633412"/>
                </a:lnTo>
                <a:quadBezTo>
                  <a:pt x="0" y="633412"/>
                  <a:pt x="0" y="495911"/>
                </a:quadBezTo>
                <a:lnTo>
                  <a:pt x="0" y="137501"/>
                </a:lnTo>
                <a:quadBezTo>
                  <a:pt x="0" y="0"/>
                  <a:pt x="137501" y="0"/>
                </a:quadBezTo>
                <a:close/>
              </a:path>
            </a:pathLst>
          </a:custGeom>
          <a:solidFill>
            <a:srgbClr val="0B1F3A"/>
          </a:solidFill>
          <a:ln/>
        </p:spPr>
      </p:sp>
      <p:pic>
        <p:nvPicPr>
          <p:cNvPr id="41" name="Image 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8175" y="4058601"/>
            <a:ext cx="171450" cy="171450"/>
          </a:xfrm>
          <a:prstGeom prst="rect">
            <a:avLst/>
          </a:prstGeom>
        </p:spPr>
      </p:pic>
      <p:sp>
        <p:nvSpPr>
          <p:cNvPr id="42" name="Shape 32"/>
          <p:cNvSpPr/>
          <p:nvPr/>
        </p:nvSpPr>
        <p:spPr>
          <a:xfrm>
            <a:off x="913983" y="4043361"/>
            <a:ext cx="3095625" cy="161925"/>
          </a:xfrm>
          <a:custGeom>
            <a:avLst/>
            <a:gdLst/>
            <a:ahLst/>
            <a:cxnLst/>
            <a:rect l="l" t="t" r="r" b="b"/>
            <a:pathLst>
              <a:path w="3095625" h="161925">
                <a:moveTo>
                  <a:pt x="0" y="0"/>
                </a:moveTo>
                <a:lnTo>
                  <a:pt x="3095625" y="0"/>
                </a:lnTo>
                <a:lnTo>
                  <a:pt x="3095625" y="161925"/>
                </a:lnTo>
                <a:lnTo>
                  <a:pt x="0" y="161925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43" name="Text 33"/>
          <p:cNvSpPr/>
          <p:nvPr/>
        </p:nvSpPr>
        <p:spPr>
          <a:xfrm>
            <a:off x="913983" y="4043361"/>
            <a:ext cx="309562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9565"/>
              </a:lnSpc>
              <a:spcBef>
                <a:spcPts val="281"/>
              </a:spcBef>
              <a:buNone/>
            </a:pPr>
            <a:r>
              <a:rPr lang="en-US" sz="1001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Separation of concerns</a:t>
            </a:r>
            <a:endParaRPr lang="en-US" sz="900" dirty="0"/>
          </a:p>
        </p:txBody>
      </p:sp>
      <p:sp>
        <p:nvSpPr>
          <p:cNvPr id="44" name="Shape 34"/>
          <p:cNvSpPr/>
          <p:nvPr/>
        </p:nvSpPr>
        <p:spPr>
          <a:xfrm>
            <a:off x="913983" y="4242910"/>
            <a:ext cx="3095625" cy="147637"/>
          </a:xfrm>
          <a:custGeom>
            <a:avLst/>
            <a:gdLst/>
            <a:ahLst/>
            <a:cxnLst/>
            <a:rect l="l" t="t" r="r" b="b"/>
            <a:pathLst>
              <a:path w="3095625" h="147637">
                <a:moveTo>
                  <a:pt x="0" y="0"/>
                </a:moveTo>
                <a:lnTo>
                  <a:pt x="3095625" y="0"/>
                </a:lnTo>
                <a:lnTo>
                  <a:pt x="3095625" y="147637"/>
                </a:lnTo>
                <a:lnTo>
                  <a:pt x="0" y="147637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45" name="Text 35"/>
          <p:cNvSpPr/>
          <p:nvPr/>
        </p:nvSpPr>
        <p:spPr>
          <a:xfrm>
            <a:off x="913983" y="4242910"/>
            <a:ext cx="3095625" cy="1476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3043"/>
              </a:lnSpc>
              <a:spcBef>
                <a:spcPts val="281"/>
              </a:spcBef>
              <a:buNone/>
            </a:pPr>
            <a:r>
              <a:rPr lang="en-US" sz="900" dirty="0">
                <a:solidFill>
                  <a:srgbClr val="D8E5E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Each layer improves reliability before the next handoff.</a:t>
            </a:r>
            <a:endParaRPr lang="en-US" sz="900" dirty="0"/>
          </a:p>
        </p:txBody>
      </p:sp>
      <p:sp>
        <p:nvSpPr>
          <p:cNvPr id="46" name="Shape 36"/>
          <p:cNvSpPr/>
          <p:nvPr/>
        </p:nvSpPr>
        <p:spPr>
          <a:xfrm>
            <a:off x="4676775" y="3900962"/>
            <a:ext cx="4010025" cy="633412"/>
          </a:xfrm>
          <a:custGeom>
            <a:avLst/>
            <a:gdLst/>
            <a:ahLst/>
            <a:cxnLst/>
            <a:rect l="l" t="t" r="r" b="b"/>
            <a:pathLst>
              <a:path w="4010025" h="633412">
                <a:moveTo>
                  <a:pt x="137501" y="0"/>
                </a:moveTo>
                <a:lnTo>
                  <a:pt x="3872524" y="0"/>
                </a:lnTo>
                <a:quadBezTo>
                  <a:pt x="4010025" y="0"/>
                  <a:pt x="4010025" y="137501"/>
                </a:quadBezTo>
                <a:lnTo>
                  <a:pt x="4010025" y="495911"/>
                </a:lnTo>
                <a:quadBezTo>
                  <a:pt x="4010025" y="633412"/>
                  <a:pt x="3872524" y="633412"/>
                </a:quadBezTo>
                <a:lnTo>
                  <a:pt x="137501" y="633412"/>
                </a:lnTo>
                <a:quadBezTo>
                  <a:pt x="0" y="633412"/>
                  <a:pt x="0" y="495911"/>
                </a:quadBezTo>
                <a:lnTo>
                  <a:pt x="0" y="137501"/>
                </a:lnTo>
                <a:quadBezTo>
                  <a:pt x="0" y="0"/>
                  <a:pt x="137501" y="0"/>
                </a:quadBezTo>
                <a:close/>
              </a:path>
            </a:pathLst>
          </a:custGeom>
          <a:solidFill>
            <a:srgbClr val="EAF3F7"/>
          </a:solidFill>
          <a:ln/>
        </p:spPr>
      </p:sp>
      <p:pic>
        <p:nvPicPr>
          <p:cNvPr id="47" name="Image 8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857750" y="4058601"/>
            <a:ext cx="171450" cy="171450"/>
          </a:xfrm>
          <a:prstGeom prst="rect">
            <a:avLst/>
          </a:prstGeom>
        </p:spPr>
      </p:pic>
      <p:sp>
        <p:nvSpPr>
          <p:cNvPr id="48" name="Shape 37"/>
          <p:cNvSpPr/>
          <p:nvPr/>
        </p:nvSpPr>
        <p:spPr>
          <a:xfrm>
            <a:off x="5135136" y="4043361"/>
            <a:ext cx="3205162" cy="161925"/>
          </a:xfrm>
          <a:custGeom>
            <a:avLst/>
            <a:gdLst/>
            <a:ahLst/>
            <a:cxnLst/>
            <a:rect l="l" t="t" r="r" b="b"/>
            <a:pathLst>
              <a:path w="3205162" h="161925">
                <a:moveTo>
                  <a:pt x="0" y="0"/>
                </a:moveTo>
                <a:lnTo>
                  <a:pt x="3205162" y="0"/>
                </a:lnTo>
                <a:lnTo>
                  <a:pt x="3205162" y="161925"/>
                </a:lnTo>
                <a:lnTo>
                  <a:pt x="0" y="161925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49" name="Text 38"/>
          <p:cNvSpPr/>
          <p:nvPr/>
        </p:nvSpPr>
        <p:spPr>
          <a:xfrm>
            <a:off x="5135136" y="4043361"/>
            <a:ext cx="3205162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9565"/>
              </a:lnSpc>
              <a:spcBef>
                <a:spcPts val="281"/>
              </a:spcBef>
              <a:buNone/>
            </a:pPr>
            <a:r>
              <a:rPr lang="en-US" sz="1001" b="1" dirty="0">
                <a:solidFill>
                  <a:srgbClr val="0B1F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Traceable outputs</a:t>
            </a:r>
            <a:endParaRPr lang="en-US" sz="900" dirty="0"/>
          </a:p>
        </p:txBody>
      </p:sp>
      <p:sp>
        <p:nvSpPr>
          <p:cNvPr id="50" name="Shape 39"/>
          <p:cNvSpPr/>
          <p:nvPr/>
        </p:nvSpPr>
        <p:spPr>
          <a:xfrm>
            <a:off x="5135136" y="4242910"/>
            <a:ext cx="3205162" cy="147637"/>
          </a:xfrm>
          <a:custGeom>
            <a:avLst/>
            <a:gdLst/>
            <a:ahLst/>
            <a:cxnLst/>
            <a:rect l="l" t="t" r="r" b="b"/>
            <a:pathLst>
              <a:path w="3205162" h="147637">
                <a:moveTo>
                  <a:pt x="0" y="0"/>
                </a:moveTo>
                <a:lnTo>
                  <a:pt x="3205162" y="0"/>
                </a:lnTo>
                <a:lnTo>
                  <a:pt x="3205162" y="147637"/>
                </a:lnTo>
                <a:lnTo>
                  <a:pt x="0" y="147637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51" name="Text 40"/>
          <p:cNvSpPr/>
          <p:nvPr/>
        </p:nvSpPr>
        <p:spPr>
          <a:xfrm>
            <a:off x="5135136" y="4242910"/>
            <a:ext cx="3205162" cy="1476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3043"/>
              </a:lnSpc>
              <a:spcBef>
                <a:spcPts val="281"/>
              </a:spcBef>
              <a:buNone/>
            </a:pPr>
            <a:r>
              <a:rPr lang="en-US" sz="889" dirty="0">
                <a:solidFill>
                  <a:srgbClr val="3341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Validated data creates a credible foundation for analysis.</a:t>
            </a:r>
            <a:endParaRPr lang="en-US" sz="900" dirty="0"/>
          </a:p>
        </p:txBody>
      </p:sp>
      <p:sp>
        <p:nvSpPr>
          <p:cNvPr id="52" name="Shape 41"/>
          <p:cNvSpPr/>
          <p:nvPr/>
        </p:nvSpPr>
        <p:spPr>
          <a:xfrm>
            <a:off x="457200" y="4695825"/>
            <a:ext cx="8229600" cy="142875"/>
          </a:xfrm>
          <a:custGeom>
            <a:avLst/>
            <a:gdLst/>
            <a:ahLst/>
            <a:cxnLst/>
            <a:rect l="l" t="t" r="r" b="b"/>
            <a:pathLst>
              <a:path w="8229600" h="142875">
                <a:moveTo>
                  <a:pt x="0" y="0"/>
                </a:moveTo>
                <a:lnTo>
                  <a:pt x="8229600" y="0"/>
                </a:lnTo>
                <a:lnTo>
                  <a:pt x="8229600" y="142875"/>
                </a:lnTo>
                <a:lnTo>
                  <a:pt x="0" y="142875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53" name="Text 42"/>
          <p:cNvSpPr/>
          <p:nvPr/>
        </p:nvSpPr>
        <p:spPr>
          <a:xfrm>
            <a:off x="457200" y="4695825"/>
            <a:ext cx="822960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86957"/>
              </a:lnSpc>
              <a:spcBef>
                <a:spcPts val="281"/>
              </a:spcBef>
              <a:buNone/>
            </a:pPr>
            <a:r>
              <a:rPr lang="en-US" sz="698" b="1" dirty="0">
                <a:solidFill>
                  <a:srgbClr val="5B6B7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Architecture overview Document → Data → Insight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0" y="0"/>
                </a:moveTo>
                <a:lnTo>
                  <a:pt x="9144000" y="0"/>
                </a:lnTo>
                <a:lnTo>
                  <a:pt x="9144000" y="5143500"/>
                </a:lnTo>
                <a:lnTo>
                  <a:pt x="0" y="514350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4" name="Shape 1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0" y="0"/>
                </a:moveTo>
                <a:lnTo>
                  <a:pt x="9144000" y="0"/>
                </a:lnTo>
                <a:lnTo>
                  <a:pt x="9144000" y="5143500"/>
                </a:lnTo>
                <a:lnTo>
                  <a:pt x="0" y="514350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5" name="Shape 2"/>
          <p:cNvSpPr/>
          <p:nvPr/>
        </p:nvSpPr>
        <p:spPr>
          <a:xfrm>
            <a:off x="533400" y="361474"/>
            <a:ext cx="8077200" cy="138113"/>
          </a:xfrm>
          <a:custGeom>
            <a:avLst/>
            <a:gdLst/>
            <a:ahLst/>
            <a:cxnLst/>
            <a:rect l="l" t="t" r="r" b="b"/>
            <a:pathLst>
              <a:path w="8077200" h="138113">
                <a:moveTo>
                  <a:pt x="0" y="0"/>
                </a:moveTo>
                <a:lnTo>
                  <a:pt x="8077200" y="0"/>
                </a:lnTo>
                <a:lnTo>
                  <a:pt x="8077200" y="138113"/>
                </a:lnTo>
                <a:lnTo>
                  <a:pt x="0" y="138113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6" name="Text 3"/>
          <p:cNvSpPr/>
          <p:nvPr/>
        </p:nvSpPr>
        <p:spPr>
          <a:xfrm>
            <a:off x="533400" y="361474"/>
            <a:ext cx="8077200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4348"/>
              </a:lnSpc>
              <a:spcBef>
                <a:spcPts val="281"/>
              </a:spcBef>
              <a:buNone/>
            </a:pPr>
            <a:r>
              <a:rPr lang="en-US" sz="900" b="1" dirty="0">
                <a:solidFill>
                  <a:srgbClr val="2F6B8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ARCHITECTURE LAYERS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533400" y="566738"/>
            <a:ext cx="8077200" cy="338137"/>
          </a:xfrm>
          <a:custGeom>
            <a:avLst/>
            <a:gdLst/>
            <a:ahLst/>
            <a:cxnLst/>
            <a:rect l="l" t="t" r="r" b="b"/>
            <a:pathLst>
              <a:path w="8077200" h="338137">
                <a:moveTo>
                  <a:pt x="0" y="0"/>
                </a:moveTo>
                <a:lnTo>
                  <a:pt x="8077200" y="0"/>
                </a:lnTo>
                <a:lnTo>
                  <a:pt x="8077200" y="338137"/>
                </a:lnTo>
                <a:lnTo>
                  <a:pt x="0" y="338137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8" name="Text 5"/>
          <p:cNvSpPr/>
          <p:nvPr/>
        </p:nvSpPr>
        <p:spPr>
          <a:xfrm>
            <a:off x="533400" y="566738"/>
            <a:ext cx="8077200" cy="3381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3043"/>
              </a:lnSpc>
              <a:spcBef>
                <a:spcPts val="281"/>
              </a:spcBef>
              <a:buNone/>
            </a:pPr>
            <a:r>
              <a:rPr lang="en-US" sz="2498" b="1" dirty="0">
                <a:solidFill>
                  <a:srgbClr val="0B1F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From source documents to trusted data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533400" y="973454"/>
            <a:ext cx="5334000" cy="409575"/>
          </a:xfrm>
          <a:custGeom>
            <a:avLst/>
            <a:gdLst/>
            <a:ahLst/>
            <a:cxnLst/>
            <a:rect l="l" t="t" r="r" b="b"/>
            <a:pathLst>
              <a:path w="5334000" h="409575">
                <a:moveTo>
                  <a:pt x="0" y="0"/>
                </a:moveTo>
                <a:lnTo>
                  <a:pt x="5334000" y="0"/>
                </a:lnTo>
                <a:lnTo>
                  <a:pt x="5334000" y="409575"/>
                </a:lnTo>
                <a:lnTo>
                  <a:pt x="0" y="409575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10" name="Text 7"/>
          <p:cNvSpPr/>
          <p:nvPr/>
        </p:nvSpPr>
        <p:spPr>
          <a:xfrm>
            <a:off x="533400" y="973454"/>
            <a:ext cx="5334000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7391"/>
              </a:lnSpc>
              <a:spcBef>
                <a:spcPts val="281"/>
              </a:spcBef>
              <a:buNone/>
            </a:pPr>
            <a:r>
              <a:rPr lang="en-US" sz="1198" dirty="0">
                <a:solidFill>
                  <a:srgbClr val="5B6B7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Each layer narrows ambiguity, creating a consistent foundation for analysis and grounded insights.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1262063" y="1682590"/>
            <a:ext cx="6619875" cy="628650"/>
          </a:xfrm>
          <a:custGeom>
            <a:avLst/>
            <a:gdLst/>
            <a:ahLst/>
            <a:cxnLst/>
            <a:rect l="l" t="t" r="r" b="b"/>
            <a:pathLst>
              <a:path w="6619875" h="628650">
                <a:moveTo>
                  <a:pt x="110837" y="0"/>
                </a:moveTo>
                <a:lnTo>
                  <a:pt x="6509038" y="0"/>
                </a:lnTo>
                <a:quadBezTo>
                  <a:pt x="6619875" y="0"/>
                  <a:pt x="6619875" y="110837"/>
                </a:quadBezTo>
                <a:lnTo>
                  <a:pt x="6619875" y="517813"/>
                </a:lnTo>
                <a:quadBezTo>
                  <a:pt x="6619875" y="628650"/>
                  <a:pt x="6509038" y="628650"/>
                </a:quadBezTo>
                <a:lnTo>
                  <a:pt x="110837" y="628650"/>
                </a:lnTo>
                <a:quadBezTo>
                  <a:pt x="0" y="628650"/>
                  <a:pt x="0" y="517813"/>
                </a:quadBezTo>
                <a:lnTo>
                  <a:pt x="0" y="110837"/>
                </a:lnTo>
                <a:quadBezTo>
                  <a:pt x="0" y="0"/>
                  <a:pt x="110837" y="0"/>
                </a:quadBezTo>
                <a:close/>
              </a:path>
            </a:pathLst>
          </a:custGeom>
          <a:solidFill>
            <a:srgbClr val="F6F9FC"/>
          </a:solidFill>
          <a:ln/>
        </p:spPr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7806" y="1920715"/>
            <a:ext cx="152400" cy="152400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1736167" y="1942146"/>
            <a:ext cx="581025" cy="109537"/>
          </a:xfrm>
          <a:custGeom>
            <a:avLst/>
            <a:gdLst/>
            <a:ahLst/>
            <a:cxnLst/>
            <a:rect l="l" t="t" r="r" b="b"/>
            <a:pathLst>
              <a:path w="581025" h="109537">
                <a:moveTo>
                  <a:pt x="0" y="0"/>
                </a:moveTo>
                <a:lnTo>
                  <a:pt x="581025" y="0"/>
                </a:lnTo>
                <a:lnTo>
                  <a:pt x="581025" y="109537"/>
                </a:lnTo>
                <a:lnTo>
                  <a:pt x="0" y="109537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14" name="Text 10"/>
          <p:cNvSpPr/>
          <p:nvPr/>
        </p:nvSpPr>
        <p:spPr>
          <a:xfrm>
            <a:off x="1736167" y="1942146"/>
            <a:ext cx="581025" cy="1095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9565"/>
              </a:lnSpc>
              <a:spcBef>
                <a:spcPts val="281"/>
              </a:spcBef>
              <a:buNone/>
            </a:pPr>
            <a:r>
              <a:rPr lang="en-US" sz="698" b="1" dirty="0">
                <a:solidFill>
                  <a:srgbClr val="0B1F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Input Layer</a:t>
            </a:r>
            <a:endParaRPr lang="en-US" sz="900" dirty="0"/>
          </a:p>
        </p:txBody>
      </p:sp>
      <p:sp>
        <p:nvSpPr>
          <p:cNvPr id="15" name="Shape 11"/>
          <p:cNvSpPr/>
          <p:nvPr/>
        </p:nvSpPr>
        <p:spPr>
          <a:xfrm>
            <a:off x="2861307" y="1935002"/>
            <a:ext cx="3181350" cy="123825"/>
          </a:xfrm>
          <a:custGeom>
            <a:avLst/>
            <a:gdLst/>
            <a:ahLst/>
            <a:cxnLst/>
            <a:rect l="l" t="t" r="r" b="b"/>
            <a:pathLst>
              <a:path w="3181350" h="123825">
                <a:moveTo>
                  <a:pt x="0" y="0"/>
                </a:moveTo>
                <a:lnTo>
                  <a:pt x="3181350" y="0"/>
                </a:lnTo>
                <a:lnTo>
                  <a:pt x="3181350" y="123825"/>
                </a:lnTo>
                <a:lnTo>
                  <a:pt x="0" y="123825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16" name="Text 12"/>
          <p:cNvSpPr/>
          <p:nvPr/>
        </p:nvSpPr>
        <p:spPr>
          <a:xfrm>
            <a:off x="2861307" y="1935002"/>
            <a:ext cx="318135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spcBef>
                <a:spcPts val="281"/>
              </a:spcBef>
              <a:buNone/>
            </a:pPr>
            <a:r>
              <a:rPr lang="en-US" sz="698" dirty="0">
                <a:solidFill>
                  <a:srgbClr val="3341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Accepts annual reports and 10-K-style PDFs as the source record.</a:t>
            </a:r>
            <a:endParaRPr lang="en-US" sz="900" dirty="0"/>
          </a:p>
        </p:txBody>
      </p:sp>
      <p:sp>
        <p:nvSpPr>
          <p:cNvPr id="17" name="Shape 13"/>
          <p:cNvSpPr/>
          <p:nvPr/>
        </p:nvSpPr>
        <p:spPr>
          <a:xfrm>
            <a:off x="6205538" y="1951671"/>
            <a:ext cx="1476375" cy="90488"/>
          </a:xfrm>
          <a:custGeom>
            <a:avLst/>
            <a:gdLst/>
            <a:ahLst/>
            <a:cxnLst/>
            <a:rect l="l" t="t" r="r" b="b"/>
            <a:pathLst>
              <a:path w="1476375" h="90488">
                <a:moveTo>
                  <a:pt x="0" y="0"/>
                </a:moveTo>
                <a:lnTo>
                  <a:pt x="1476375" y="0"/>
                </a:lnTo>
                <a:lnTo>
                  <a:pt x="1476375" y="90488"/>
                </a:lnTo>
                <a:lnTo>
                  <a:pt x="0" y="90488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18" name="Text 14"/>
          <p:cNvSpPr/>
          <p:nvPr/>
        </p:nvSpPr>
        <p:spPr>
          <a:xfrm>
            <a:off x="6205538" y="1951671"/>
            <a:ext cx="1476375" cy="90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6957"/>
              </a:lnSpc>
              <a:spcBef>
                <a:spcPts val="281"/>
              </a:spcBef>
              <a:buNone/>
            </a:pPr>
            <a:r>
              <a:rPr lang="en-US" sz="501" b="1" dirty="0">
                <a:solidFill>
                  <a:srgbClr val="2F6B8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SOURCE DOCUMENTS</a:t>
            </a:r>
            <a:endParaRPr lang="en-US" sz="900" dirty="0"/>
          </a:p>
        </p:txBody>
      </p:sp>
      <p:pic>
        <p:nvPicPr>
          <p:cNvPr id="1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12469" y="2394584"/>
            <a:ext cx="119062" cy="119062"/>
          </a:xfrm>
          <a:prstGeom prst="rect">
            <a:avLst/>
          </a:prstGeom>
        </p:spPr>
      </p:pic>
      <p:sp>
        <p:nvSpPr>
          <p:cNvPr id="20" name="Shape 15"/>
          <p:cNvSpPr/>
          <p:nvPr/>
        </p:nvSpPr>
        <p:spPr>
          <a:xfrm>
            <a:off x="1262063" y="2596990"/>
            <a:ext cx="6619875" cy="628650"/>
          </a:xfrm>
          <a:custGeom>
            <a:avLst/>
            <a:gdLst/>
            <a:ahLst/>
            <a:cxnLst/>
            <a:rect l="l" t="t" r="r" b="b"/>
            <a:pathLst>
              <a:path w="6619875" h="628650">
                <a:moveTo>
                  <a:pt x="110837" y="0"/>
                </a:moveTo>
                <a:lnTo>
                  <a:pt x="6509038" y="0"/>
                </a:lnTo>
                <a:quadBezTo>
                  <a:pt x="6619875" y="0"/>
                  <a:pt x="6619875" y="110837"/>
                </a:quadBezTo>
                <a:lnTo>
                  <a:pt x="6619875" y="517813"/>
                </a:lnTo>
                <a:quadBezTo>
                  <a:pt x="6619875" y="628650"/>
                  <a:pt x="6509038" y="628650"/>
                </a:quadBezTo>
                <a:lnTo>
                  <a:pt x="110837" y="628650"/>
                </a:lnTo>
                <a:quadBezTo>
                  <a:pt x="0" y="628650"/>
                  <a:pt x="0" y="517813"/>
                </a:quadBezTo>
                <a:lnTo>
                  <a:pt x="0" y="110837"/>
                </a:lnTo>
                <a:quadBezTo>
                  <a:pt x="0" y="0"/>
                  <a:pt x="110837" y="0"/>
                </a:quadBezTo>
                <a:close/>
              </a:path>
            </a:pathLst>
          </a:custGeom>
          <a:solidFill>
            <a:srgbClr val="EAF3F7"/>
          </a:solidFill>
          <a:ln/>
        </p:spPr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07806" y="2835115"/>
            <a:ext cx="152400" cy="152400"/>
          </a:xfrm>
          <a:prstGeom prst="rect">
            <a:avLst/>
          </a:prstGeom>
        </p:spPr>
      </p:pic>
      <p:sp>
        <p:nvSpPr>
          <p:cNvPr id="22" name="Shape 16"/>
          <p:cNvSpPr/>
          <p:nvPr/>
        </p:nvSpPr>
        <p:spPr>
          <a:xfrm>
            <a:off x="1736406" y="2799398"/>
            <a:ext cx="962025" cy="223838"/>
          </a:xfrm>
          <a:custGeom>
            <a:avLst/>
            <a:gdLst/>
            <a:ahLst/>
            <a:cxnLst/>
            <a:rect l="l" t="t" r="r" b="b"/>
            <a:pathLst>
              <a:path w="962025" h="223838">
                <a:moveTo>
                  <a:pt x="0" y="0"/>
                </a:moveTo>
                <a:lnTo>
                  <a:pt x="962025" y="0"/>
                </a:lnTo>
                <a:lnTo>
                  <a:pt x="962025" y="223838"/>
                </a:lnTo>
                <a:lnTo>
                  <a:pt x="0" y="223838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23" name="Text 17"/>
          <p:cNvSpPr/>
          <p:nvPr/>
        </p:nvSpPr>
        <p:spPr>
          <a:xfrm>
            <a:off x="1736406" y="2799398"/>
            <a:ext cx="962025" cy="2238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9565"/>
              </a:lnSpc>
              <a:spcBef>
                <a:spcPts val="281"/>
              </a:spcBef>
              <a:buNone/>
            </a:pPr>
            <a:r>
              <a:rPr lang="en-US" sz="698" b="1" dirty="0">
                <a:solidFill>
                  <a:srgbClr val="0B1F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Document Processing</a:t>
            </a:r>
            <a:endParaRPr lang="en-US" sz="900" dirty="0"/>
          </a:p>
        </p:txBody>
      </p:sp>
      <p:sp>
        <p:nvSpPr>
          <p:cNvPr id="24" name="Shape 18"/>
          <p:cNvSpPr/>
          <p:nvPr/>
        </p:nvSpPr>
        <p:spPr>
          <a:xfrm>
            <a:off x="2861307" y="2789873"/>
            <a:ext cx="3181350" cy="242888"/>
          </a:xfrm>
          <a:custGeom>
            <a:avLst/>
            <a:gdLst/>
            <a:ahLst/>
            <a:cxnLst/>
            <a:rect l="l" t="t" r="r" b="b"/>
            <a:pathLst>
              <a:path w="3181350" h="242888">
                <a:moveTo>
                  <a:pt x="0" y="0"/>
                </a:moveTo>
                <a:lnTo>
                  <a:pt x="3181350" y="0"/>
                </a:lnTo>
                <a:lnTo>
                  <a:pt x="3181350" y="242888"/>
                </a:lnTo>
                <a:lnTo>
                  <a:pt x="0" y="242888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25" name="Text 19"/>
          <p:cNvSpPr/>
          <p:nvPr/>
        </p:nvSpPr>
        <p:spPr>
          <a:xfrm>
            <a:off x="2861307" y="2789873"/>
            <a:ext cx="3181350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spcBef>
                <a:spcPts val="281"/>
              </a:spcBef>
              <a:buNone/>
            </a:pPr>
            <a:r>
              <a:rPr lang="en-US" sz="698" dirty="0">
                <a:solidFill>
                  <a:srgbClr val="3341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Extracts tables, figures, and relevant information from complex documents.</a:t>
            </a:r>
            <a:endParaRPr lang="en-US" sz="900" dirty="0"/>
          </a:p>
        </p:txBody>
      </p:sp>
      <p:sp>
        <p:nvSpPr>
          <p:cNvPr id="26" name="Shape 20"/>
          <p:cNvSpPr/>
          <p:nvPr/>
        </p:nvSpPr>
        <p:spPr>
          <a:xfrm>
            <a:off x="6205538" y="2866071"/>
            <a:ext cx="1476375" cy="90488"/>
          </a:xfrm>
          <a:custGeom>
            <a:avLst/>
            <a:gdLst/>
            <a:ahLst/>
            <a:cxnLst/>
            <a:rect l="l" t="t" r="r" b="b"/>
            <a:pathLst>
              <a:path w="1476375" h="90488">
                <a:moveTo>
                  <a:pt x="0" y="0"/>
                </a:moveTo>
                <a:lnTo>
                  <a:pt x="1476375" y="0"/>
                </a:lnTo>
                <a:lnTo>
                  <a:pt x="1476375" y="90488"/>
                </a:lnTo>
                <a:lnTo>
                  <a:pt x="0" y="90488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27" name="Text 21"/>
          <p:cNvSpPr/>
          <p:nvPr/>
        </p:nvSpPr>
        <p:spPr>
          <a:xfrm>
            <a:off x="6205538" y="2866071"/>
            <a:ext cx="1476375" cy="90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6957"/>
              </a:lnSpc>
              <a:spcBef>
                <a:spcPts val="281"/>
              </a:spcBef>
              <a:buNone/>
            </a:pPr>
            <a:r>
              <a:rPr lang="en-US" sz="501" b="1" dirty="0">
                <a:solidFill>
                  <a:srgbClr val="2F6B8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STRUCTURED EXTRACTION</a:t>
            </a:r>
            <a:endParaRPr lang="en-US" sz="900" dirty="0"/>
          </a:p>
        </p:txBody>
      </p:sp>
      <p:pic>
        <p:nvPicPr>
          <p:cNvPr id="2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12469" y="3308984"/>
            <a:ext cx="119062" cy="119062"/>
          </a:xfrm>
          <a:prstGeom prst="rect">
            <a:avLst/>
          </a:prstGeom>
        </p:spPr>
      </p:pic>
      <p:sp>
        <p:nvSpPr>
          <p:cNvPr id="29" name="Shape 22"/>
          <p:cNvSpPr/>
          <p:nvPr/>
        </p:nvSpPr>
        <p:spPr>
          <a:xfrm>
            <a:off x="1262063" y="3511390"/>
            <a:ext cx="6619875" cy="628650"/>
          </a:xfrm>
          <a:custGeom>
            <a:avLst/>
            <a:gdLst/>
            <a:ahLst/>
            <a:cxnLst/>
            <a:rect l="l" t="t" r="r" b="b"/>
            <a:pathLst>
              <a:path w="6619875" h="628650">
                <a:moveTo>
                  <a:pt x="110837" y="0"/>
                </a:moveTo>
                <a:lnTo>
                  <a:pt x="6509038" y="0"/>
                </a:lnTo>
                <a:quadBezTo>
                  <a:pt x="6619875" y="0"/>
                  <a:pt x="6619875" y="110837"/>
                </a:quadBezTo>
                <a:lnTo>
                  <a:pt x="6619875" y="517813"/>
                </a:lnTo>
                <a:quadBezTo>
                  <a:pt x="6619875" y="628650"/>
                  <a:pt x="6509038" y="628650"/>
                </a:quadBezTo>
                <a:lnTo>
                  <a:pt x="110837" y="628650"/>
                </a:lnTo>
                <a:quadBezTo>
                  <a:pt x="0" y="628650"/>
                  <a:pt x="0" y="517813"/>
                </a:quadBezTo>
                <a:lnTo>
                  <a:pt x="0" y="110837"/>
                </a:lnTo>
                <a:quadBezTo>
                  <a:pt x="0" y="0"/>
                  <a:pt x="110837" y="0"/>
                </a:quadBezTo>
                <a:close/>
              </a:path>
            </a:pathLst>
          </a:custGeom>
          <a:solidFill>
            <a:srgbClr val="F6F9FC"/>
          </a:solidFill>
          <a:ln/>
        </p:spPr>
      </p:sp>
      <p:pic>
        <p:nvPicPr>
          <p:cNvPr id="3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507806" y="3749515"/>
            <a:ext cx="152400" cy="152400"/>
          </a:xfrm>
          <a:prstGeom prst="rect">
            <a:avLst/>
          </a:prstGeom>
        </p:spPr>
      </p:pic>
      <p:sp>
        <p:nvSpPr>
          <p:cNvPr id="31" name="Shape 23"/>
          <p:cNvSpPr/>
          <p:nvPr/>
        </p:nvSpPr>
        <p:spPr>
          <a:xfrm>
            <a:off x="1736406" y="3713798"/>
            <a:ext cx="962025" cy="223838"/>
          </a:xfrm>
          <a:custGeom>
            <a:avLst/>
            <a:gdLst/>
            <a:ahLst/>
            <a:cxnLst/>
            <a:rect l="l" t="t" r="r" b="b"/>
            <a:pathLst>
              <a:path w="962025" h="223838">
                <a:moveTo>
                  <a:pt x="0" y="0"/>
                </a:moveTo>
                <a:lnTo>
                  <a:pt x="962025" y="0"/>
                </a:lnTo>
                <a:lnTo>
                  <a:pt x="962025" y="223838"/>
                </a:lnTo>
                <a:lnTo>
                  <a:pt x="0" y="223838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32" name="Text 24"/>
          <p:cNvSpPr/>
          <p:nvPr/>
        </p:nvSpPr>
        <p:spPr>
          <a:xfrm>
            <a:off x="1736406" y="3713798"/>
            <a:ext cx="962025" cy="2238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9565"/>
              </a:lnSpc>
              <a:spcBef>
                <a:spcPts val="281"/>
              </a:spcBef>
              <a:buNone/>
            </a:pPr>
            <a:r>
              <a:rPr lang="en-US" sz="698" b="1" dirty="0">
                <a:solidFill>
                  <a:srgbClr val="0B1F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Normalization Layer</a:t>
            </a:r>
            <a:endParaRPr lang="en-US" sz="900" dirty="0"/>
          </a:p>
        </p:txBody>
      </p:sp>
      <p:sp>
        <p:nvSpPr>
          <p:cNvPr id="33" name="Shape 25"/>
          <p:cNvSpPr/>
          <p:nvPr/>
        </p:nvSpPr>
        <p:spPr>
          <a:xfrm>
            <a:off x="2861307" y="3763802"/>
            <a:ext cx="3181350" cy="123825"/>
          </a:xfrm>
          <a:custGeom>
            <a:avLst/>
            <a:gdLst/>
            <a:ahLst/>
            <a:cxnLst/>
            <a:rect l="l" t="t" r="r" b="b"/>
            <a:pathLst>
              <a:path w="3181350" h="123825">
                <a:moveTo>
                  <a:pt x="0" y="0"/>
                </a:moveTo>
                <a:lnTo>
                  <a:pt x="3181350" y="0"/>
                </a:lnTo>
                <a:lnTo>
                  <a:pt x="3181350" y="123825"/>
                </a:lnTo>
                <a:lnTo>
                  <a:pt x="0" y="123825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34" name="Text 26"/>
          <p:cNvSpPr/>
          <p:nvPr/>
        </p:nvSpPr>
        <p:spPr>
          <a:xfrm>
            <a:off x="2861307" y="3763802"/>
            <a:ext cx="318135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spcBef>
                <a:spcPts val="281"/>
              </a:spcBef>
              <a:buNone/>
            </a:pPr>
            <a:r>
              <a:rPr lang="en-US" sz="698" dirty="0">
                <a:solidFill>
                  <a:srgbClr val="3341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Converts extracted values into a consistent, analysis-ready schema.</a:t>
            </a:r>
            <a:endParaRPr lang="en-US" sz="900" dirty="0"/>
          </a:p>
        </p:txBody>
      </p:sp>
      <p:sp>
        <p:nvSpPr>
          <p:cNvPr id="35" name="Shape 27"/>
          <p:cNvSpPr/>
          <p:nvPr/>
        </p:nvSpPr>
        <p:spPr>
          <a:xfrm>
            <a:off x="6205538" y="3780471"/>
            <a:ext cx="1476375" cy="90488"/>
          </a:xfrm>
          <a:custGeom>
            <a:avLst/>
            <a:gdLst/>
            <a:ahLst/>
            <a:cxnLst/>
            <a:rect l="l" t="t" r="r" b="b"/>
            <a:pathLst>
              <a:path w="1476375" h="90488">
                <a:moveTo>
                  <a:pt x="0" y="0"/>
                </a:moveTo>
                <a:lnTo>
                  <a:pt x="1476375" y="0"/>
                </a:lnTo>
                <a:lnTo>
                  <a:pt x="1476375" y="90488"/>
                </a:lnTo>
                <a:lnTo>
                  <a:pt x="0" y="90488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36" name="Text 28"/>
          <p:cNvSpPr/>
          <p:nvPr/>
        </p:nvSpPr>
        <p:spPr>
          <a:xfrm>
            <a:off x="6205538" y="3780471"/>
            <a:ext cx="1476375" cy="90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6957"/>
              </a:lnSpc>
              <a:spcBef>
                <a:spcPts val="281"/>
              </a:spcBef>
              <a:buNone/>
            </a:pPr>
            <a:r>
              <a:rPr lang="en-US" sz="501" b="1" dirty="0">
                <a:solidFill>
                  <a:srgbClr val="2F6B8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COMMON SCHEMA</a:t>
            </a:r>
            <a:endParaRPr lang="en-US" sz="900" dirty="0"/>
          </a:p>
        </p:txBody>
      </p:sp>
      <p:pic>
        <p:nvPicPr>
          <p:cNvPr id="3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12469" y="4223384"/>
            <a:ext cx="119062" cy="119062"/>
          </a:xfrm>
          <a:prstGeom prst="rect">
            <a:avLst/>
          </a:prstGeom>
        </p:spPr>
      </p:pic>
      <p:sp>
        <p:nvSpPr>
          <p:cNvPr id="38" name="Shape 29"/>
          <p:cNvSpPr/>
          <p:nvPr/>
        </p:nvSpPr>
        <p:spPr>
          <a:xfrm>
            <a:off x="1262063" y="4425790"/>
            <a:ext cx="6619875" cy="628650"/>
          </a:xfrm>
          <a:custGeom>
            <a:avLst/>
            <a:gdLst/>
            <a:ahLst/>
            <a:cxnLst/>
            <a:rect l="l" t="t" r="r" b="b"/>
            <a:pathLst>
              <a:path w="6619875" h="628650">
                <a:moveTo>
                  <a:pt x="110837" y="0"/>
                </a:moveTo>
                <a:lnTo>
                  <a:pt x="6509038" y="0"/>
                </a:lnTo>
                <a:quadBezTo>
                  <a:pt x="6619875" y="0"/>
                  <a:pt x="6619875" y="110837"/>
                </a:quadBezTo>
                <a:lnTo>
                  <a:pt x="6619875" y="517813"/>
                </a:lnTo>
                <a:quadBezTo>
                  <a:pt x="6619875" y="628650"/>
                  <a:pt x="6509038" y="628650"/>
                </a:quadBezTo>
                <a:lnTo>
                  <a:pt x="110837" y="628650"/>
                </a:lnTo>
                <a:quadBezTo>
                  <a:pt x="0" y="628650"/>
                  <a:pt x="0" y="517813"/>
                </a:quadBezTo>
                <a:lnTo>
                  <a:pt x="0" y="110837"/>
                </a:lnTo>
                <a:quadBezTo>
                  <a:pt x="0" y="0"/>
                  <a:pt x="110837" y="0"/>
                </a:quadBezTo>
                <a:close/>
              </a:path>
            </a:pathLst>
          </a:custGeom>
          <a:solidFill>
            <a:srgbClr val="EAF3F7"/>
          </a:solidFill>
          <a:ln/>
        </p:spPr>
      </p:sp>
      <p:pic>
        <p:nvPicPr>
          <p:cNvPr id="39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507806" y="4663915"/>
            <a:ext cx="152400" cy="152400"/>
          </a:xfrm>
          <a:prstGeom prst="rect">
            <a:avLst/>
          </a:prstGeom>
        </p:spPr>
      </p:pic>
      <p:sp>
        <p:nvSpPr>
          <p:cNvPr id="40" name="Shape 30"/>
          <p:cNvSpPr/>
          <p:nvPr/>
        </p:nvSpPr>
        <p:spPr>
          <a:xfrm>
            <a:off x="1737089" y="4685346"/>
            <a:ext cx="819150" cy="109537"/>
          </a:xfrm>
          <a:custGeom>
            <a:avLst/>
            <a:gdLst/>
            <a:ahLst/>
            <a:cxnLst/>
            <a:rect l="l" t="t" r="r" b="b"/>
            <a:pathLst>
              <a:path w="819150" h="109537">
                <a:moveTo>
                  <a:pt x="0" y="0"/>
                </a:moveTo>
                <a:lnTo>
                  <a:pt x="819150" y="0"/>
                </a:lnTo>
                <a:lnTo>
                  <a:pt x="819150" y="109537"/>
                </a:lnTo>
                <a:lnTo>
                  <a:pt x="0" y="109537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41" name="Text 31"/>
          <p:cNvSpPr/>
          <p:nvPr/>
        </p:nvSpPr>
        <p:spPr>
          <a:xfrm>
            <a:off x="1737089" y="4685346"/>
            <a:ext cx="819150" cy="1095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9565"/>
              </a:lnSpc>
              <a:spcBef>
                <a:spcPts val="281"/>
              </a:spcBef>
              <a:buNone/>
            </a:pPr>
            <a:r>
              <a:rPr lang="en-US" sz="698" b="1" dirty="0">
                <a:solidFill>
                  <a:srgbClr val="0B1F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Validation Layer</a:t>
            </a:r>
            <a:endParaRPr lang="en-US" sz="900" dirty="0"/>
          </a:p>
        </p:txBody>
      </p:sp>
      <p:sp>
        <p:nvSpPr>
          <p:cNvPr id="42" name="Shape 32"/>
          <p:cNvSpPr/>
          <p:nvPr/>
        </p:nvSpPr>
        <p:spPr>
          <a:xfrm>
            <a:off x="2861307" y="4678202"/>
            <a:ext cx="3181350" cy="123825"/>
          </a:xfrm>
          <a:custGeom>
            <a:avLst/>
            <a:gdLst/>
            <a:ahLst/>
            <a:cxnLst/>
            <a:rect l="l" t="t" r="r" b="b"/>
            <a:pathLst>
              <a:path w="3181350" h="123825">
                <a:moveTo>
                  <a:pt x="0" y="0"/>
                </a:moveTo>
                <a:lnTo>
                  <a:pt x="3181350" y="0"/>
                </a:lnTo>
                <a:lnTo>
                  <a:pt x="3181350" y="123825"/>
                </a:lnTo>
                <a:lnTo>
                  <a:pt x="0" y="123825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43" name="Text 33"/>
          <p:cNvSpPr/>
          <p:nvPr/>
        </p:nvSpPr>
        <p:spPr>
          <a:xfrm>
            <a:off x="2861307" y="4678202"/>
            <a:ext cx="318135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spcBef>
                <a:spcPts val="281"/>
              </a:spcBef>
              <a:buNone/>
            </a:pPr>
            <a:r>
              <a:rPr lang="en-US" sz="698" dirty="0">
                <a:solidFill>
                  <a:srgbClr val="3341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Checks fields, units, and missing information before downstream use.</a:t>
            </a:r>
            <a:endParaRPr lang="en-US" sz="900" dirty="0"/>
          </a:p>
        </p:txBody>
      </p:sp>
      <p:sp>
        <p:nvSpPr>
          <p:cNvPr id="44" name="Shape 34"/>
          <p:cNvSpPr/>
          <p:nvPr/>
        </p:nvSpPr>
        <p:spPr>
          <a:xfrm>
            <a:off x="6205538" y="4694871"/>
            <a:ext cx="1476375" cy="90488"/>
          </a:xfrm>
          <a:custGeom>
            <a:avLst/>
            <a:gdLst/>
            <a:ahLst/>
            <a:cxnLst/>
            <a:rect l="l" t="t" r="r" b="b"/>
            <a:pathLst>
              <a:path w="1476375" h="90488">
                <a:moveTo>
                  <a:pt x="0" y="0"/>
                </a:moveTo>
                <a:lnTo>
                  <a:pt x="1476375" y="0"/>
                </a:lnTo>
                <a:lnTo>
                  <a:pt x="1476375" y="90488"/>
                </a:lnTo>
                <a:lnTo>
                  <a:pt x="0" y="90488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45" name="Text 35"/>
          <p:cNvSpPr/>
          <p:nvPr/>
        </p:nvSpPr>
        <p:spPr>
          <a:xfrm>
            <a:off x="6205538" y="4694871"/>
            <a:ext cx="1476375" cy="90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6957"/>
              </a:lnSpc>
              <a:spcBef>
                <a:spcPts val="281"/>
              </a:spcBef>
              <a:buNone/>
            </a:pPr>
            <a:r>
              <a:rPr lang="en-US" sz="501" b="1" dirty="0">
                <a:solidFill>
                  <a:srgbClr val="2F6B8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TRUSTED OUTPUT</a:t>
            </a:r>
            <a:endParaRPr lang="en-US" sz="900" dirty="0"/>
          </a:p>
        </p:txBody>
      </p:sp>
      <p:pic>
        <p:nvPicPr>
          <p:cNvPr id="46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262063" y="1682590"/>
            <a:ext cx="6619875" cy="628650"/>
          </a:xfrm>
          <a:prstGeom prst="rect">
            <a:avLst/>
          </a:prstGeom>
        </p:spPr>
      </p:pic>
      <p:pic>
        <p:nvPicPr>
          <p:cNvPr id="47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262063" y="2596990"/>
            <a:ext cx="6619875" cy="628650"/>
          </a:xfrm>
          <a:prstGeom prst="rect">
            <a:avLst/>
          </a:prstGeom>
        </p:spPr>
      </p:pic>
      <p:pic>
        <p:nvPicPr>
          <p:cNvPr id="48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262063" y="3511390"/>
            <a:ext cx="6619875" cy="628650"/>
          </a:xfrm>
          <a:prstGeom prst="rect">
            <a:avLst/>
          </a:prstGeom>
        </p:spPr>
      </p:pic>
      <p:pic>
        <p:nvPicPr>
          <p:cNvPr id="49" name="Image 10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262063" y="4425790"/>
            <a:ext cx="6619875" cy="62865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0" y="0"/>
                </a:moveTo>
                <a:lnTo>
                  <a:pt x="9144000" y="0"/>
                </a:lnTo>
                <a:lnTo>
                  <a:pt x="9144000" y="5143500"/>
                </a:lnTo>
                <a:lnTo>
                  <a:pt x="0" y="514350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0" y="0"/>
                </a:moveTo>
                <a:lnTo>
                  <a:pt x="9144000" y="0"/>
                </a:lnTo>
                <a:lnTo>
                  <a:pt x="9144000" y="5143500"/>
                </a:lnTo>
                <a:lnTo>
                  <a:pt x="0" y="514350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370999"/>
            <a:ext cx="8229600" cy="138113"/>
          </a:xfrm>
          <a:custGeom>
            <a:avLst/>
            <a:gdLst/>
            <a:ahLst/>
            <a:cxnLst/>
            <a:rect l="l" t="t" r="r" b="b"/>
            <a:pathLst>
              <a:path w="8229600" h="138113">
                <a:moveTo>
                  <a:pt x="0" y="0"/>
                </a:moveTo>
                <a:lnTo>
                  <a:pt x="8229600" y="0"/>
                </a:lnTo>
                <a:lnTo>
                  <a:pt x="8229600" y="138113"/>
                </a:lnTo>
                <a:lnTo>
                  <a:pt x="0" y="138113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370999"/>
            <a:ext cx="8229600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4348"/>
              </a:lnSpc>
              <a:spcBef>
                <a:spcPts val="281"/>
              </a:spcBef>
              <a:buNone/>
            </a:pPr>
            <a:r>
              <a:rPr lang="en-US" sz="900" b="1" dirty="0">
                <a:solidFill>
                  <a:srgbClr val="2F6B8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SYSTEM PIPELINE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576351"/>
            <a:ext cx="8229600" cy="347663"/>
          </a:xfrm>
          <a:custGeom>
            <a:avLst/>
            <a:gdLst/>
            <a:ahLst/>
            <a:cxnLst/>
            <a:rect l="l" t="t" r="r" b="b"/>
            <a:pathLst>
              <a:path w="8229600" h="347663">
                <a:moveTo>
                  <a:pt x="0" y="0"/>
                </a:moveTo>
                <a:lnTo>
                  <a:pt x="8229600" y="0"/>
                </a:lnTo>
                <a:lnTo>
                  <a:pt x="8229600" y="347663"/>
                </a:lnTo>
                <a:lnTo>
                  <a:pt x="0" y="347663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576351"/>
            <a:ext cx="8229600" cy="3476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5652"/>
              </a:lnSpc>
              <a:spcBef>
                <a:spcPts val="281"/>
              </a:spcBef>
              <a:buNone/>
            </a:pPr>
            <a:r>
              <a:rPr lang="en-US" sz="2498" b="1" dirty="0">
                <a:solidFill>
                  <a:srgbClr val="0B1F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Complete Data Flow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57200" y="1021258"/>
            <a:ext cx="5619750" cy="409575"/>
          </a:xfrm>
          <a:custGeom>
            <a:avLst/>
            <a:gdLst/>
            <a:ahLst/>
            <a:cxnLst/>
            <a:rect l="l" t="t" r="r" b="b"/>
            <a:pathLst>
              <a:path w="5619750" h="409575">
                <a:moveTo>
                  <a:pt x="0" y="0"/>
                </a:moveTo>
                <a:lnTo>
                  <a:pt x="5619750" y="0"/>
                </a:lnTo>
                <a:lnTo>
                  <a:pt x="5619750" y="409575"/>
                </a:lnTo>
                <a:lnTo>
                  <a:pt x="0" y="409575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021258"/>
            <a:ext cx="5619750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7391"/>
              </a:lnSpc>
              <a:spcBef>
                <a:spcPts val="281"/>
              </a:spcBef>
              <a:buNone/>
            </a:pPr>
            <a:r>
              <a:rPr lang="en-US" sz="1198" dirty="0">
                <a:solidFill>
                  <a:srgbClr val="5B6B7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layered pipeline turns financial documents into verified, decision-ready insight.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56396" y="2351305"/>
            <a:ext cx="2357438" cy="1714500"/>
          </a:xfrm>
          <a:custGeom>
            <a:avLst/>
            <a:gdLst/>
            <a:ahLst/>
            <a:cxnLst/>
            <a:rect l="l" t="t" r="r" b="b"/>
            <a:pathLst>
              <a:path w="2357438" h="1714500">
                <a:moveTo>
                  <a:pt x="55876" y="0"/>
                </a:moveTo>
                <a:lnTo>
                  <a:pt x="2301562" y="0"/>
                </a:lnTo>
                <a:quadBezTo>
                  <a:pt x="2357438" y="0"/>
                  <a:pt x="2357438" y="55876"/>
                </a:quadBezTo>
                <a:lnTo>
                  <a:pt x="2357438" y="1658624"/>
                </a:lnTo>
                <a:quadBezTo>
                  <a:pt x="2357438" y="1714500"/>
                  <a:pt x="2301562" y="1714500"/>
                </a:quadBezTo>
                <a:lnTo>
                  <a:pt x="55876" y="1714500"/>
                </a:lnTo>
                <a:quadBezTo>
                  <a:pt x="0" y="1714500"/>
                  <a:pt x="0" y="1658624"/>
                </a:quadBezTo>
                <a:lnTo>
                  <a:pt x="0" y="55876"/>
                </a:lnTo>
                <a:quadBezTo>
                  <a:pt x="0" y="0"/>
                  <a:pt x="55876" y="0"/>
                </a:quadBezTo>
                <a:close/>
              </a:path>
            </a:pathLst>
          </a:custGeom>
          <a:solidFill>
            <a:srgbClr val="F6F9FC"/>
          </a:solidFill>
          <a:ln/>
        </p:spPr>
      </p:sp>
      <p:sp>
        <p:nvSpPr>
          <p:cNvPr id="11" name="Shape 9"/>
          <p:cNvSpPr/>
          <p:nvPr/>
        </p:nvSpPr>
        <p:spPr>
          <a:xfrm>
            <a:off x="657225" y="2551330"/>
            <a:ext cx="276225" cy="276225"/>
          </a:xfrm>
          <a:custGeom>
            <a:avLst/>
            <a:gdLst/>
            <a:ahLst/>
            <a:cxnLst/>
            <a:rect l="l" t="t" r="r" b="b"/>
            <a:pathLst>
              <a:path w="276225" h="276225">
                <a:moveTo>
                  <a:pt x="0" y="138113"/>
                </a:moveTo>
                <a:cubicBezTo>
                  <a:pt x="0" y="214390"/>
                  <a:pt x="61835" y="276225"/>
                  <a:pt x="138113" y="276225"/>
                </a:cubicBezTo>
                <a:cubicBezTo>
                  <a:pt x="214390" y="276225"/>
                  <a:pt x="276225" y="214390"/>
                  <a:pt x="276225" y="138113"/>
                </a:cubicBezTo>
                <a:cubicBezTo>
                  <a:pt x="276225" y="61835"/>
                  <a:pt x="214390" y="0"/>
                  <a:pt x="138113" y="0"/>
                </a:cubicBezTo>
                <a:cubicBezTo>
                  <a:pt x="61835" y="0"/>
                  <a:pt x="0" y="61835"/>
                  <a:pt x="0" y="138112"/>
                </a:cubicBezTo>
                <a:close/>
              </a:path>
            </a:pathLst>
          </a:custGeom>
          <a:solidFill>
            <a:srgbClr val="EAF3F7"/>
          </a:solidFill>
          <a:ln/>
        </p:spPr>
      </p:sp>
      <p:sp>
        <p:nvSpPr>
          <p:cNvPr id="12" name="Text 10"/>
          <p:cNvSpPr/>
          <p:nvPr/>
        </p:nvSpPr>
        <p:spPr>
          <a:xfrm>
            <a:off x="657225" y="2551330"/>
            <a:ext cx="276225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6522"/>
              </a:lnSpc>
              <a:spcBef>
                <a:spcPts val="281"/>
              </a:spcBef>
              <a:buNone/>
            </a:pPr>
            <a:r>
              <a:rPr lang="en-US" sz="1001" b="1" dirty="0">
                <a:solidFill>
                  <a:srgbClr val="2F6B8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01</a:t>
            </a:r>
            <a:endParaRPr lang="en-US" sz="900" dirty="0"/>
          </a:p>
        </p:txBody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9175" y="2618005"/>
            <a:ext cx="142875" cy="142875"/>
          </a:xfrm>
          <a:prstGeom prst="rect">
            <a:avLst/>
          </a:prstGeom>
        </p:spPr>
      </p:pic>
      <p:sp>
        <p:nvSpPr>
          <p:cNvPr id="14" name="Shape 11"/>
          <p:cNvSpPr/>
          <p:nvPr/>
        </p:nvSpPr>
        <p:spPr>
          <a:xfrm>
            <a:off x="656421" y="2971383"/>
            <a:ext cx="1957388" cy="195263"/>
          </a:xfrm>
          <a:custGeom>
            <a:avLst/>
            <a:gdLst/>
            <a:ahLst/>
            <a:cxnLst/>
            <a:rect l="l" t="t" r="r" b="b"/>
            <a:pathLst>
              <a:path w="1957388" h="195263">
                <a:moveTo>
                  <a:pt x="0" y="0"/>
                </a:moveTo>
                <a:lnTo>
                  <a:pt x="1957388" y="0"/>
                </a:lnTo>
                <a:lnTo>
                  <a:pt x="1957388" y="195263"/>
                </a:lnTo>
                <a:lnTo>
                  <a:pt x="0" y="195263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15" name="Text 12"/>
          <p:cNvSpPr/>
          <p:nvPr/>
        </p:nvSpPr>
        <p:spPr>
          <a:xfrm>
            <a:off x="656421" y="2971383"/>
            <a:ext cx="1957388" cy="1952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3478"/>
              </a:lnSpc>
              <a:spcBef>
                <a:spcPts val="281"/>
              </a:spcBef>
              <a:buNone/>
            </a:pPr>
            <a:r>
              <a:rPr lang="en-US" sz="1299" b="1" dirty="0">
                <a:solidFill>
                  <a:srgbClr val="0B1F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Extract &amp; Parse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656421" y="3253351"/>
            <a:ext cx="1957388" cy="547687"/>
          </a:xfrm>
          <a:custGeom>
            <a:avLst/>
            <a:gdLst/>
            <a:ahLst/>
            <a:cxnLst/>
            <a:rect l="l" t="t" r="r" b="b"/>
            <a:pathLst>
              <a:path w="1957388" h="547687">
                <a:moveTo>
                  <a:pt x="0" y="0"/>
                </a:moveTo>
                <a:lnTo>
                  <a:pt x="1957388" y="0"/>
                </a:lnTo>
                <a:lnTo>
                  <a:pt x="1957388" y="547687"/>
                </a:lnTo>
                <a:lnTo>
                  <a:pt x="0" y="547687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17" name="Text 14"/>
          <p:cNvSpPr/>
          <p:nvPr/>
        </p:nvSpPr>
        <p:spPr>
          <a:xfrm>
            <a:off x="656421" y="3253351"/>
            <a:ext cx="1957388" cy="5476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217"/>
              </a:lnSpc>
              <a:spcBef>
                <a:spcPts val="281"/>
              </a:spcBef>
              <a:buNone/>
            </a:pPr>
            <a:r>
              <a:rPr lang="en-US" sz="1001" dirty="0">
                <a:solidFill>
                  <a:srgbClr val="3341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PDF input is converted into machine-readable financial content.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657225" y="3861018"/>
            <a:ext cx="438150" cy="23812"/>
          </a:xfrm>
          <a:custGeom>
            <a:avLst/>
            <a:gdLst/>
            <a:ahLst/>
            <a:cxnLst/>
            <a:rect l="l" t="t" r="r" b="b"/>
            <a:pathLst>
              <a:path w="438150" h="23812">
                <a:moveTo>
                  <a:pt x="11906" y="0"/>
                </a:moveTo>
                <a:lnTo>
                  <a:pt x="426244" y="0"/>
                </a:lnTo>
                <a:quadBezTo>
                  <a:pt x="438150" y="0"/>
                  <a:pt x="438150" y="11906"/>
                </a:quadBezTo>
                <a:lnTo>
                  <a:pt x="438150" y="11906"/>
                </a:lnTo>
                <a:quadBezTo>
                  <a:pt x="438150" y="23812"/>
                  <a:pt x="426244" y="23812"/>
                </a:quadBezTo>
                <a:lnTo>
                  <a:pt x="11906" y="23812"/>
                </a:lnTo>
                <a:quadBezTo>
                  <a:pt x="0" y="23812"/>
                  <a:pt x="0" y="11906"/>
                </a:quadBezTo>
                <a:lnTo>
                  <a:pt x="0" y="11906"/>
                </a:lnTo>
                <a:quadBezTo>
                  <a:pt x="0" y="0"/>
                  <a:pt x="11906" y="0"/>
                </a:quadBezTo>
                <a:close/>
              </a:path>
            </a:pathLst>
          </a:custGeom>
          <a:solidFill>
            <a:srgbClr val="2F6B8E"/>
          </a:solidFill>
          <a:ln/>
        </p:spPr>
      </p:sp>
      <p:pic>
        <p:nvPicPr>
          <p:cNvPr id="1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03528" y="3108543"/>
            <a:ext cx="200025" cy="200025"/>
          </a:xfrm>
          <a:prstGeom prst="rect">
            <a:avLst/>
          </a:prstGeom>
        </p:spPr>
      </p:pic>
      <p:sp>
        <p:nvSpPr>
          <p:cNvPr id="20" name="Shape 16"/>
          <p:cNvSpPr/>
          <p:nvPr/>
        </p:nvSpPr>
        <p:spPr>
          <a:xfrm>
            <a:off x="3393279" y="2351305"/>
            <a:ext cx="2357438" cy="1714500"/>
          </a:xfrm>
          <a:custGeom>
            <a:avLst/>
            <a:gdLst/>
            <a:ahLst/>
            <a:cxnLst/>
            <a:rect l="l" t="t" r="r" b="b"/>
            <a:pathLst>
              <a:path w="2357438" h="1714500">
                <a:moveTo>
                  <a:pt x="55876" y="0"/>
                </a:moveTo>
                <a:lnTo>
                  <a:pt x="2301562" y="0"/>
                </a:lnTo>
                <a:quadBezTo>
                  <a:pt x="2357438" y="0"/>
                  <a:pt x="2357438" y="55876"/>
                </a:quadBezTo>
                <a:lnTo>
                  <a:pt x="2357438" y="1658624"/>
                </a:lnTo>
                <a:quadBezTo>
                  <a:pt x="2357438" y="1714500"/>
                  <a:pt x="2301562" y="1714500"/>
                </a:quadBezTo>
                <a:lnTo>
                  <a:pt x="55876" y="1714500"/>
                </a:lnTo>
                <a:quadBezTo>
                  <a:pt x="0" y="1714500"/>
                  <a:pt x="0" y="1658624"/>
                </a:quadBezTo>
                <a:lnTo>
                  <a:pt x="0" y="55876"/>
                </a:lnTo>
                <a:quadBezTo>
                  <a:pt x="0" y="0"/>
                  <a:pt x="55876" y="0"/>
                </a:quadBezTo>
                <a:close/>
              </a:path>
            </a:pathLst>
          </a:custGeom>
          <a:solidFill>
            <a:srgbClr val="EAF3F7"/>
          </a:solidFill>
          <a:ln/>
        </p:spPr>
      </p:sp>
      <p:sp>
        <p:nvSpPr>
          <p:cNvPr id="21" name="Shape 17"/>
          <p:cNvSpPr/>
          <p:nvPr/>
        </p:nvSpPr>
        <p:spPr>
          <a:xfrm>
            <a:off x="3594078" y="2551330"/>
            <a:ext cx="276225" cy="276225"/>
          </a:xfrm>
          <a:custGeom>
            <a:avLst/>
            <a:gdLst/>
            <a:ahLst/>
            <a:cxnLst/>
            <a:rect l="l" t="t" r="r" b="b"/>
            <a:pathLst>
              <a:path w="276225" h="276225">
                <a:moveTo>
                  <a:pt x="0" y="138113"/>
                </a:moveTo>
                <a:cubicBezTo>
                  <a:pt x="0" y="214390"/>
                  <a:pt x="61835" y="276225"/>
                  <a:pt x="138113" y="276225"/>
                </a:cubicBezTo>
                <a:cubicBezTo>
                  <a:pt x="214390" y="276225"/>
                  <a:pt x="276225" y="214390"/>
                  <a:pt x="276225" y="138113"/>
                </a:cubicBezTo>
                <a:cubicBezTo>
                  <a:pt x="276225" y="61835"/>
                  <a:pt x="214390" y="0"/>
                  <a:pt x="138113" y="0"/>
                </a:cubicBezTo>
                <a:cubicBezTo>
                  <a:pt x="61835" y="0"/>
                  <a:pt x="0" y="61835"/>
                  <a:pt x="0" y="138112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2" name="Text 18"/>
          <p:cNvSpPr/>
          <p:nvPr/>
        </p:nvSpPr>
        <p:spPr>
          <a:xfrm>
            <a:off x="3594078" y="2551330"/>
            <a:ext cx="276225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6522"/>
              </a:lnSpc>
              <a:spcBef>
                <a:spcPts val="281"/>
              </a:spcBef>
              <a:buNone/>
            </a:pPr>
            <a:r>
              <a:rPr lang="en-US" sz="1001" b="1" dirty="0">
                <a:solidFill>
                  <a:srgbClr val="4AA3A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02</a:t>
            </a:r>
            <a:endParaRPr lang="en-US" sz="900" dirty="0"/>
          </a:p>
        </p:txBody>
      </p:sp>
      <p:pic>
        <p:nvPicPr>
          <p:cNvPr id="2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56028" y="2618005"/>
            <a:ext cx="142875" cy="142875"/>
          </a:xfrm>
          <a:prstGeom prst="rect">
            <a:avLst/>
          </a:prstGeom>
        </p:spPr>
      </p:pic>
      <p:sp>
        <p:nvSpPr>
          <p:cNvPr id="24" name="Shape 19"/>
          <p:cNvSpPr/>
          <p:nvPr/>
        </p:nvSpPr>
        <p:spPr>
          <a:xfrm>
            <a:off x="3593304" y="2971383"/>
            <a:ext cx="1957388" cy="195263"/>
          </a:xfrm>
          <a:custGeom>
            <a:avLst/>
            <a:gdLst/>
            <a:ahLst/>
            <a:cxnLst/>
            <a:rect l="l" t="t" r="r" b="b"/>
            <a:pathLst>
              <a:path w="1957388" h="195263">
                <a:moveTo>
                  <a:pt x="0" y="0"/>
                </a:moveTo>
                <a:lnTo>
                  <a:pt x="1957388" y="0"/>
                </a:lnTo>
                <a:lnTo>
                  <a:pt x="1957388" y="195263"/>
                </a:lnTo>
                <a:lnTo>
                  <a:pt x="0" y="195263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25" name="Text 20"/>
          <p:cNvSpPr/>
          <p:nvPr/>
        </p:nvSpPr>
        <p:spPr>
          <a:xfrm>
            <a:off x="3593304" y="2971383"/>
            <a:ext cx="1957388" cy="1952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3478"/>
              </a:lnSpc>
              <a:spcBef>
                <a:spcPts val="281"/>
              </a:spcBef>
              <a:buNone/>
            </a:pPr>
            <a:r>
              <a:rPr lang="en-US" sz="1299" b="1" dirty="0">
                <a:solidFill>
                  <a:srgbClr val="0B1F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Structure &amp; Validate</a:t>
            </a:r>
            <a:endParaRPr lang="en-US" sz="900" dirty="0"/>
          </a:p>
        </p:txBody>
      </p:sp>
      <p:sp>
        <p:nvSpPr>
          <p:cNvPr id="26" name="Shape 21"/>
          <p:cNvSpPr/>
          <p:nvPr/>
        </p:nvSpPr>
        <p:spPr>
          <a:xfrm>
            <a:off x="3593304" y="3253351"/>
            <a:ext cx="1957388" cy="547687"/>
          </a:xfrm>
          <a:custGeom>
            <a:avLst/>
            <a:gdLst/>
            <a:ahLst/>
            <a:cxnLst/>
            <a:rect l="l" t="t" r="r" b="b"/>
            <a:pathLst>
              <a:path w="1957388" h="547687">
                <a:moveTo>
                  <a:pt x="0" y="0"/>
                </a:moveTo>
                <a:lnTo>
                  <a:pt x="1957388" y="0"/>
                </a:lnTo>
                <a:lnTo>
                  <a:pt x="1957388" y="547687"/>
                </a:lnTo>
                <a:lnTo>
                  <a:pt x="0" y="547687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27" name="Text 22"/>
          <p:cNvSpPr/>
          <p:nvPr/>
        </p:nvSpPr>
        <p:spPr>
          <a:xfrm>
            <a:off x="3593304" y="3253351"/>
            <a:ext cx="1957388" cy="5476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217"/>
              </a:lnSpc>
              <a:spcBef>
                <a:spcPts val="281"/>
              </a:spcBef>
              <a:buNone/>
            </a:pPr>
            <a:r>
              <a:rPr lang="en-US" sz="1001" dirty="0">
                <a:solidFill>
                  <a:srgbClr val="3341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Data is normalized into a schema, then checked for usable ratios.</a:t>
            </a:r>
            <a:endParaRPr lang="en-US" sz="900" dirty="0"/>
          </a:p>
        </p:txBody>
      </p:sp>
      <p:sp>
        <p:nvSpPr>
          <p:cNvPr id="28" name="Shape 23"/>
          <p:cNvSpPr/>
          <p:nvPr/>
        </p:nvSpPr>
        <p:spPr>
          <a:xfrm>
            <a:off x="3594078" y="3861018"/>
            <a:ext cx="438150" cy="23812"/>
          </a:xfrm>
          <a:custGeom>
            <a:avLst/>
            <a:gdLst/>
            <a:ahLst/>
            <a:cxnLst/>
            <a:rect l="l" t="t" r="r" b="b"/>
            <a:pathLst>
              <a:path w="438150" h="23812">
                <a:moveTo>
                  <a:pt x="11906" y="0"/>
                </a:moveTo>
                <a:lnTo>
                  <a:pt x="426244" y="0"/>
                </a:lnTo>
                <a:quadBezTo>
                  <a:pt x="438150" y="0"/>
                  <a:pt x="438150" y="11906"/>
                </a:quadBezTo>
                <a:lnTo>
                  <a:pt x="438150" y="11906"/>
                </a:lnTo>
                <a:quadBezTo>
                  <a:pt x="438150" y="23812"/>
                  <a:pt x="426244" y="23812"/>
                </a:quadBezTo>
                <a:lnTo>
                  <a:pt x="11906" y="23812"/>
                </a:lnTo>
                <a:quadBezTo>
                  <a:pt x="0" y="23812"/>
                  <a:pt x="0" y="11906"/>
                </a:quadBezTo>
                <a:lnTo>
                  <a:pt x="0" y="11906"/>
                </a:lnTo>
                <a:quadBezTo>
                  <a:pt x="0" y="0"/>
                  <a:pt x="11906" y="0"/>
                </a:quadBezTo>
                <a:close/>
              </a:path>
            </a:pathLst>
          </a:custGeom>
          <a:solidFill>
            <a:srgbClr val="4AA3A2"/>
          </a:solidFill>
          <a:ln/>
        </p:spPr>
      </p:sp>
      <p:pic>
        <p:nvPicPr>
          <p:cNvPr id="2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40442" y="3108543"/>
            <a:ext cx="200025" cy="200025"/>
          </a:xfrm>
          <a:prstGeom prst="rect">
            <a:avLst/>
          </a:prstGeom>
        </p:spPr>
      </p:pic>
      <p:sp>
        <p:nvSpPr>
          <p:cNvPr id="30" name="Shape 24"/>
          <p:cNvSpPr/>
          <p:nvPr/>
        </p:nvSpPr>
        <p:spPr>
          <a:xfrm>
            <a:off x="6330163" y="2351305"/>
            <a:ext cx="2357438" cy="1714500"/>
          </a:xfrm>
          <a:custGeom>
            <a:avLst/>
            <a:gdLst/>
            <a:ahLst/>
            <a:cxnLst/>
            <a:rect l="l" t="t" r="r" b="b"/>
            <a:pathLst>
              <a:path w="2357438" h="1714500">
                <a:moveTo>
                  <a:pt x="55876" y="0"/>
                </a:moveTo>
                <a:lnTo>
                  <a:pt x="2301562" y="0"/>
                </a:lnTo>
                <a:quadBezTo>
                  <a:pt x="2357438" y="0"/>
                  <a:pt x="2357438" y="55876"/>
                </a:quadBezTo>
                <a:lnTo>
                  <a:pt x="2357438" y="1658624"/>
                </a:lnTo>
                <a:quadBezTo>
                  <a:pt x="2357438" y="1714500"/>
                  <a:pt x="2301562" y="1714500"/>
                </a:quadBezTo>
                <a:lnTo>
                  <a:pt x="55876" y="1714500"/>
                </a:lnTo>
                <a:quadBezTo>
                  <a:pt x="0" y="1714500"/>
                  <a:pt x="0" y="1658624"/>
                </a:quadBezTo>
                <a:lnTo>
                  <a:pt x="0" y="55876"/>
                </a:lnTo>
                <a:quadBezTo>
                  <a:pt x="0" y="0"/>
                  <a:pt x="55876" y="0"/>
                </a:quadBezTo>
                <a:close/>
              </a:path>
            </a:pathLst>
          </a:custGeom>
          <a:solidFill>
            <a:srgbClr val="F6F9FC"/>
          </a:solidFill>
          <a:ln/>
        </p:spPr>
      </p:sp>
      <p:sp>
        <p:nvSpPr>
          <p:cNvPr id="31" name="Shape 25"/>
          <p:cNvSpPr/>
          <p:nvPr/>
        </p:nvSpPr>
        <p:spPr>
          <a:xfrm>
            <a:off x="6530992" y="2551330"/>
            <a:ext cx="276225" cy="276225"/>
          </a:xfrm>
          <a:custGeom>
            <a:avLst/>
            <a:gdLst/>
            <a:ahLst/>
            <a:cxnLst/>
            <a:rect l="l" t="t" r="r" b="b"/>
            <a:pathLst>
              <a:path w="276225" h="276225">
                <a:moveTo>
                  <a:pt x="0" y="138113"/>
                </a:moveTo>
                <a:cubicBezTo>
                  <a:pt x="0" y="214390"/>
                  <a:pt x="61835" y="276225"/>
                  <a:pt x="138113" y="276225"/>
                </a:cubicBezTo>
                <a:cubicBezTo>
                  <a:pt x="214390" y="276225"/>
                  <a:pt x="276225" y="214390"/>
                  <a:pt x="276225" y="138113"/>
                </a:cubicBezTo>
                <a:cubicBezTo>
                  <a:pt x="276225" y="61835"/>
                  <a:pt x="214390" y="0"/>
                  <a:pt x="138113" y="0"/>
                </a:cubicBezTo>
                <a:cubicBezTo>
                  <a:pt x="61835" y="0"/>
                  <a:pt x="0" y="61835"/>
                  <a:pt x="0" y="138112"/>
                </a:cubicBezTo>
                <a:close/>
              </a:path>
            </a:pathLst>
          </a:custGeom>
          <a:solidFill>
            <a:srgbClr val="EAF3F7"/>
          </a:solidFill>
          <a:ln/>
        </p:spPr>
      </p:sp>
      <p:sp>
        <p:nvSpPr>
          <p:cNvPr id="32" name="Text 26"/>
          <p:cNvSpPr/>
          <p:nvPr/>
        </p:nvSpPr>
        <p:spPr>
          <a:xfrm>
            <a:off x="6530992" y="2551330"/>
            <a:ext cx="276225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6522"/>
              </a:lnSpc>
              <a:spcBef>
                <a:spcPts val="281"/>
              </a:spcBef>
              <a:buNone/>
            </a:pPr>
            <a:r>
              <a:rPr lang="en-US" sz="1001" b="1" dirty="0">
                <a:solidFill>
                  <a:srgbClr val="7CB34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03</a:t>
            </a:r>
            <a:endParaRPr lang="en-US" sz="900" dirty="0"/>
          </a:p>
        </p:txBody>
      </p:sp>
      <p:pic>
        <p:nvPicPr>
          <p:cNvPr id="3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92942" y="2618005"/>
            <a:ext cx="142875" cy="142875"/>
          </a:xfrm>
          <a:prstGeom prst="rect">
            <a:avLst/>
          </a:prstGeom>
        </p:spPr>
      </p:pic>
      <p:sp>
        <p:nvSpPr>
          <p:cNvPr id="34" name="Shape 27"/>
          <p:cNvSpPr/>
          <p:nvPr/>
        </p:nvSpPr>
        <p:spPr>
          <a:xfrm>
            <a:off x="6530188" y="2971383"/>
            <a:ext cx="1957388" cy="195263"/>
          </a:xfrm>
          <a:custGeom>
            <a:avLst/>
            <a:gdLst/>
            <a:ahLst/>
            <a:cxnLst/>
            <a:rect l="l" t="t" r="r" b="b"/>
            <a:pathLst>
              <a:path w="1957388" h="195263">
                <a:moveTo>
                  <a:pt x="0" y="0"/>
                </a:moveTo>
                <a:lnTo>
                  <a:pt x="1957388" y="0"/>
                </a:lnTo>
                <a:lnTo>
                  <a:pt x="1957388" y="195263"/>
                </a:lnTo>
                <a:lnTo>
                  <a:pt x="0" y="195263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35" name="Text 28"/>
          <p:cNvSpPr/>
          <p:nvPr/>
        </p:nvSpPr>
        <p:spPr>
          <a:xfrm>
            <a:off x="6530188" y="2971383"/>
            <a:ext cx="1957388" cy="1952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3478"/>
              </a:lnSpc>
              <a:spcBef>
                <a:spcPts val="281"/>
              </a:spcBef>
              <a:buNone/>
            </a:pPr>
            <a:r>
              <a:rPr lang="en-US" sz="1299" b="1" dirty="0">
                <a:solidFill>
                  <a:srgbClr val="0B1F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Analyze &amp; Summarize</a:t>
            </a:r>
            <a:endParaRPr lang="en-US" sz="900" dirty="0"/>
          </a:p>
        </p:txBody>
      </p:sp>
      <p:sp>
        <p:nvSpPr>
          <p:cNvPr id="36" name="Shape 29"/>
          <p:cNvSpPr/>
          <p:nvPr/>
        </p:nvSpPr>
        <p:spPr>
          <a:xfrm>
            <a:off x="6530188" y="3253351"/>
            <a:ext cx="1957388" cy="547687"/>
          </a:xfrm>
          <a:custGeom>
            <a:avLst/>
            <a:gdLst/>
            <a:ahLst/>
            <a:cxnLst/>
            <a:rect l="l" t="t" r="r" b="b"/>
            <a:pathLst>
              <a:path w="1957388" h="547687">
                <a:moveTo>
                  <a:pt x="0" y="0"/>
                </a:moveTo>
                <a:lnTo>
                  <a:pt x="1957388" y="0"/>
                </a:lnTo>
                <a:lnTo>
                  <a:pt x="1957388" y="547687"/>
                </a:lnTo>
                <a:lnTo>
                  <a:pt x="0" y="547687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37" name="Text 30"/>
          <p:cNvSpPr/>
          <p:nvPr/>
        </p:nvSpPr>
        <p:spPr>
          <a:xfrm>
            <a:off x="6530188" y="3253351"/>
            <a:ext cx="1957388" cy="5476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217"/>
              </a:lnSpc>
              <a:spcBef>
                <a:spcPts val="281"/>
              </a:spcBef>
              <a:buNone/>
            </a:pPr>
            <a:r>
              <a:rPr lang="en-US" sz="1001" dirty="0">
                <a:solidFill>
                  <a:srgbClr val="3341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Trend analysis and an LLM summary produce the final output.</a:t>
            </a:r>
            <a:endParaRPr lang="en-US" sz="900" dirty="0"/>
          </a:p>
        </p:txBody>
      </p:sp>
      <p:sp>
        <p:nvSpPr>
          <p:cNvPr id="38" name="Shape 31"/>
          <p:cNvSpPr/>
          <p:nvPr/>
        </p:nvSpPr>
        <p:spPr>
          <a:xfrm>
            <a:off x="6530992" y="3861018"/>
            <a:ext cx="438150" cy="23812"/>
          </a:xfrm>
          <a:custGeom>
            <a:avLst/>
            <a:gdLst/>
            <a:ahLst/>
            <a:cxnLst/>
            <a:rect l="l" t="t" r="r" b="b"/>
            <a:pathLst>
              <a:path w="438150" h="23812">
                <a:moveTo>
                  <a:pt x="11906" y="0"/>
                </a:moveTo>
                <a:lnTo>
                  <a:pt x="426244" y="0"/>
                </a:lnTo>
                <a:quadBezTo>
                  <a:pt x="438150" y="0"/>
                  <a:pt x="438150" y="11906"/>
                </a:quadBezTo>
                <a:lnTo>
                  <a:pt x="438150" y="11906"/>
                </a:lnTo>
                <a:quadBezTo>
                  <a:pt x="438150" y="23812"/>
                  <a:pt x="426244" y="23812"/>
                </a:quadBezTo>
                <a:lnTo>
                  <a:pt x="11906" y="23812"/>
                </a:lnTo>
                <a:quadBezTo>
                  <a:pt x="0" y="23812"/>
                  <a:pt x="0" y="11906"/>
                </a:quadBezTo>
                <a:lnTo>
                  <a:pt x="0" y="11906"/>
                </a:lnTo>
                <a:quadBezTo>
                  <a:pt x="0" y="0"/>
                  <a:pt x="11906" y="0"/>
                </a:quadBezTo>
                <a:close/>
              </a:path>
            </a:pathLst>
          </a:custGeom>
          <a:solidFill>
            <a:srgbClr val="7CB342"/>
          </a:solidFill>
          <a:ln/>
        </p:spPr>
      </p:sp>
      <p:sp>
        <p:nvSpPr>
          <p:cNvPr id="39" name="Shape 32"/>
          <p:cNvSpPr/>
          <p:nvPr/>
        </p:nvSpPr>
        <p:spPr>
          <a:xfrm>
            <a:off x="1536976" y="4413945"/>
            <a:ext cx="1047750" cy="4763"/>
          </a:xfrm>
          <a:custGeom>
            <a:avLst/>
            <a:gdLst/>
            <a:ahLst/>
            <a:cxnLst/>
            <a:rect l="l" t="t" r="r" b="b"/>
            <a:pathLst>
              <a:path w="1047750" h="4763">
                <a:moveTo>
                  <a:pt x="0" y="0"/>
                </a:moveTo>
                <a:lnTo>
                  <a:pt x="1047750" y="0"/>
                </a:lnTo>
                <a:lnTo>
                  <a:pt x="1047750" y="4763"/>
                </a:lnTo>
                <a:lnTo>
                  <a:pt x="0" y="4763"/>
                </a:lnTo>
                <a:close/>
              </a:path>
            </a:pathLst>
          </a:custGeom>
          <a:solidFill>
            <a:srgbClr val="D7E4EA"/>
          </a:solidFill>
          <a:ln/>
        </p:spPr>
      </p:sp>
      <p:sp>
        <p:nvSpPr>
          <p:cNvPr id="40" name="Shape 33"/>
          <p:cNvSpPr/>
          <p:nvPr/>
        </p:nvSpPr>
        <p:spPr>
          <a:xfrm>
            <a:off x="2669381" y="4342507"/>
            <a:ext cx="3805237" cy="147637"/>
          </a:xfrm>
          <a:custGeom>
            <a:avLst/>
            <a:gdLst/>
            <a:ahLst/>
            <a:cxnLst/>
            <a:rect l="l" t="t" r="r" b="b"/>
            <a:pathLst>
              <a:path w="3805237" h="147637">
                <a:moveTo>
                  <a:pt x="0" y="0"/>
                </a:moveTo>
                <a:lnTo>
                  <a:pt x="3805237" y="0"/>
                </a:lnTo>
                <a:lnTo>
                  <a:pt x="3805237" y="147637"/>
                </a:lnTo>
                <a:lnTo>
                  <a:pt x="0" y="147637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41" name="Text 34"/>
          <p:cNvSpPr/>
          <p:nvPr/>
        </p:nvSpPr>
        <p:spPr>
          <a:xfrm>
            <a:off x="2669381" y="4342507"/>
            <a:ext cx="3805237" cy="1476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3043"/>
              </a:lnSpc>
              <a:spcBef>
                <a:spcPts val="281"/>
              </a:spcBef>
              <a:buNone/>
            </a:pPr>
            <a:r>
              <a:rPr lang="en-US" sz="889" b="1" dirty="0">
                <a:solidFill>
                  <a:srgbClr val="5B6B7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Each stage increases structure, confidence, and interpretability.</a:t>
            </a:r>
            <a:endParaRPr lang="en-US" sz="900" dirty="0"/>
          </a:p>
        </p:txBody>
      </p:sp>
      <p:sp>
        <p:nvSpPr>
          <p:cNvPr id="42" name="Shape 35"/>
          <p:cNvSpPr/>
          <p:nvPr/>
        </p:nvSpPr>
        <p:spPr>
          <a:xfrm>
            <a:off x="6559269" y="4413945"/>
            <a:ext cx="1047750" cy="4763"/>
          </a:xfrm>
          <a:custGeom>
            <a:avLst/>
            <a:gdLst/>
            <a:ahLst/>
            <a:cxnLst/>
            <a:rect l="l" t="t" r="r" b="b"/>
            <a:pathLst>
              <a:path w="1047750" h="4763">
                <a:moveTo>
                  <a:pt x="0" y="0"/>
                </a:moveTo>
                <a:lnTo>
                  <a:pt x="1047750" y="0"/>
                </a:lnTo>
                <a:lnTo>
                  <a:pt x="1047750" y="4763"/>
                </a:lnTo>
                <a:lnTo>
                  <a:pt x="0" y="4763"/>
                </a:lnTo>
                <a:close/>
              </a:path>
            </a:pathLst>
          </a:custGeom>
          <a:solidFill>
            <a:srgbClr val="D7E4EA"/>
          </a:solidFill>
          <a:ln/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0" y="0"/>
                </a:moveTo>
                <a:lnTo>
                  <a:pt x="9144000" y="0"/>
                </a:lnTo>
                <a:lnTo>
                  <a:pt x="9144000" y="5143500"/>
                </a:lnTo>
                <a:lnTo>
                  <a:pt x="0" y="514350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4" name="Shape 1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0" y="0"/>
                </a:moveTo>
                <a:lnTo>
                  <a:pt x="9144000" y="0"/>
                </a:lnTo>
                <a:lnTo>
                  <a:pt x="9144000" y="5143500"/>
                </a:lnTo>
                <a:lnTo>
                  <a:pt x="0" y="5143500"/>
                </a:lnTo>
                <a:close/>
              </a:path>
            </a:pathLst>
          </a:custGeom>
          <a:solidFill>
            <a:srgbClr val="F6F9FC"/>
          </a:solidFill>
          <a:ln/>
        </p:spPr>
      </p:sp>
      <p:sp>
        <p:nvSpPr>
          <p:cNvPr id="5" name="Shape 2"/>
          <p:cNvSpPr/>
          <p:nvPr/>
        </p:nvSpPr>
        <p:spPr>
          <a:xfrm>
            <a:off x="457200" y="370999"/>
            <a:ext cx="8229600" cy="138113"/>
          </a:xfrm>
          <a:custGeom>
            <a:avLst/>
            <a:gdLst/>
            <a:ahLst/>
            <a:cxnLst/>
            <a:rect l="l" t="t" r="r" b="b"/>
            <a:pathLst>
              <a:path w="8229600" h="138113">
                <a:moveTo>
                  <a:pt x="0" y="0"/>
                </a:moveTo>
                <a:lnTo>
                  <a:pt x="8229600" y="0"/>
                </a:lnTo>
                <a:lnTo>
                  <a:pt x="8229600" y="138113"/>
                </a:lnTo>
                <a:lnTo>
                  <a:pt x="0" y="138113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6" name="Text 3"/>
          <p:cNvSpPr/>
          <p:nvPr/>
        </p:nvSpPr>
        <p:spPr>
          <a:xfrm>
            <a:off x="457200" y="370999"/>
            <a:ext cx="8229600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4348"/>
              </a:lnSpc>
              <a:spcBef>
                <a:spcPts val="281"/>
              </a:spcBef>
              <a:buNone/>
            </a:pPr>
            <a:r>
              <a:rPr lang="en-US" sz="900" b="1" dirty="0">
                <a:solidFill>
                  <a:srgbClr val="2F6B8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DATA PREPARATION PIPELINE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457200" y="585876"/>
            <a:ext cx="8229600" cy="347663"/>
          </a:xfrm>
          <a:custGeom>
            <a:avLst/>
            <a:gdLst/>
            <a:ahLst/>
            <a:cxnLst/>
            <a:rect l="l" t="t" r="r" b="b"/>
            <a:pathLst>
              <a:path w="8229600" h="347663">
                <a:moveTo>
                  <a:pt x="0" y="0"/>
                </a:moveTo>
                <a:lnTo>
                  <a:pt x="8229600" y="0"/>
                </a:lnTo>
                <a:lnTo>
                  <a:pt x="8229600" y="347663"/>
                </a:lnTo>
                <a:lnTo>
                  <a:pt x="0" y="347663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8" name="Text 5"/>
          <p:cNvSpPr/>
          <p:nvPr/>
        </p:nvSpPr>
        <p:spPr>
          <a:xfrm>
            <a:off x="457200" y="585876"/>
            <a:ext cx="8229600" cy="3476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5652"/>
              </a:lnSpc>
              <a:spcBef>
                <a:spcPts val="281"/>
              </a:spcBef>
              <a:buNone/>
            </a:pPr>
            <a:r>
              <a:rPr lang="en-US" sz="2498" b="1" dirty="0">
                <a:solidFill>
                  <a:srgbClr val="0B1F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Document Extraction &amp; Normalization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457200" y="1039355"/>
            <a:ext cx="5619750" cy="385763"/>
          </a:xfrm>
          <a:custGeom>
            <a:avLst/>
            <a:gdLst/>
            <a:ahLst/>
            <a:cxnLst/>
            <a:rect l="l" t="t" r="r" b="b"/>
            <a:pathLst>
              <a:path w="5619750" h="385763">
                <a:moveTo>
                  <a:pt x="0" y="0"/>
                </a:moveTo>
                <a:lnTo>
                  <a:pt x="5619750" y="0"/>
                </a:lnTo>
                <a:lnTo>
                  <a:pt x="5619750" y="385763"/>
                </a:lnTo>
                <a:lnTo>
                  <a:pt x="0" y="385763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10" name="Text 7"/>
          <p:cNvSpPr/>
          <p:nvPr/>
        </p:nvSpPr>
        <p:spPr>
          <a:xfrm>
            <a:off x="457200" y="1039355"/>
            <a:ext cx="5619750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spcBef>
                <a:spcPts val="281"/>
              </a:spcBef>
              <a:buNone/>
            </a:pPr>
            <a:r>
              <a:rPr lang="en-US" sz="1103" dirty="0">
                <a:solidFill>
                  <a:srgbClr val="5B6B7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Move from messy annual-report evidence to a consistent schema ready for analysis.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457200" y="1729351"/>
            <a:ext cx="4000500" cy="2328863"/>
          </a:xfrm>
          <a:custGeom>
            <a:avLst/>
            <a:gdLst/>
            <a:ahLst/>
            <a:cxnLst/>
            <a:rect l="l" t="t" r="r" b="b"/>
            <a:pathLst>
              <a:path w="4000500" h="2328863">
                <a:moveTo>
                  <a:pt x="33652" y="0"/>
                </a:moveTo>
                <a:lnTo>
                  <a:pt x="3966848" y="0"/>
                </a:lnTo>
                <a:quadBezTo>
                  <a:pt x="4000500" y="0"/>
                  <a:pt x="4000500" y="33652"/>
                </a:quadBezTo>
                <a:lnTo>
                  <a:pt x="4000500" y="2295210"/>
                </a:lnTo>
                <a:quadBezTo>
                  <a:pt x="4000500" y="2328863"/>
                  <a:pt x="3966848" y="2328863"/>
                </a:quadBezTo>
                <a:lnTo>
                  <a:pt x="33652" y="2328863"/>
                </a:lnTo>
                <a:quadBezTo>
                  <a:pt x="0" y="2328863"/>
                  <a:pt x="0" y="2295210"/>
                </a:quadBezTo>
                <a:lnTo>
                  <a:pt x="0" y="33652"/>
                </a:lnTo>
                <a:quadBezTo>
                  <a:pt x="0" y="0"/>
                  <a:pt x="33652" y="0"/>
                </a:quadBezTo>
                <a:close/>
              </a:path>
            </a:pathLst>
          </a:custGeom>
          <a:solidFill>
            <a:srgbClr val="EAF3F7"/>
          </a:solidFill>
          <a:ln/>
        </p:spPr>
      </p:sp>
      <p:sp>
        <p:nvSpPr>
          <p:cNvPr id="12" name="Shape 9"/>
          <p:cNvSpPr/>
          <p:nvPr/>
        </p:nvSpPr>
        <p:spPr>
          <a:xfrm>
            <a:off x="704850" y="1997572"/>
            <a:ext cx="276225" cy="276225"/>
          </a:xfrm>
          <a:custGeom>
            <a:avLst/>
            <a:gdLst/>
            <a:ahLst/>
            <a:cxnLst/>
            <a:rect l="l" t="t" r="r" b="b"/>
            <a:pathLst>
              <a:path w="276225" h="276225">
                <a:moveTo>
                  <a:pt x="47295" y="0"/>
                </a:moveTo>
                <a:lnTo>
                  <a:pt x="228930" y="0"/>
                </a:lnTo>
                <a:quadBezTo>
                  <a:pt x="276225" y="0"/>
                  <a:pt x="276225" y="47295"/>
                </a:quadBezTo>
                <a:lnTo>
                  <a:pt x="276225" y="228930"/>
                </a:lnTo>
                <a:quadBezTo>
                  <a:pt x="276225" y="276225"/>
                  <a:pt x="228930" y="276225"/>
                </a:quadBezTo>
                <a:lnTo>
                  <a:pt x="47295" y="276225"/>
                </a:lnTo>
                <a:quadBezTo>
                  <a:pt x="0" y="276225"/>
                  <a:pt x="0" y="228930"/>
                </a:quadBezTo>
                <a:lnTo>
                  <a:pt x="0" y="47295"/>
                </a:lnTo>
                <a:quadBezTo>
                  <a:pt x="0" y="0"/>
                  <a:pt x="47295" y="0"/>
                </a:quadBezTo>
                <a:close/>
              </a:path>
            </a:pathLst>
          </a:custGeom>
          <a:solidFill>
            <a:srgbClr val="2F6B8E"/>
          </a:solidFill>
          <a:ln/>
        </p:spPr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1525" y="2064247"/>
            <a:ext cx="142875" cy="142875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1066502" y="1949945"/>
            <a:ext cx="2062162" cy="123825"/>
          </a:xfrm>
          <a:custGeom>
            <a:avLst/>
            <a:gdLst/>
            <a:ahLst/>
            <a:cxnLst/>
            <a:rect l="l" t="t" r="r" b="b"/>
            <a:pathLst>
              <a:path w="2062162" h="123825">
                <a:moveTo>
                  <a:pt x="0" y="0"/>
                </a:moveTo>
                <a:lnTo>
                  <a:pt x="2062162" y="0"/>
                </a:lnTo>
                <a:lnTo>
                  <a:pt x="2062162" y="123825"/>
                </a:lnTo>
                <a:lnTo>
                  <a:pt x="0" y="123825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15" name="Text 11"/>
          <p:cNvSpPr/>
          <p:nvPr/>
        </p:nvSpPr>
        <p:spPr>
          <a:xfrm>
            <a:off x="1066502" y="1949945"/>
            <a:ext cx="2062162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7826"/>
              </a:lnSpc>
              <a:spcBef>
                <a:spcPts val="281"/>
              </a:spcBef>
              <a:buNone/>
            </a:pPr>
            <a:r>
              <a:rPr lang="en-US" sz="799" b="1" dirty="0">
                <a:solidFill>
                  <a:srgbClr val="2F6B8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SECTION 01</a:t>
            </a:r>
            <a:endParaRPr lang="en-US" sz="900" dirty="0"/>
          </a:p>
        </p:txBody>
      </p:sp>
      <p:sp>
        <p:nvSpPr>
          <p:cNvPr id="16" name="Shape 12"/>
          <p:cNvSpPr/>
          <p:nvPr/>
        </p:nvSpPr>
        <p:spPr>
          <a:xfrm>
            <a:off x="1066502" y="2112822"/>
            <a:ext cx="2062162" cy="209550"/>
          </a:xfrm>
          <a:custGeom>
            <a:avLst/>
            <a:gdLst/>
            <a:ahLst/>
            <a:cxnLst/>
            <a:rect l="l" t="t" r="r" b="b"/>
            <a:pathLst>
              <a:path w="2062162" h="209550">
                <a:moveTo>
                  <a:pt x="0" y="0"/>
                </a:moveTo>
                <a:lnTo>
                  <a:pt x="2062162" y="0"/>
                </a:lnTo>
                <a:lnTo>
                  <a:pt x="2062162" y="209550"/>
                </a:lnTo>
                <a:lnTo>
                  <a:pt x="0" y="209550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17" name="Text 13"/>
          <p:cNvSpPr/>
          <p:nvPr/>
        </p:nvSpPr>
        <p:spPr>
          <a:xfrm>
            <a:off x="1066502" y="2112822"/>
            <a:ext cx="2062162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5652"/>
              </a:lnSpc>
              <a:spcBef>
                <a:spcPts val="281"/>
              </a:spcBef>
              <a:buNone/>
            </a:pPr>
            <a:r>
              <a:rPr lang="en-US" sz="1485" b="1" dirty="0">
                <a:solidFill>
                  <a:srgbClr val="0B1F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Extract the evidence</a:t>
            </a:r>
            <a:endParaRPr lang="en-US" sz="900" dirty="0"/>
          </a:p>
        </p:txBody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4850" y="2498585"/>
            <a:ext cx="133350" cy="133350"/>
          </a:xfrm>
          <a:prstGeom prst="rect">
            <a:avLst/>
          </a:prstGeom>
        </p:spPr>
      </p:pic>
      <p:sp>
        <p:nvSpPr>
          <p:cNvPr id="19" name="Shape 14"/>
          <p:cNvSpPr/>
          <p:nvPr/>
        </p:nvSpPr>
        <p:spPr>
          <a:xfrm>
            <a:off x="923092" y="2484952"/>
            <a:ext cx="3105150" cy="180975"/>
          </a:xfrm>
          <a:custGeom>
            <a:avLst/>
            <a:gdLst/>
            <a:ahLst/>
            <a:cxnLst/>
            <a:rect l="l" t="t" r="r" b="b"/>
            <a:pathLst>
              <a:path w="3105150" h="180975">
                <a:moveTo>
                  <a:pt x="0" y="0"/>
                </a:moveTo>
                <a:lnTo>
                  <a:pt x="3105150" y="0"/>
                </a:lnTo>
                <a:lnTo>
                  <a:pt x="3105150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20" name="Text 15"/>
          <p:cNvSpPr/>
          <p:nvPr/>
        </p:nvSpPr>
        <p:spPr>
          <a:xfrm>
            <a:off x="923092" y="2484952"/>
            <a:ext cx="310515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217"/>
              </a:lnSpc>
              <a:spcBef>
                <a:spcPts val="281"/>
              </a:spcBef>
              <a:buNone/>
            </a:pPr>
            <a:r>
              <a:rPr lang="en-US" sz="1001" dirty="0">
                <a:solidFill>
                  <a:srgbClr val="3341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Start with an annual report or 10-K-style PDF.</a:t>
            </a:r>
            <a:endParaRPr lang="en-US" sz="900" dirty="0"/>
          </a:p>
        </p:txBody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4850" y="2823746"/>
            <a:ext cx="133350" cy="133350"/>
          </a:xfrm>
          <a:prstGeom prst="rect">
            <a:avLst/>
          </a:prstGeom>
        </p:spPr>
      </p:pic>
      <p:sp>
        <p:nvSpPr>
          <p:cNvPr id="22" name="Shape 16"/>
          <p:cNvSpPr/>
          <p:nvPr/>
        </p:nvSpPr>
        <p:spPr>
          <a:xfrm>
            <a:off x="923925" y="2808387"/>
            <a:ext cx="3286125" cy="366712"/>
          </a:xfrm>
          <a:custGeom>
            <a:avLst/>
            <a:gdLst/>
            <a:ahLst/>
            <a:cxnLst/>
            <a:rect l="l" t="t" r="r" b="b"/>
            <a:pathLst>
              <a:path w="3286125" h="366712">
                <a:moveTo>
                  <a:pt x="0" y="0"/>
                </a:moveTo>
                <a:lnTo>
                  <a:pt x="3286125" y="0"/>
                </a:lnTo>
                <a:lnTo>
                  <a:pt x="3286125" y="366712"/>
                </a:lnTo>
                <a:lnTo>
                  <a:pt x="0" y="366712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23" name="Text 17"/>
          <p:cNvSpPr/>
          <p:nvPr/>
        </p:nvSpPr>
        <p:spPr>
          <a:xfrm>
            <a:off x="923925" y="2808387"/>
            <a:ext cx="3286125" cy="366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217"/>
              </a:lnSpc>
              <a:spcBef>
                <a:spcPts val="281"/>
              </a:spcBef>
              <a:buNone/>
            </a:pPr>
            <a:r>
              <a:rPr lang="en-US" sz="1001" dirty="0">
                <a:solidFill>
                  <a:srgbClr val="3341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Use pdfplumber or Camelot to extract tables and figures.</a:t>
            </a:r>
            <a:endParaRPr lang="en-US" sz="900" dirty="0"/>
          </a:p>
        </p:txBody>
      </p:sp>
      <p:sp>
        <p:nvSpPr>
          <p:cNvPr id="24" name="Shape 18"/>
          <p:cNvSpPr/>
          <p:nvPr/>
        </p:nvSpPr>
        <p:spPr>
          <a:xfrm>
            <a:off x="704850" y="3514725"/>
            <a:ext cx="3505200" cy="323850"/>
          </a:xfrm>
          <a:custGeom>
            <a:avLst/>
            <a:gdLst/>
            <a:ahLst/>
            <a:cxnLst/>
            <a:rect l="l" t="t" r="r" b="b"/>
            <a:pathLst>
              <a:path w="3505200" h="323850">
                <a:moveTo>
                  <a:pt x="0" y="0"/>
                </a:moveTo>
                <a:lnTo>
                  <a:pt x="3505200" y="0"/>
                </a:lnTo>
                <a:lnTo>
                  <a:pt x="3505200" y="323850"/>
                </a:lnTo>
                <a:lnTo>
                  <a:pt x="0" y="323850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25" name="Text 19"/>
          <p:cNvSpPr/>
          <p:nvPr/>
        </p:nvSpPr>
        <p:spPr>
          <a:xfrm>
            <a:off x="704850" y="3514725"/>
            <a:ext cx="35052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7391"/>
              </a:lnSpc>
              <a:spcBef>
                <a:spcPts val="281"/>
              </a:spcBef>
              <a:buNone/>
            </a:pPr>
            <a:r>
              <a:rPr lang="en-US" sz="900" dirty="0">
                <a:solidFill>
                  <a:srgbClr val="5B6B7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Capture raw figures, labels, and reporting years.</a:t>
            </a:r>
            <a:endParaRPr lang="en-US" sz="900" dirty="0"/>
          </a:p>
        </p:txBody>
      </p:sp>
      <p:sp>
        <p:nvSpPr>
          <p:cNvPr id="26" name="Shape 20"/>
          <p:cNvSpPr/>
          <p:nvPr/>
        </p:nvSpPr>
        <p:spPr>
          <a:xfrm>
            <a:off x="4686300" y="1729351"/>
            <a:ext cx="4000500" cy="2328863"/>
          </a:xfrm>
          <a:custGeom>
            <a:avLst/>
            <a:gdLst/>
            <a:ahLst/>
            <a:cxnLst/>
            <a:rect l="l" t="t" r="r" b="b"/>
            <a:pathLst>
              <a:path w="4000500" h="2328863">
                <a:moveTo>
                  <a:pt x="33652" y="0"/>
                </a:moveTo>
                <a:lnTo>
                  <a:pt x="3966848" y="0"/>
                </a:lnTo>
                <a:quadBezTo>
                  <a:pt x="4000500" y="0"/>
                  <a:pt x="4000500" y="33652"/>
                </a:quadBezTo>
                <a:lnTo>
                  <a:pt x="4000500" y="2295210"/>
                </a:lnTo>
                <a:quadBezTo>
                  <a:pt x="4000500" y="2328863"/>
                  <a:pt x="3966848" y="2328863"/>
                </a:quadBezTo>
                <a:lnTo>
                  <a:pt x="33652" y="2328863"/>
                </a:lnTo>
                <a:quadBezTo>
                  <a:pt x="0" y="2328863"/>
                  <a:pt x="0" y="2295210"/>
                </a:quadBezTo>
                <a:lnTo>
                  <a:pt x="0" y="33652"/>
                </a:lnTo>
                <a:quadBezTo>
                  <a:pt x="0" y="0"/>
                  <a:pt x="33652" y="0"/>
                </a:quadBezTo>
                <a:close/>
              </a:path>
            </a:pathLst>
          </a:custGeom>
          <a:solidFill>
            <a:srgbClr val="FFFFFF"/>
          </a:solidFill>
          <a:ln w="7644">
            <a:solidFill>
              <a:srgbClr val="B8D5DE"/>
            </a:solidFill>
            <a:prstDash val="solid"/>
          </a:ln>
        </p:spPr>
      </p:sp>
      <p:sp>
        <p:nvSpPr>
          <p:cNvPr id="27" name="Shape 21"/>
          <p:cNvSpPr/>
          <p:nvPr/>
        </p:nvSpPr>
        <p:spPr>
          <a:xfrm>
            <a:off x="4941567" y="2005192"/>
            <a:ext cx="276225" cy="276225"/>
          </a:xfrm>
          <a:custGeom>
            <a:avLst/>
            <a:gdLst/>
            <a:ahLst/>
            <a:cxnLst/>
            <a:rect l="l" t="t" r="r" b="b"/>
            <a:pathLst>
              <a:path w="276225" h="276225">
                <a:moveTo>
                  <a:pt x="47295" y="0"/>
                </a:moveTo>
                <a:lnTo>
                  <a:pt x="228930" y="0"/>
                </a:lnTo>
                <a:quadBezTo>
                  <a:pt x="276225" y="0"/>
                  <a:pt x="276225" y="47295"/>
                </a:quadBezTo>
                <a:lnTo>
                  <a:pt x="276225" y="228930"/>
                </a:lnTo>
                <a:quadBezTo>
                  <a:pt x="276225" y="276225"/>
                  <a:pt x="228930" y="276225"/>
                </a:quadBezTo>
                <a:lnTo>
                  <a:pt x="47295" y="276225"/>
                </a:lnTo>
                <a:quadBezTo>
                  <a:pt x="0" y="276225"/>
                  <a:pt x="0" y="228930"/>
                </a:quadBezTo>
                <a:lnTo>
                  <a:pt x="0" y="47295"/>
                </a:lnTo>
                <a:quadBezTo>
                  <a:pt x="0" y="0"/>
                  <a:pt x="47295" y="0"/>
                </a:quadBezTo>
                <a:close/>
              </a:path>
            </a:pathLst>
          </a:custGeom>
          <a:solidFill>
            <a:srgbClr val="4AA3A2"/>
          </a:solidFill>
          <a:ln/>
        </p:spPr>
      </p:sp>
      <p:pic>
        <p:nvPicPr>
          <p:cNvPr id="28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08242" y="2071867"/>
            <a:ext cx="142875" cy="142875"/>
          </a:xfrm>
          <a:prstGeom prst="rect">
            <a:avLst/>
          </a:prstGeom>
        </p:spPr>
      </p:pic>
      <p:sp>
        <p:nvSpPr>
          <p:cNvPr id="29" name="Shape 22"/>
          <p:cNvSpPr/>
          <p:nvPr/>
        </p:nvSpPr>
        <p:spPr>
          <a:xfrm>
            <a:off x="5304591" y="1957567"/>
            <a:ext cx="2381250" cy="123825"/>
          </a:xfrm>
          <a:custGeom>
            <a:avLst/>
            <a:gdLst/>
            <a:ahLst/>
            <a:cxnLst/>
            <a:rect l="l" t="t" r="r" b="b"/>
            <a:pathLst>
              <a:path w="2381250" h="123825">
                <a:moveTo>
                  <a:pt x="0" y="0"/>
                </a:moveTo>
                <a:lnTo>
                  <a:pt x="2381250" y="0"/>
                </a:lnTo>
                <a:lnTo>
                  <a:pt x="2381250" y="123825"/>
                </a:lnTo>
                <a:lnTo>
                  <a:pt x="0" y="123825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30" name="Text 23"/>
          <p:cNvSpPr/>
          <p:nvPr/>
        </p:nvSpPr>
        <p:spPr>
          <a:xfrm>
            <a:off x="5304591" y="1957567"/>
            <a:ext cx="238125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7826"/>
              </a:lnSpc>
              <a:spcBef>
                <a:spcPts val="281"/>
              </a:spcBef>
              <a:buNone/>
            </a:pPr>
            <a:r>
              <a:rPr lang="en-US" sz="799" b="1" dirty="0">
                <a:solidFill>
                  <a:srgbClr val="2F6B8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SECTION 02</a:t>
            </a:r>
            <a:endParaRPr lang="en-US" sz="900" dirty="0"/>
          </a:p>
        </p:txBody>
      </p:sp>
      <p:sp>
        <p:nvSpPr>
          <p:cNvPr id="31" name="Shape 24"/>
          <p:cNvSpPr/>
          <p:nvPr/>
        </p:nvSpPr>
        <p:spPr>
          <a:xfrm>
            <a:off x="5304591" y="2120443"/>
            <a:ext cx="2381250" cy="209550"/>
          </a:xfrm>
          <a:custGeom>
            <a:avLst/>
            <a:gdLst/>
            <a:ahLst/>
            <a:cxnLst/>
            <a:rect l="l" t="t" r="r" b="b"/>
            <a:pathLst>
              <a:path w="2381250" h="209550">
                <a:moveTo>
                  <a:pt x="0" y="0"/>
                </a:moveTo>
                <a:lnTo>
                  <a:pt x="2381250" y="0"/>
                </a:lnTo>
                <a:lnTo>
                  <a:pt x="2381250" y="209550"/>
                </a:lnTo>
                <a:lnTo>
                  <a:pt x="0" y="209550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32" name="Text 25"/>
          <p:cNvSpPr/>
          <p:nvPr/>
        </p:nvSpPr>
        <p:spPr>
          <a:xfrm>
            <a:off x="5304591" y="2120443"/>
            <a:ext cx="23812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5652"/>
              </a:lnSpc>
              <a:spcBef>
                <a:spcPts val="281"/>
              </a:spcBef>
              <a:buNone/>
            </a:pPr>
            <a:r>
              <a:rPr lang="en-US" sz="1485" b="1" dirty="0">
                <a:solidFill>
                  <a:srgbClr val="0B1F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Normalize the structure</a:t>
            </a:r>
            <a:endParaRPr lang="en-US" sz="900" dirty="0"/>
          </a:p>
        </p:txBody>
      </p:sp>
      <p:pic>
        <p:nvPicPr>
          <p:cNvPr id="33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41567" y="2506205"/>
            <a:ext cx="133350" cy="133350"/>
          </a:xfrm>
          <a:prstGeom prst="rect">
            <a:avLst/>
          </a:prstGeom>
        </p:spPr>
      </p:pic>
      <p:sp>
        <p:nvSpPr>
          <p:cNvPr id="34" name="Shape 26"/>
          <p:cNvSpPr/>
          <p:nvPr/>
        </p:nvSpPr>
        <p:spPr>
          <a:xfrm>
            <a:off x="5160971" y="2492573"/>
            <a:ext cx="2952750" cy="180975"/>
          </a:xfrm>
          <a:custGeom>
            <a:avLst/>
            <a:gdLst/>
            <a:ahLst/>
            <a:cxnLst/>
            <a:rect l="l" t="t" r="r" b="b"/>
            <a:pathLst>
              <a:path w="2952750" h="180975">
                <a:moveTo>
                  <a:pt x="0" y="0"/>
                </a:moveTo>
                <a:lnTo>
                  <a:pt x="2952750" y="0"/>
                </a:lnTo>
                <a:lnTo>
                  <a:pt x="2952750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35" name="Text 27"/>
          <p:cNvSpPr/>
          <p:nvPr/>
        </p:nvSpPr>
        <p:spPr>
          <a:xfrm>
            <a:off x="5160971" y="2492573"/>
            <a:ext cx="295275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217"/>
              </a:lnSpc>
              <a:spcBef>
                <a:spcPts val="281"/>
              </a:spcBef>
              <a:buNone/>
            </a:pPr>
            <a:r>
              <a:rPr lang="en-US" sz="1001" dirty="0">
                <a:solidFill>
                  <a:srgbClr val="3341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Identify figures, labels, and reporting years.</a:t>
            </a:r>
            <a:endParaRPr lang="en-US" sz="900" dirty="0"/>
          </a:p>
        </p:txBody>
      </p:sp>
      <p:pic>
        <p:nvPicPr>
          <p:cNvPr id="36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41567" y="2831363"/>
            <a:ext cx="133350" cy="133350"/>
          </a:xfrm>
          <a:prstGeom prst="rect">
            <a:avLst/>
          </a:prstGeom>
        </p:spPr>
      </p:pic>
      <p:sp>
        <p:nvSpPr>
          <p:cNvPr id="37" name="Shape 28"/>
          <p:cNvSpPr/>
          <p:nvPr/>
        </p:nvSpPr>
        <p:spPr>
          <a:xfrm>
            <a:off x="5160167" y="2816005"/>
            <a:ext cx="3271838" cy="366712"/>
          </a:xfrm>
          <a:custGeom>
            <a:avLst/>
            <a:gdLst/>
            <a:ahLst/>
            <a:cxnLst/>
            <a:rect l="l" t="t" r="r" b="b"/>
            <a:pathLst>
              <a:path w="3271838" h="366712">
                <a:moveTo>
                  <a:pt x="0" y="0"/>
                </a:moveTo>
                <a:lnTo>
                  <a:pt x="3271838" y="0"/>
                </a:lnTo>
                <a:lnTo>
                  <a:pt x="3271838" y="366712"/>
                </a:lnTo>
                <a:lnTo>
                  <a:pt x="0" y="366712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38" name="Text 29"/>
          <p:cNvSpPr/>
          <p:nvPr/>
        </p:nvSpPr>
        <p:spPr>
          <a:xfrm>
            <a:off x="5160167" y="2816005"/>
            <a:ext cx="3271838" cy="366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217"/>
              </a:lnSpc>
              <a:spcBef>
                <a:spcPts val="281"/>
              </a:spcBef>
              <a:buNone/>
            </a:pPr>
            <a:r>
              <a:rPr lang="en-US" sz="1001" dirty="0">
                <a:solidFill>
                  <a:srgbClr val="3341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Map values into one consistent structured schema.</a:t>
            </a:r>
            <a:endParaRPr lang="en-US" sz="900" dirty="0"/>
          </a:p>
        </p:txBody>
      </p:sp>
      <p:sp>
        <p:nvSpPr>
          <p:cNvPr id="39" name="Shape 30"/>
          <p:cNvSpPr/>
          <p:nvPr/>
        </p:nvSpPr>
        <p:spPr>
          <a:xfrm>
            <a:off x="4941092" y="3507105"/>
            <a:ext cx="3490912" cy="323850"/>
          </a:xfrm>
          <a:custGeom>
            <a:avLst/>
            <a:gdLst/>
            <a:ahLst/>
            <a:cxnLst/>
            <a:rect l="l" t="t" r="r" b="b"/>
            <a:pathLst>
              <a:path w="3490912" h="323850">
                <a:moveTo>
                  <a:pt x="0" y="0"/>
                </a:moveTo>
                <a:lnTo>
                  <a:pt x="3490912" y="0"/>
                </a:lnTo>
                <a:lnTo>
                  <a:pt x="3490912" y="323850"/>
                </a:lnTo>
                <a:lnTo>
                  <a:pt x="0" y="323850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40" name="Text 31"/>
          <p:cNvSpPr/>
          <p:nvPr/>
        </p:nvSpPr>
        <p:spPr>
          <a:xfrm>
            <a:off x="4941092" y="3507105"/>
            <a:ext cx="3490912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7391"/>
              </a:lnSpc>
              <a:spcBef>
                <a:spcPts val="281"/>
              </a:spcBef>
              <a:buNone/>
            </a:pPr>
            <a:r>
              <a:rPr lang="en-US" sz="900" dirty="0">
                <a:solidFill>
                  <a:srgbClr val="5B6B7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Make comparable data ready for downstream analysis.</a:t>
            </a:r>
            <a:endParaRPr lang="en-US" sz="900" dirty="0"/>
          </a:p>
        </p:txBody>
      </p:sp>
      <p:sp>
        <p:nvSpPr>
          <p:cNvPr id="41" name="Shape 32"/>
          <p:cNvSpPr/>
          <p:nvPr/>
        </p:nvSpPr>
        <p:spPr>
          <a:xfrm>
            <a:off x="457200" y="4286250"/>
            <a:ext cx="8229600" cy="514350"/>
          </a:xfrm>
          <a:custGeom>
            <a:avLst/>
            <a:gdLst/>
            <a:ahLst/>
            <a:cxnLst/>
            <a:rect l="l" t="t" r="r" b="b"/>
            <a:pathLst>
              <a:path w="8229600" h="514350">
                <a:moveTo>
                  <a:pt x="135464" y="0"/>
                </a:moveTo>
                <a:lnTo>
                  <a:pt x="8094136" y="0"/>
                </a:lnTo>
                <a:quadBezTo>
                  <a:pt x="8229600" y="0"/>
                  <a:pt x="8229600" y="135464"/>
                </a:quadBezTo>
                <a:lnTo>
                  <a:pt x="8229600" y="378886"/>
                </a:lnTo>
                <a:quadBezTo>
                  <a:pt x="8229600" y="514350"/>
                  <a:pt x="8094136" y="514350"/>
                </a:quadBezTo>
                <a:lnTo>
                  <a:pt x="135464" y="514350"/>
                </a:lnTo>
                <a:quadBezTo>
                  <a:pt x="0" y="514350"/>
                  <a:pt x="0" y="378886"/>
                </a:quadBezTo>
                <a:lnTo>
                  <a:pt x="0" y="135464"/>
                </a:lnTo>
                <a:quadBezTo>
                  <a:pt x="0" y="0"/>
                  <a:pt x="135464" y="0"/>
                </a:quadBezTo>
                <a:close/>
              </a:path>
            </a:pathLst>
          </a:custGeom>
          <a:solidFill>
            <a:srgbClr val="0B1F3A"/>
          </a:solidFill>
          <a:ln/>
        </p:spPr>
      </p:sp>
      <p:sp>
        <p:nvSpPr>
          <p:cNvPr id="42" name="Shape 33"/>
          <p:cNvSpPr/>
          <p:nvPr/>
        </p:nvSpPr>
        <p:spPr>
          <a:xfrm>
            <a:off x="1476375" y="4462461"/>
            <a:ext cx="962025" cy="161925"/>
          </a:xfrm>
          <a:custGeom>
            <a:avLst/>
            <a:gdLst/>
            <a:ahLst/>
            <a:cxnLst/>
            <a:rect l="l" t="t" r="r" b="b"/>
            <a:pathLst>
              <a:path w="962025" h="161925">
                <a:moveTo>
                  <a:pt x="0" y="0"/>
                </a:moveTo>
                <a:lnTo>
                  <a:pt x="962025" y="0"/>
                </a:lnTo>
                <a:lnTo>
                  <a:pt x="962025" y="161925"/>
                </a:lnTo>
                <a:lnTo>
                  <a:pt x="0" y="161925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43" name="Text 34"/>
          <p:cNvSpPr/>
          <p:nvPr/>
        </p:nvSpPr>
        <p:spPr>
          <a:xfrm>
            <a:off x="1476375" y="4462461"/>
            <a:ext cx="96202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9565"/>
              </a:lnSpc>
              <a:spcBef>
                <a:spcPts val="281"/>
              </a:spcBef>
              <a:buNone/>
            </a:pPr>
            <a:r>
              <a:rPr lang="en-US" sz="1001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PDF evidence</a:t>
            </a:r>
            <a:endParaRPr lang="en-US" sz="900" dirty="0"/>
          </a:p>
        </p:txBody>
      </p:sp>
      <p:pic>
        <p:nvPicPr>
          <p:cNvPr id="44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572346" y="4462463"/>
            <a:ext cx="161925" cy="161925"/>
          </a:xfrm>
          <a:prstGeom prst="rect">
            <a:avLst/>
          </a:prstGeom>
        </p:spPr>
      </p:pic>
      <p:sp>
        <p:nvSpPr>
          <p:cNvPr id="45" name="Shape 35"/>
          <p:cNvSpPr/>
          <p:nvPr/>
        </p:nvSpPr>
        <p:spPr>
          <a:xfrm>
            <a:off x="2867323" y="4462461"/>
            <a:ext cx="1157288" cy="161925"/>
          </a:xfrm>
          <a:custGeom>
            <a:avLst/>
            <a:gdLst/>
            <a:ahLst/>
            <a:cxnLst/>
            <a:rect l="l" t="t" r="r" b="b"/>
            <a:pathLst>
              <a:path w="1157288" h="161925">
                <a:moveTo>
                  <a:pt x="0" y="0"/>
                </a:moveTo>
                <a:lnTo>
                  <a:pt x="1157288" y="0"/>
                </a:lnTo>
                <a:lnTo>
                  <a:pt x="1157288" y="161925"/>
                </a:lnTo>
                <a:lnTo>
                  <a:pt x="0" y="161925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46" name="Text 36"/>
          <p:cNvSpPr/>
          <p:nvPr/>
        </p:nvSpPr>
        <p:spPr>
          <a:xfrm>
            <a:off x="2867323" y="4462461"/>
            <a:ext cx="1157288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9565"/>
              </a:lnSpc>
              <a:spcBef>
                <a:spcPts val="281"/>
              </a:spcBef>
              <a:buNone/>
            </a:pPr>
            <a:r>
              <a:rPr lang="en-US" sz="1001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Extracted values</a:t>
            </a:r>
            <a:endParaRPr lang="en-US" sz="900" dirty="0"/>
          </a:p>
        </p:txBody>
      </p:sp>
      <p:pic>
        <p:nvPicPr>
          <p:cNvPr id="47" name="Image 7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157663" y="4462463"/>
            <a:ext cx="161925" cy="161925"/>
          </a:xfrm>
          <a:prstGeom prst="rect">
            <a:avLst/>
          </a:prstGeom>
        </p:spPr>
      </p:pic>
      <p:sp>
        <p:nvSpPr>
          <p:cNvPr id="48" name="Shape 37"/>
          <p:cNvSpPr/>
          <p:nvPr/>
        </p:nvSpPr>
        <p:spPr>
          <a:xfrm>
            <a:off x="4451806" y="4462461"/>
            <a:ext cx="1333500" cy="161925"/>
          </a:xfrm>
          <a:custGeom>
            <a:avLst/>
            <a:gdLst/>
            <a:ahLst/>
            <a:cxnLst/>
            <a:rect l="l" t="t" r="r" b="b"/>
            <a:pathLst>
              <a:path w="1333500" h="161925">
                <a:moveTo>
                  <a:pt x="0" y="0"/>
                </a:moveTo>
                <a:lnTo>
                  <a:pt x="1333500" y="0"/>
                </a:lnTo>
                <a:lnTo>
                  <a:pt x="1333500" y="161925"/>
                </a:lnTo>
                <a:lnTo>
                  <a:pt x="0" y="161925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49" name="Text 38"/>
          <p:cNvSpPr/>
          <p:nvPr/>
        </p:nvSpPr>
        <p:spPr>
          <a:xfrm>
            <a:off x="4451806" y="4462461"/>
            <a:ext cx="133350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9565"/>
              </a:lnSpc>
              <a:spcBef>
                <a:spcPts val="281"/>
              </a:spcBef>
              <a:buNone/>
            </a:pPr>
            <a:r>
              <a:rPr lang="en-US" sz="1001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Consistent schema</a:t>
            </a:r>
            <a:endParaRPr lang="en-US" sz="900" dirty="0"/>
          </a:p>
        </p:txBody>
      </p:sp>
      <p:sp>
        <p:nvSpPr>
          <p:cNvPr id="50" name="Shape 39"/>
          <p:cNvSpPr/>
          <p:nvPr/>
        </p:nvSpPr>
        <p:spPr>
          <a:xfrm>
            <a:off x="5965148" y="4448175"/>
            <a:ext cx="9525" cy="190500"/>
          </a:xfrm>
          <a:custGeom>
            <a:avLst/>
            <a:gdLst/>
            <a:ahLst/>
            <a:cxnLst/>
            <a:rect l="l" t="t" r="r" b="b"/>
            <a:pathLst>
              <a:path w="9525" h="190500">
                <a:moveTo>
                  <a:pt x="0" y="0"/>
                </a:moveTo>
                <a:lnTo>
                  <a:pt x="9525" y="0"/>
                </a:lnTo>
                <a:lnTo>
                  <a:pt x="9525" y="190500"/>
                </a:lnTo>
                <a:lnTo>
                  <a:pt x="0" y="190500"/>
                </a:lnTo>
                <a:close/>
              </a:path>
            </a:pathLst>
          </a:custGeom>
          <a:solidFill>
            <a:srgbClr val="2F6B8E"/>
          </a:solidFill>
          <a:ln/>
        </p:spPr>
      </p:sp>
      <p:sp>
        <p:nvSpPr>
          <p:cNvPr id="51" name="Shape 40"/>
          <p:cNvSpPr/>
          <p:nvPr/>
        </p:nvSpPr>
        <p:spPr>
          <a:xfrm>
            <a:off x="6154696" y="4474369"/>
            <a:ext cx="1514475" cy="138113"/>
          </a:xfrm>
          <a:custGeom>
            <a:avLst/>
            <a:gdLst/>
            <a:ahLst/>
            <a:cxnLst/>
            <a:rect l="l" t="t" r="r" b="b"/>
            <a:pathLst>
              <a:path w="1514475" h="138113">
                <a:moveTo>
                  <a:pt x="0" y="0"/>
                </a:moveTo>
                <a:lnTo>
                  <a:pt x="1514475" y="0"/>
                </a:lnTo>
                <a:lnTo>
                  <a:pt x="1514475" y="138113"/>
                </a:lnTo>
                <a:lnTo>
                  <a:pt x="0" y="138113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52" name="Text 41"/>
          <p:cNvSpPr/>
          <p:nvPr/>
        </p:nvSpPr>
        <p:spPr>
          <a:xfrm>
            <a:off x="6154696" y="4474369"/>
            <a:ext cx="1514475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4348"/>
              </a:lnSpc>
              <a:spcBef>
                <a:spcPts val="281"/>
              </a:spcBef>
              <a:buNone/>
            </a:pPr>
            <a:r>
              <a:rPr lang="en-US" sz="900" dirty="0">
                <a:solidFill>
                  <a:srgbClr val="D5E8E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Analysis-ready foundation</a:t>
            </a:r>
            <a:endParaRPr lang="en-US" sz="900" dirty="0"/>
          </a:p>
        </p:txBody>
      </p:sp>
      <p:pic>
        <p:nvPicPr>
          <p:cNvPr id="53" name="Image 8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04850" y="3514725"/>
            <a:ext cx="3505200" cy="323850"/>
          </a:xfrm>
          <a:prstGeom prst="rect">
            <a:avLst/>
          </a:prstGeom>
        </p:spPr>
      </p:pic>
      <p:pic>
        <p:nvPicPr>
          <p:cNvPr id="54" name="Image 9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941092" y="3507105"/>
            <a:ext cx="3490912" cy="32385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0" y="0"/>
                </a:moveTo>
                <a:lnTo>
                  <a:pt x="9144000" y="0"/>
                </a:lnTo>
                <a:lnTo>
                  <a:pt x="9144000" y="5143500"/>
                </a:lnTo>
                <a:lnTo>
                  <a:pt x="0" y="514350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4" name="Shape 1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0" y="0"/>
                </a:moveTo>
                <a:lnTo>
                  <a:pt x="9144000" y="0"/>
                </a:lnTo>
                <a:lnTo>
                  <a:pt x="9144000" y="5143500"/>
                </a:lnTo>
                <a:lnTo>
                  <a:pt x="0" y="514350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5" name="Shape 2"/>
          <p:cNvSpPr/>
          <p:nvPr/>
        </p:nvSpPr>
        <p:spPr>
          <a:xfrm>
            <a:off x="457200" y="370999"/>
            <a:ext cx="8229600" cy="138113"/>
          </a:xfrm>
          <a:custGeom>
            <a:avLst/>
            <a:gdLst/>
            <a:ahLst/>
            <a:cxnLst/>
            <a:rect l="l" t="t" r="r" b="b"/>
            <a:pathLst>
              <a:path w="8229600" h="138113">
                <a:moveTo>
                  <a:pt x="0" y="0"/>
                </a:moveTo>
                <a:lnTo>
                  <a:pt x="8229600" y="0"/>
                </a:lnTo>
                <a:lnTo>
                  <a:pt x="8229600" y="138113"/>
                </a:lnTo>
                <a:lnTo>
                  <a:pt x="0" y="138113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6" name="Text 3"/>
          <p:cNvSpPr/>
          <p:nvPr/>
        </p:nvSpPr>
        <p:spPr>
          <a:xfrm>
            <a:off x="457200" y="370999"/>
            <a:ext cx="8229600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4348"/>
              </a:lnSpc>
              <a:spcBef>
                <a:spcPts val="281"/>
              </a:spcBef>
              <a:buNone/>
            </a:pPr>
            <a:r>
              <a:rPr lang="en-US" sz="900" b="1" dirty="0">
                <a:solidFill>
                  <a:srgbClr val="2F6B8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VALIDATION &amp; FINANCIAL CALCULATION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457200" y="575577"/>
            <a:ext cx="8229600" cy="328613"/>
          </a:xfrm>
          <a:custGeom>
            <a:avLst/>
            <a:gdLst/>
            <a:ahLst/>
            <a:cxnLst/>
            <a:rect l="l" t="t" r="r" b="b"/>
            <a:pathLst>
              <a:path w="8229600" h="328613">
                <a:moveTo>
                  <a:pt x="0" y="0"/>
                </a:moveTo>
                <a:lnTo>
                  <a:pt x="8229600" y="0"/>
                </a:lnTo>
                <a:lnTo>
                  <a:pt x="8229600" y="328613"/>
                </a:lnTo>
                <a:lnTo>
                  <a:pt x="0" y="328613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8" name="Text 5"/>
          <p:cNvSpPr/>
          <p:nvPr/>
        </p:nvSpPr>
        <p:spPr>
          <a:xfrm>
            <a:off x="457200" y="575577"/>
            <a:ext cx="8229600" cy="3286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3913"/>
              </a:lnSpc>
              <a:spcBef>
                <a:spcPts val="281"/>
              </a:spcBef>
              <a:buNone/>
            </a:pPr>
            <a:r>
              <a:rPr lang="en-US" sz="2402" b="1" dirty="0">
                <a:solidFill>
                  <a:srgbClr val="0B1F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Trust the inputs before trusting the ratio.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457200" y="990183"/>
            <a:ext cx="5619750" cy="385763"/>
          </a:xfrm>
          <a:custGeom>
            <a:avLst/>
            <a:gdLst/>
            <a:ahLst/>
            <a:cxnLst/>
            <a:rect l="l" t="t" r="r" b="b"/>
            <a:pathLst>
              <a:path w="5619750" h="385763">
                <a:moveTo>
                  <a:pt x="0" y="0"/>
                </a:moveTo>
                <a:lnTo>
                  <a:pt x="5619750" y="0"/>
                </a:lnTo>
                <a:lnTo>
                  <a:pt x="5619750" y="385763"/>
                </a:lnTo>
                <a:lnTo>
                  <a:pt x="0" y="385763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10" name="Text 7"/>
          <p:cNvSpPr/>
          <p:nvPr/>
        </p:nvSpPr>
        <p:spPr>
          <a:xfrm>
            <a:off x="457200" y="990183"/>
            <a:ext cx="5619750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spcBef>
                <a:spcPts val="281"/>
              </a:spcBef>
              <a:buNone/>
            </a:pPr>
            <a:r>
              <a:rPr lang="en-US" sz="1103" dirty="0">
                <a:solidFill>
                  <a:srgbClr val="5B6B7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disciplined pipeline separates information checks from programmatic financial computation.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457200" y="1947655"/>
            <a:ext cx="4000500" cy="2852738"/>
          </a:xfrm>
          <a:custGeom>
            <a:avLst/>
            <a:gdLst/>
            <a:ahLst/>
            <a:cxnLst/>
            <a:rect l="l" t="t" r="r" b="b"/>
            <a:pathLst>
              <a:path w="4000500" h="2852738">
                <a:moveTo>
                  <a:pt x="36629" y="0"/>
                </a:moveTo>
                <a:lnTo>
                  <a:pt x="3963871" y="0"/>
                </a:lnTo>
                <a:quadBezTo>
                  <a:pt x="4000500" y="0"/>
                  <a:pt x="4000500" y="36629"/>
                </a:quadBezTo>
                <a:lnTo>
                  <a:pt x="4000500" y="2816108"/>
                </a:lnTo>
                <a:quadBezTo>
                  <a:pt x="4000500" y="2852738"/>
                  <a:pt x="3963871" y="2852738"/>
                </a:quadBezTo>
                <a:lnTo>
                  <a:pt x="36629" y="2852738"/>
                </a:lnTo>
                <a:quadBezTo>
                  <a:pt x="0" y="2852738"/>
                  <a:pt x="0" y="2816108"/>
                </a:quadBezTo>
                <a:lnTo>
                  <a:pt x="0" y="36629"/>
                </a:lnTo>
                <a:quadBezTo>
                  <a:pt x="0" y="0"/>
                  <a:pt x="36629" y="0"/>
                </a:quadBezTo>
                <a:close/>
              </a:path>
            </a:pathLst>
          </a:custGeom>
          <a:solidFill>
            <a:srgbClr val="F6F9FC"/>
          </a:solidFill>
          <a:ln/>
        </p:spPr>
      </p:sp>
      <p:sp>
        <p:nvSpPr>
          <p:cNvPr id="12" name="Shape 9"/>
          <p:cNvSpPr/>
          <p:nvPr/>
        </p:nvSpPr>
        <p:spPr>
          <a:xfrm>
            <a:off x="704850" y="2176046"/>
            <a:ext cx="323850" cy="323850"/>
          </a:xfrm>
          <a:custGeom>
            <a:avLst/>
            <a:gdLst/>
            <a:ahLst/>
            <a:cxnLst/>
            <a:rect l="l" t="t" r="r" b="b"/>
            <a:pathLst>
              <a:path w="323850" h="323850">
                <a:moveTo>
                  <a:pt x="60511" y="0"/>
                </a:moveTo>
                <a:lnTo>
                  <a:pt x="263339" y="0"/>
                </a:lnTo>
                <a:quadBezTo>
                  <a:pt x="323850" y="0"/>
                  <a:pt x="323850" y="60511"/>
                </a:quadBezTo>
                <a:lnTo>
                  <a:pt x="323850" y="263339"/>
                </a:lnTo>
                <a:quadBezTo>
                  <a:pt x="323850" y="323850"/>
                  <a:pt x="263339" y="323850"/>
                </a:quadBezTo>
                <a:lnTo>
                  <a:pt x="60511" y="323850"/>
                </a:lnTo>
                <a:quadBezTo>
                  <a:pt x="0" y="323850"/>
                  <a:pt x="0" y="263339"/>
                </a:quadBezTo>
                <a:lnTo>
                  <a:pt x="0" y="60511"/>
                </a:lnTo>
                <a:quadBezTo>
                  <a:pt x="0" y="0"/>
                  <a:pt x="60511" y="0"/>
                </a:quadBezTo>
                <a:close/>
              </a:path>
            </a:pathLst>
          </a:custGeom>
          <a:solidFill>
            <a:srgbClr val="EAF3F7"/>
          </a:solidFill>
          <a:ln/>
        </p:spPr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5813" y="2257008"/>
            <a:ext cx="161925" cy="161925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1124664" y="2233196"/>
            <a:ext cx="1200150" cy="209550"/>
          </a:xfrm>
          <a:custGeom>
            <a:avLst/>
            <a:gdLst/>
            <a:ahLst/>
            <a:cxnLst/>
            <a:rect l="l" t="t" r="r" b="b"/>
            <a:pathLst>
              <a:path w="1200150" h="209550">
                <a:moveTo>
                  <a:pt x="0" y="0"/>
                </a:moveTo>
                <a:lnTo>
                  <a:pt x="1200150" y="0"/>
                </a:lnTo>
                <a:lnTo>
                  <a:pt x="1200150" y="209550"/>
                </a:lnTo>
                <a:lnTo>
                  <a:pt x="0" y="209550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15" name="Text 11"/>
          <p:cNvSpPr/>
          <p:nvPr/>
        </p:nvSpPr>
        <p:spPr>
          <a:xfrm>
            <a:off x="1124664" y="2233196"/>
            <a:ext cx="12001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1739"/>
              </a:lnSpc>
              <a:spcBef>
                <a:spcPts val="281"/>
              </a:spcBef>
              <a:buNone/>
            </a:pPr>
            <a:r>
              <a:rPr lang="en-US" sz="1401" b="1" dirty="0">
                <a:solidFill>
                  <a:srgbClr val="0B1F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Validate first</a:t>
            </a:r>
            <a:endParaRPr lang="en-US" sz="900" dirty="0"/>
          </a:p>
        </p:txBody>
      </p:sp>
      <p:sp>
        <p:nvSpPr>
          <p:cNvPr id="16" name="Shape 12"/>
          <p:cNvSpPr/>
          <p:nvPr/>
        </p:nvSpPr>
        <p:spPr>
          <a:xfrm>
            <a:off x="704850" y="2690395"/>
            <a:ext cx="3286125" cy="600075"/>
          </a:xfrm>
          <a:custGeom>
            <a:avLst/>
            <a:gdLst/>
            <a:ahLst/>
            <a:cxnLst/>
            <a:rect l="l" t="t" r="r" b="b"/>
            <a:pathLst>
              <a:path w="3286125" h="600075">
                <a:moveTo>
                  <a:pt x="0" y="0"/>
                </a:moveTo>
                <a:lnTo>
                  <a:pt x="3286125" y="0"/>
                </a:lnTo>
                <a:lnTo>
                  <a:pt x="3286125" y="600075"/>
                </a:lnTo>
                <a:lnTo>
                  <a:pt x="0" y="600075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17" name="Text 13"/>
          <p:cNvSpPr/>
          <p:nvPr/>
        </p:nvSpPr>
        <p:spPr>
          <a:xfrm>
            <a:off x="704850" y="2690395"/>
            <a:ext cx="3286125" cy="600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4348"/>
              </a:lnSpc>
              <a:spcBef>
                <a:spcPts val="281"/>
              </a:spcBef>
              <a:buNone/>
            </a:pPr>
            <a:r>
              <a:rPr lang="en-US" sz="1103" dirty="0">
                <a:solidFill>
                  <a:srgbClr val="3341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Before any calculation, the source information is checked for completeness and coherence.</a:t>
            </a:r>
            <a:endParaRPr lang="en-US" sz="900" dirty="0"/>
          </a:p>
        </p:txBody>
      </p:sp>
      <p:sp>
        <p:nvSpPr>
          <p:cNvPr id="18" name="Shape 14"/>
          <p:cNvSpPr/>
          <p:nvPr/>
        </p:nvSpPr>
        <p:spPr>
          <a:xfrm>
            <a:off x="704850" y="3424892"/>
            <a:ext cx="3505200" cy="171450"/>
          </a:xfrm>
          <a:custGeom>
            <a:avLst/>
            <a:gdLst/>
            <a:ahLst/>
            <a:cxnLst/>
            <a:rect l="l" t="t" r="r" b="b"/>
            <a:pathLst>
              <a:path w="3505200" h="171450">
                <a:moveTo>
                  <a:pt x="0" y="0"/>
                </a:moveTo>
                <a:lnTo>
                  <a:pt x="3505200" y="0"/>
                </a:lnTo>
                <a:lnTo>
                  <a:pt x="3505200" y="171450"/>
                </a:lnTo>
                <a:lnTo>
                  <a:pt x="0" y="171450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19" name="Text 15"/>
          <p:cNvSpPr/>
          <p:nvPr/>
        </p:nvSpPr>
        <p:spPr>
          <a:xfrm>
            <a:off x="704850" y="3424892"/>
            <a:ext cx="35052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86957"/>
              </a:lnSpc>
              <a:spcBef>
                <a:spcPts val="281"/>
              </a:spcBef>
              <a:buNone/>
            </a:pPr>
            <a:r>
              <a:rPr lang="en-US" sz="1103" b="1" dirty="0">
                <a:solidFill>
                  <a:srgbClr val="4AA3A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•</a:t>
            </a:r>
            <a:r>
              <a:rPr lang="en-US" sz="602" dirty="0">
                <a:solidFill>
                  <a:srgbClr val="0B1F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001" dirty="0">
                <a:solidFill>
                  <a:srgbClr val="3341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Missing fields, units, and labels</a:t>
            </a:r>
            <a:endParaRPr lang="en-US" sz="900" dirty="0"/>
          </a:p>
        </p:txBody>
      </p:sp>
      <p:sp>
        <p:nvSpPr>
          <p:cNvPr id="20" name="Shape 16"/>
          <p:cNvSpPr/>
          <p:nvPr/>
        </p:nvSpPr>
        <p:spPr>
          <a:xfrm>
            <a:off x="704850" y="3693737"/>
            <a:ext cx="3505200" cy="171450"/>
          </a:xfrm>
          <a:custGeom>
            <a:avLst/>
            <a:gdLst/>
            <a:ahLst/>
            <a:cxnLst/>
            <a:rect l="l" t="t" r="r" b="b"/>
            <a:pathLst>
              <a:path w="3505200" h="171450">
                <a:moveTo>
                  <a:pt x="0" y="0"/>
                </a:moveTo>
                <a:lnTo>
                  <a:pt x="3505200" y="0"/>
                </a:lnTo>
                <a:lnTo>
                  <a:pt x="3505200" y="171450"/>
                </a:lnTo>
                <a:lnTo>
                  <a:pt x="0" y="171450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21" name="Text 17"/>
          <p:cNvSpPr/>
          <p:nvPr/>
        </p:nvSpPr>
        <p:spPr>
          <a:xfrm>
            <a:off x="704850" y="3693737"/>
            <a:ext cx="35052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86957"/>
              </a:lnSpc>
              <a:spcBef>
                <a:spcPts val="281"/>
              </a:spcBef>
              <a:buNone/>
            </a:pPr>
            <a:r>
              <a:rPr lang="en-US" sz="1103" b="1" dirty="0">
                <a:solidFill>
                  <a:srgbClr val="4AA3A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•</a:t>
            </a:r>
            <a:r>
              <a:rPr lang="en-US" sz="602" dirty="0">
                <a:solidFill>
                  <a:srgbClr val="0B1F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001" dirty="0">
                <a:solidFill>
                  <a:srgbClr val="3341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Consistency across financial entries</a:t>
            </a:r>
            <a:endParaRPr lang="en-US" sz="900" dirty="0"/>
          </a:p>
        </p:txBody>
      </p:sp>
      <p:sp>
        <p:nvSpPr>
          <p:cNvPr id="22" name="Shape 18"/>
          <p:cNvSpPr/>
          <p:nvPr/>
        </p:nvSpPr>
        <p:spPr>
          <a:xfrm>
            <a:off x="704850" y="4248150"/>
            <a:ext cx="3505200" cy="323850"/>
          </a:xfrm>
          <a:custGeom>
            <a:avLst/>
            <a:gdLst/>
            <a:ahLst/>
            <a:cxnLst/>
            <a:rect l="l" t="t" r="r" b="b"/>
            <a:pathLst>
              <a:path w="3505200" h="323850">
                <a:moveTo>
                  <a:pt x="0" y="0"/>
                </a:moveTo>
                <a:lnTo>
                  <a:pt x="3505200" y="0"/>
                </a:lnTo>
                <a:lnTo>
                  <a:pt x="3505200" y="323850"/>
                </a:lnTo>
                <a:lnTo>
                  <a:pt x="0" y="323850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23" name="Text 19"/>
          <p:cNvSpPr/>
          <p:nvPr/>
        </p:nvSpPr>
        <p:spPr>
          <a:xfrm>
            <a:off x="704850" y="4248150"/>
            <a:ext cx="35052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7391"/>
              </a:lnSpc>
              <a:spcBef>
                <a:spcPts val="281"/>
              </a:spcBef>
              <a:buNone/>
            </a:pPr>
            <a:r>
              <a:rPr lang="en-US" sz="900" b="1" dirty="0">
                <a:solidFill>
                  <a:srgbClr val="2F6B8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Clean data creates a defensible calculation.</a:t>
            </a:r>
            <a:endParaRPr lang="en-US" sz="900" dirty="0"/>
          </a:p>
        </p:txBody>
      </p:sp>
      <p:sp>
        <p:nvSpPr>
          <p:cNvPr id="24" name="Shape 20"/>
          <p:cNvSpPr/>
          <p:nvPr/>
        </p:nvSpPr>
        <p:spPr>
          <a:xfrm>
            <a:off x="4686300" y="1947655"/>
            <a:ext cx="4000500" cy="2852738"/>
          </a:xfrm>
          <a:custGeom>
            <a:avLst/>
            <a:gdLst/>
            <a:ahLst/>
            <a:cxnLst/>
            <a:rect l="l" t="t" r="r" b="b"/>
            <a:pathLst>
              <a:path w="4000500" h="2852738">
                <a:moveTo>
                  <a:pt x="36629" y="0"/>
                </a:moveTo>
                <a:lnTo>
                  <a:pt x="3963871" y="0"/>
                </a:lnTo>
                <a:quadBezTo>
                  <a:pt x="4000500" y="0"/>
                  <a:pt x="4000500" y="36629"/>
                </a:quadBezTo>
                <a:lnTo>
                  <a:pt x="4000500" y="2816108"/>
                </a:lnTo>
                <a:quadBezTo>
                  <a:pt x="4000500" y="2852738"/>
                  <a:pt x="3963871" y="2852738"/>
                </a:quadBezTo>
                <a:lnTo>
                  <a:pt x="36629" y="2852738"/>
                </a:lnTo>
                <a:quadBezTo>
                  <a:pt x="0" y="2852738"/>
                  <a:pt x="0" y="2816108"/>
                </a:quadBezTo>
                <a:lnTo>
                  <a:pt x="0" y="36629"/>
                </a:lnTo>
                <a:quadBezTo>
                  <a:pt x="0" y="0"/>
                  <a:pt x="36629" y="0"/>
                </a:quadBezTo>
                <a:close/>
              </a:path>
            </a:pathLst>
          </a:custGeom>
          <a:solidFill>
            <a:srgbClr val="0B1F3A"/>
          </a:solidFill>
          <a:ln/>
        </p:spPr>
      </p:sp>
      <p:sp>
        <p:nvSpPr>
          <p:cNvPr id="25" name="Shape 21"/>
          <p:cNvSpPr/>
          <p:nvPr/>
        </p:nvSpPr>
        <p:spPr>
          <a:xfrm>
            <a:off x="4933950" y="2176046"/>
            <a:ext cx="323850" cy="323850"/>
          </a:xfrm>
          <a:custGeom>
            <a:avLst/>
            <a:gdLst/>
            <a:ahLst/>
            <a:cxnLst/>
            <a:rect l="l" t="t" r="r" b="b"/>
            <a:pathLst>
              <a:path w="323850" h="323850">
                <a:moveTo>
                  <a:pt x="60511" y="0"/>
                </a:moveTo>
                <a:lnTo>
                  <a:pt x="263339" y="0"/>
                </a:lnTo>
                <a:quadBezTo>
                  <a:pt x="323850" y="0"/>
                  <a:pt x="323850" y="60511"/>
                </a:quadBezTo>
                <a:lnTo>
                  <a:pt x="323850" y="263339"/>
                </a:lnTo>
                <a:quadBezTo>
                  <a:pt x="323850" y="323850"/>
                  <a:pt x="263339" y="323850"/>
                </a:quadBezTo>
                <a:lnTo>
                  <a:pt x="60511" y="323850"/>
                </a:lnTo>
                <a:quadBezTo>
                  <a:pt x="0" y="323850"/>
                  <a:pt x="0" y="263339"/>
                </a:quadBezTo>
                <a:lnTo>
                  <a:pt x="0" y="60511"/>
                </a:lnTo>
                <a:quadBezTo>
                  <a:pt x="0" y="0"/>
                  <a:pt x="60511" y="0"/>
                </a:quadBezTo>
                <a:close/>
              </a:path>
            </a:pathLst>
          </a:custGeom>
          <a:solidFill>
            <a:srgbClr val="2F6B8E"/>
          </a:solidFill>
          <a:ln/>
        </p:spPr>
      </p:sp>
      <p:pic>
        <p:nvPicPr>
          <p:cNvPr id="2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4913" y="2257008"/>
            <a:ext cx="161925" cy="161925"/>
          </a:xfrm>
          <a:prstGeom prst="rect">
            <a:avLst/>
          </a:prstGeom>
        </p:spPr>
      </p:pic>
      <p:sp>
        <p:nvSpPr>
          <p:cNvPr id="27" name="Shape 22"/>
          <p:cNvSpPr/>
          <p:nvPr/>
        </p:nvSpPr>
        <p:spPr>
          <a:xfrm>
            <a:off x="5352663" y="2233196"/>
            <a:ext cx="1776413" cy="209550"/>
          </a:xfrm>
          <a:custGeom>
            <a:avLst/>
            <a:gdLst/>
            <a:ahLst/>
            <a:cxnLst/>
            <a:rect l="l" t="t" r="r" b="b"/>
            <a:pathLst>
              <a:path w="1776413" h="209550">
                <a:moveTo>
                  <a:pt x="0" y="0"/>
                </a:moveTo>
                <a:lnTo>
                  <a:pt x="1776413" y="0"/>
                </a:lnTo>
                <a:lnTo>
                  <a:pt x="1776413" y="209550"/>
                </a:lnTo>
                <a:lnTo>
                  <a:pt x="0" y="209550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28" name="Text 23"/>
          <p:cNvSpPr/>
          <p:nvPr/>
        </p:nvSpPr>
        <p:spPr>
          <a:xfrm>
            <a:off x="5352663" y="2233196"/>
            <a:ext cx="1776413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1739"/>
              </a:lnSpc>
              <a:spcBef>
                <a:spcPts val="281"/>
              </a:spcBef>
              <a:buNone/>
            </a:pPr>
            <a:r>
              <a:rPr lang="en-US" sz="1401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Compute precisely</a:t>
            </a:r>
            <a:endParaRPr lang="en-US" sz="900" dirty="0"/>
          </a:p>
        </p:txBody>
      </p:sp>
      <p:sp>
        <p:nvSpPr>
          <p:cNvPr id="29" name="Shape 24"/>
          <p:cNvSpPr/>
          <p:nvPr/>
        </p:nvSpPr>
        <p:spPr>
          <a:xfrm>
            <a:off x="4933950" y="2690395"/>
            <a:ext cx="3286125" cy="600075"/>
          </a:xfrm>
          <a:custGeom>
            <a:avLst/>
            <a:gdLst/>
            <a:ahLst/>
            <a:cxnLst/>
            <a:rect l="l" t="t" r="r" b="b"/>
            <a:pathLst>
              <a:path w="3286125" h="600075">
                <a:moveTo>
                  <a:pt x="0" y="0"/>
                </a:moveTo>
                <a:lnTo>
                  <a:pt x="3286125" y="0"/>
                </a:lnTo>
                <a:lnTo>
                  <a:pt x="3286125" y="600075"/>
                </a:lnTo>
                <a:lnTo>
                  <a:pt x="0" y="600075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30" name="Text 25"/>
          <p:cNvSpPr/>
          <p:nvPr/>
        </p:nvSpPr>
        <p:spPr>
          <a:xfrm>
            <a:off x="4933950" y="2690395"/>
            <a:ext cx="3286125" cy="600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4348"/>
              </a:lnSpc>
              <a:spcBef>
                <a:spcPts val="281"/>
              </a:spcBef>
              <a:buNone/>
            </a:pPr>
            <a:r>
              <a:rPr lang="en-US" sz="1103" dirty="0">
                <a:solidFill>
                  <a:srgbClr val="DCEAF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Once validated, ratios are calculated by the application—not generated by the language model.</a:t>
            </a:r>
            <a:endParaRPr lang="en-US" sz="900" dirty="0"/>
          </a:p>
        </p:txBody>
      </p:sp>
      <p:sp>
        <p:nvSpPr>
          <p:cNvPr id="31" name="Shape 26"/>
          <p:cNvSpPr/>
          <p:nvPr/>
        </p:nvSpPr>
        <p:spPr>
          <a:xfrm>
            <a:off x="4933950" y="3490971"/>
            <a:ext cx="3505200" cy="995362"/>
          </a:xfrm>
          <a:custGeom>
            <a:avLst/>
            <a:gdLst/>
            <a:ahLst/>
            <a:cxnLst/>
            <a:rect l="l" t="t" r="r" b="b"/>
            <a:pathLst>
              <a:path w="3505200" h="995362">
                <a:moveTo>
                  <a:pt x="78753" y="0"/>
                </a:moveTo>
                <a:lnTo>
                  <a:pt x="3426447" y="0"/>
                </a:lnTo>
                <a:quadBezTo>
                  <a:pt x="3505200" y="0"/>
                  <a:pt x="3505200" y="78753"/>
                </a:quadBezTo>
                <a:lnTo>
                  <a:pt x="3505200" y="916609"/>
                </a:lnTo>
                <a:quadBezTo>
                  <a:pt x="3505200" y="995362"/>
                  <a:pt x="3426447" y="995362"/>
                </a:quadBezTo>
                <a:lnTo>
                  <a:pt x="78753" y="995362"/>
                </a:lnTo>
                <a:quadBezTo>
                  <a:pt x="0" y="995362"/>
                  <a:pt x="0" y="916609"/>
                </a:quadBezTo>
                <a:lnTo>
                  <a:pt x="0" y="78753"/>
                </a:lnTo>
                <a:quadBezTo>
                  <a:pt x="0" y="0"/>
                  <a:pt x="78753" y="0"/>
                </a:quad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32" name="Shape 27"/>
          <p:cNvSpPr/>
          <p:nvPr/>
        </p:nvSpPr>
        <p:spPr>
          <a:xfrm>
            <a:off x="5105400" y="3643848"/>
            <a:ext cx="3162300" cy="123825"/>
          </a:xfrm>
          <a:custGeom>
            <a:avLst/>
            <a:gdLst/>
            <a:ahLst/>
            <a:cxnLst/>
            <a:rect l="l" t="t" r="r" b="b"/>
            <a:pathLst>
              <a:path w="3162300" h="123825">
                <a:moveTo>
                  <a:pt x="0" y="0"/>
                </a:moveTo>
                <a:lnTo>
                  <a:pt x="3162300" y="0"/>
                </a:lnTo>
                <a:lnTo>
                  <a:pt x="3162300" y="123825"/>
                </a:lnTo>
                <a:lnTo>
                  <a:pt x="0" y="123825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33" name="Text 28"/>
          <p:cNvSpPr/>
          <p:nvPr/>
        </p:nvSpPr>
        <p:spPr>
          <a:xfrm>
            <a:off x="5105400" y="3643848"/>
            <a:ext cx="316230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7826"/>
              </a:lnSpc>
              <a:spcBef>
                <a:spcPts val="281"/>
              </a:spcBef>
              <a:buNone/>
            </a:pPr>
            <a:r>
              <a:rPr lang="en-US" sz="799" b="1" dirty="0">
                <a:solidFill>
                  <a:srgbClr val="5B6B7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CURRENT RATIO</a:t>
            </a:r>
            <a:endParaRPr lang="en-US" sz="900" dirty="0"/>
          </a:p>
        </p:txBody>
      </p:sp>
      <p:sp>
        <p:nvSpPr>
          <p:cNvPr id="34" name="Shape 29"/>
          <p:cNvSpPr/>
          <p:nvPr/>
        </p:nvSpPr>
        <p:spPr>
          <a:xfrm>
            <a:off x="5105400" y="3853875"/>
            <a:ext cx="3162300" cy="481012"/>
          </a:xfrm>
          <a:custGeom>
            <a:avLst/>
            <a:gdLst/>
            <a:ahLst/>
            <a:cxnLst/>
            <a:rect l="l" t="t" r="r" b="b"/>
            <a:pathLst>
              <a:path w="3162300" h="481012">
                <a:moveTo>
                  <a:pt x="0" y="0"/>
                </a:moveTo>
                <a:lnTo>
                  <a:pt x="3162300" y="0"/>
                </a:lnTo>
                <a:lnTo>
                  <a:pt x="3162300" y="481012"/>
                </a:lnTo>
                <a:lnTo>
                  <a:pt x="0" y="481012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35" name="Text 30"/>
          <p:cNvSpPr/>
          <p:nvPr/>
        </p:nvSpPr>
        <p:spPr>
          <a:xfrm>
            <a:off x="5105400" y="3853875"/>
            <a:ext cx="3162300" cy="4810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86957"/>
              </a:lnSpc>
              <a:spcBef>
                <a:spcPts val="281"/>
              </a:spcBef>
              <a:buNone/>
            </a:pPr>
            <a:r>
              <a:rPr lang="en-US" sz="1502" b="1" dirty="0">
                <a:solidFill>
                  <a:srgbClr val="0B1F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Current Assets </a:t>
            </a:r>
            <a:r>
              <a:rPr lang="en-US" sz="1502" b="1" dirty="0">
                <a:solidFill>
                  <a:srgbClr val="4AA3A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÷</a:t>
            </a:r>
            <a:r>
              <a:rPr lang="en-US" sz="1502" b="1" dirty="0">
                <a:solidFill>
                  <a:srgbClr val="0B1F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Current Liabilities</a:t>
            </a:r>
            <a:endParaRPr lang="en-US" sz="900" dirty="0"/>
          </a:p>
        </p:txBody>
      </p:sp>
      <p:sp>
        <p:nvSpPr>
          <p:cNvPr id="36" name="Shape 31"/>
          <p:cNvSpPr/>
          <p:nvPr/>
        </p:nvSpPr>
        <p:spPr>
          <a:xfrm>
            <a:off x="4933950" y="4486811"/>
            <a:ext cx="3505200" cy="323850"/>
          </a:xfrm>
          <a:custGeom>
            <a:avLst/>
            <a:gdLst/>
            <a:ahLst/>
            <a:cxnLst/>
            <a:rect l="l" t="t" r="r" b="b"/>
            <a:pathLst>
              <a:path w="3505200" h="323850">
                <a:moveTo>
                  <a:pt x="0" y="0"/>
                </a:moveTo>
                <a:lnTo>
                  <a:pt x="3505200" y="0"/>
                </a:lnTo>
                <a:lnTo>
                  <a:pt x="3505200" y="323850"/>
                </a:lnTo>
                <a:lnTo>
                  <a:pt x="0" y="323850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37" name="Text 32"/>
          <p:cNvSpPr/>
          <p:nvPr/>
        </p:nvSpPr>
        <p:spPr>
          <a:xfrm>
            <a:off x="4933950" y="4486811"/>
            <a:ext cx="35052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7391"/>
              </a:lnSpc>
              <a:spcBef>
                <a:spcPts val="281"/>
              </a:spcBef>
              <a:buNone/>
            </a:pPr>
            <a:r>
              <a:rPr lang="en-US" sz="900" b="1" dirty="0">
                <a:solidFill>
                  <a:srgbClr val="A9D9D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Formula-driven output keeps the result traceable.</a:t>
            </a:r>
            <a:endParaRPr lang="en-US" sz="900" dirty="0"/>
          </a:p>
        </p:txBody>
      </p:sp>
      <p:pic>
        <p:nvPicPr>
          <p:cNvPr id="3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4850" y="4248150"/>
            <a:ext cx="3505200" cy="323850"/>
          </a:xfrm>
          <a:prstGeom prst="rect">
            <a:avLst/>
          </a:prstGeom>
        </p:spPr>
      </p:pic>
      <p:pic>
        <p:nvPicPr>
          <p:cNvPr id="3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33950" y="4486811"/>
            <a:ext cx="3505200" cy="32385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0" y="0"/>
                </a:moveTo>
                <a:lnTo>
                  <a:pt x="9144000" y="0"/>
                </a:lnTo>
                <a:lnTo>
                  <a:pt x="9144000" y="5143500"/>
                </a:lnTo>
                <a:lnTo>
                  <a:pt x="0" y="514350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4" name="Shape 1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0" y="0"/>
                </a:moveTo>
                <a:lnTo>
                  <a:pt x="9144000" y="0"/>
                </a:lnTo>
                <a:lnTo>
                  <a:pt x="9144000" y="5143500"/>
                </a:lnTo>
                <a:lnTo>
                  <a:pt x="0" y="514350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5" name="Shape 2"/>
          <p:cNvSpPr/>
          <p:nvPr/>
        </p:nvSpPr>
        <p:spPr>
          <a:xfrm>
            <a:off x="458241" y="370999"/>
            <a:ext cx="2395538" cy="138113"/>
          </a:xfrm>
          <a:custGeom>
            <a:avLst/>
            <a:gdLst/>
            <a:ahLst/>
            <a:cxnLst/>
            <a:rect l="l" t="t" r="r" b="b"/>
            <a:pathLst>
              <a:path w="2395538" h="138113">
                <a:moveTo>
                  <a:pt x="0" y="0"/>
                </a:moveTo>
                <a:lnTo>
                  <a:pt x="2395538" y="0"/>
                </a:lnTo>
                <a:lnTo>
                  <a:pt x="2395538" y="138113"/>
                </a:lnTo>
                <a:lnTo>
                  <a:pt x="0" y="138113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6" name="Text 3"/>
          <p:cNvSpPr/>
          <p:nvPr/>
        </p:nvSpPr>
        <p:spPr>
          <a:xfrm>
            <a:off x="458241" y="370999"/>
            <a:ext cx="2395538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4348"/>
              </a:lnSpc>
              <a:spcBef>
                <a:spcPts val="281"/>
              </a:spcBef>
              <a:buNone/>
            </a:pPr>
            <a:r>
              <a:rPr lang="en-US" sz="900" b="1" dirty="0">
                <a:solidFill>
                  <a:srgbClr val="2F6B8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TREND ANALYSIS &amp; LLM ANALYSIS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456843" y="576351"/>
            <a:ext cx="7467600" cy="347663"/>
          </a:xfrm>
          <a:custGeom>
            <a:avLst/>
            <a:gdLst/>
            <a:ahLst/>
            <a:cxnLst/>
            <a:rect l="l" t="t" r="r" b="b"/>
            <a:pathLst>
              <a:path w="7467600" h="347663">
                <a:moveTo>
                  <a:pt x="0" y="0"/>
                </a:moveTo>
                <a:lnTo>
                  <a:pt x="7467600" y="0"/>
                </a:lnTo>
                <a:lnTo>
                  <a:pt x="7467600" y="347663"/>
                </a:lnTo>
                <a:lnTo>
                  <a:pt x="0" y="347663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8" name="Text 5"/>
          <p:cNvSpPr/>
          <p:nvPr/>
        </p:nvSpPr>
        <p:spPr>
          <a:xfrm>
            <a:off x="456843" y="576351"/>
            <a:ext cx="7467600" cy="3476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5652"/>
              </a:lnSpc>
              <a:spcBef>
                <a:spcPts val="281"/>
              </a:spcBef>
              <a:buNone/>
            </a:pPr>
            <a:r>
              <a:rPr lang="en-US" sz="2402" b="1" dirty="0">
                <a:solidFill>
                  <a:srgbClr val="0B1F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From verified figures to grounded explanation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457200" y="991732"/>
            <a:ext cx="6286500" cy="385763"/>
          </a:xfrm>
          <a:custGeom>
            <a:avLst/>
            <a:gdLst/>
            <a:ahLst/>
            <a:cxnLst/>
            <a:rect l="l" t="t" r="r" b="b"/>
            <a:pathLst>
              <a:path w="6286500" h="385763">
                <a:moveTo>
                  <a:pt x="0" y="0"/>
                </a:moveTo>
                <a:lnTo>
                  <a:pt x="6286500" y="0"/>
                </a:lnTo>
                <a:lnTo>
                  <a:pt x="6286500" y="385763"/>
                </a:lnTo>
                <a:lnTo>
                  <a:pt x="0" y="385763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10" name="Text 7"/>
          <p:cNvSpPr/>
          <p:nvPr/>
        </p:nvSpPr>
        <p:spPr>
          <a:xfrm>
            <a:off x="457200" y="991732"/>
            <a:ext cx="6286500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spcBef>
                <a:spcPts val="281"/>
              </a:spcBef>
              <a:buNone/>
            </a:pPr>
            <a:r>
              <a:rPr lang="en-US" sz="1103" dirty="0">
                <a:solidFill>
                  <a:srgbClr val="5B6B7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controlled process turns year-over-year financial movement into language that is clear, traceable, and supported by the supplied data.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457200" y="2117973"/>
            <a:ext cx="2514600" cy="1838325"/>
          </a:xfrm>
          <a:custGeom>
            <a:avLst/>
            <a:gdLst/>
            <a:ahLst/>
            <a:cxnLst/>
            <a:rect l="l" t="t" r="r" b="b"/>
            <a:pathLst>
              <a:path w="2514600" h="1838325">
                <a:moveTo>
                  <a:pt x="42649" y="0"/>
                </a:moveTo>
                <a:lnTo>
                  <a:pt x="2471951" y="0"/>
                </a:lnTo>
                <a:quadBezTo>
                  <a:pt x="2514600" y="0"/>
                  <a:pt x="2514600" y="42649"/>
                </a:quadBezTo>
                <a:lnTo>
                  <a:pt x="2514600" y="1795676"/>
                </a:lnTo>
                <a:quadBezTo>
                  <a:pt x="2514600" y="1838325"/>
                  <a:pt x="2471951" y="1838325"/>
                </a:quadBezTo>
                <a:lnTo>
                  <a:pt x="42649" y="1838325"/>
                </a:lnTo>
                <a:quadBezTo>
                  <a:pt x="0" y="1838325"/>
                  <a:pt x="0" y="1795676"/>
                </a:quadBezTo>
                <a:lnTo>
                  <a:pt x="0" y="42649"/>
                </a:lnTo>
                <a:quadBezTo>
                  <a:pt x="0" y="0"/>
                  <a:pt x="42649" y="0"/>
                </a:quadBezTo>
                <a:close/>
              </a:path>
            </a:pathLst>
          </a:custGeom>
          <a:solidFill>
            <a:srgbClr val="F6F9FC"/>
          </a:solidFill>
          <a:ln/>
        </p:spPr>
      </p:sp>
      <p:sp>
        <p:nvSpPr>
          <p:cNvPr id="12" name="Shape 9"/>
          <p:cNvSpPr/>
          <p:nvPr/>
        </p:nvSpPr>
        <p:spPr>
          <a:xfrm>
            <a:off x="657225" y="2318742"/>
            <a:ext cx="295275" cy="295275"/>
          </a:xfrm>
          <a:custGeom>
            <a:avLst/>
            <a:gdLst/>
            <a:ahLst/>
            <a:cxnLst/>
            <a:rect l="l" t="t" r="r" b="b"/>
            <a:pathLst>
              <a:path w="295275" h="295275">
                <a:moveTo>
                  <a:pt x="51620" y="0"/>
                </a:moveTo>
                <a:lnTo>
                  <a:pt x="243655" y="0"/>
                </a:lnTo>
                <a:quadBezTo>
                  <a:pt x="295275" y="0"/>
                  <a:pt x="295275" y="51620"/>
                </a:quadBezTo>
                <a:lnTo>
                  <a:pt x="295275" y="243655"/>
                </a:lnTo>
                <a:quadBezTo>
                  <a:pt x="295275" y="295275"/>
                  <a:pt x="243655" y="295275"/>
                </a:quadBezTo>
                <a:lnTo>
                  <a:pt x="51620" y="295275"/>
                </a:lnTo>
                <a:quadBezTo>
                  <a:pt x="0" y="295275"/>
                  <a:pt x="0" y="243655"/>
                </a:quadBezTo>
                <a:lnTo>
                  <a:pt x="0" y="51620"/>
                </a:lnTo>
                <a:quadBezTo>
                  <a:pt x="0" y="0"/>
                  <a:pt x="51620" y="0"/>
                </a:quadBezTo>
                <a:close/>
              </a:path>
            </a:pathLst>
          </a:custGeom>
          <a:solidFill>
            <a:srgbClr val="EAF3F7"/>
          </a:solidFill>
          <a:ln/>
        </p:spPr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3425" y="2394942"/>
            <a:ext cx="142875" cy="142875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1038998" y="2375892"/>
            <a:ext cx="866775" cy="180975"/>
          </a:xfrm>
          <a:custGeom>
            <a:avLst/>
            <a:gdLst/>
            <a:ahLst/>
            <a:cxnLst/>
            <a:rect l="l" t="t" r="r" b="b"/>
            <a:pathLst>
              <a:path w="866775" h="180975">
                <a:moveTo>
                  <a:pt x="0" y="0"/>
                </a:moveTo>
                <a:lnTo>
                  <a:pt x="866775" y="0"/>
                </a:lnTo>
                <a:lnTo>
                  <a:pt x="8667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15" name="Text 11"/>
          <p:cNvSpPr/>
          <p:nvPr/>
        </p:nvSpPr>
        <p:spPr>
          <a:xfrm>
            <a:off x="1038998" y="2375892"/>
            <a:ext cx="866775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4348"/>
              </a:lnSpc>
              <a:spcBef>
                <a:spcPts val="281"/>
              </a:spcBef>
              <a:buNone/>
            </a:pPr>
            <a:r>
              <a:rPr lang="en-US" sz="1198" b="1" dirty="0">
                <a:solidFill>
                  <a:srgbClr val="0B1F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1. Compare</a:t>
            </a:r>
            <a:endParaRPr lang="en-US" sz="900" dirty="0"/>
          </a:p>
        </p:txBody>
      </p:sp>
      <p:sp>
        <p:nvSpPr>
          <p:cNvPr id="16" name="Shape 12"/>
          <p:cNvSpPr/>
          <p:nvPr/>
        </p:nvSpPr>
        <p:spPr>
          <a:xfrm>
            <a:off x="657225" y="2729151"/>
            <a:ext cx="2114550" cy="728663"/>
          </a:xfrm>
          <a:custGeom>
            <a:avLst/>
            <a:gdLst/>
            <a:ahLst/>
            <a:cxnLst/>
            <a:rect l="l" t="t" r="r" b="b"/>
            <a:pathLst>
              <a:path w="2114550" h="728663">
                <a:moveTo>
                  <a:pt x="0" y="0"/>
                </a:moveTo>
                <a:lnTo>
                  <a:pt x="2114550" y="0"/>
                </a:lnTo>
                <a:lnTo>
                  <a:pt x="2114550" y="728663"/>
                </a:lnTo>
                <a:lnTo>
                  <a:pt x="0" y="728663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17" name="Text 13"/>
          <p:cNvSpPr/>
          <p:nvPr/>
        </p:nvSpPr>
        <p:spPr>
          <a:xfrm>
            <a:off x="657225" y="2729151"/>
            <a:ext cx="2114550" cy="7286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217"/>
              </a:lnSpc>
              <a:spcBef>
                <a:spcPts val="281"/>
              </a:spcBef>
              <a:buNone/>
            </a:pPr>
            <a:r>
              <a:rPr lang="en-US" sz="1001" dirty="0">
                <a:solidFill>
                  <a:srgbClr val="3341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Review important financial metrics across reporting years and surface meaningful year-over-year changes.</a:t>
            </a:r>
            <a:endParaRPr lang="en-US" sz="900" dirty="0"/>
          </a:p>
        </p:txBody>
      </p:sp>
      <p:sp>
        <p:nvSpPr>
          <p:cNvPr id="18" name="Shape 14"/>
          <p:cNvSpPr/>
          <p:nvPr/>
        </p:nvSpPr>
        <p:spPr>
          <a:xfrm>
            <a:off x="657225" y="3755528"/>
            <a:ext cx="352425" cy="19050"/>
          </a:xfrm>
          <a:custGeom>
            <a:avLst/>
            <a:gdLst/>
            <a:ahLst/>
            <a:cxnLst/>
            <a:rect l="l" t="t" r="r" b="b"/>
            <a:pathLst>
              <a:path w="352425" h="19050">
                <a:moveTo>
                  <a:pt x="9525" y="0"/>
                </a:moveTo>
                <a:lnTo>
                  <a:pt x="342900" y="0"/>
                </a:lnTo>
                <a:quadBezTo>
                  <a:pt x="352425" y="0"/>
                  <a:pt x="352425" y="9525"/>
                </a:quadBezTo>
                <a:lnTo>
                  <a:pt x="352425" y="9525"/>
                </a:lnTo>
                <a:quadBezTo>
                  <a:pt x="352425" y="19050"/>
                  <a:pt x="342900" y="19050"/>
                </a:quadBezTo>
                <a:lnTo>
                  <a:pt x="9525" y="19050"/>
                </a:lnTo>
                <a:quadBezTo>
                  <a:pt x="0" y="19050"/>
                  <a:pt x="0" y="9525"/>
                </a:quadBezTo>
                <a:lnTo>
                  <a:pt x="0" y="9525"/>
                </a:lnTo>
                <a:quadBezTo>
                  <a:pt x="0" y="0"/>
                  <a:pt x="9525" y="0"/>
                </a:quadBezTo>
                <a:close/>
              </a:path>
            </a:pathLst>
          </a:custGeom>
          <a:solidFill>
            <a:srgbClr val="2F6B8E"/>
          </a:solidFill>
          <a:ln/>
        </p:spPr>
      </p:sp>
      <p:pic>
        <p:nvPicPr>
          <p:cNvPr id="1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62287" y="2956143"/>
            <a:ext cx="161925" cy="161925"/>
          </a:xfrm>
          <a:prstGeom prst="rect">
            <a:avLst/>
          </a:prstGeom>
        </p:spPr>
      </p:pic>
      <p:sp>
        <p:nvSpPr>
          <p:cNvPr id="20" name="Shape 15"/>
          <p:cNvSpPr/>
          <p:nvPr/>
        </p:nvSpPr>
        <p:spPr>
          <a:xfrm>
            <a:off x="3314700" y="2117973"/>
            <a:ext cx="2514600" cy="1838325"/>
          </a:xfrm>
          <a:custGeom>
            <a:avLst/>
            <a:gdLst/>
            <a:ahLst/>
            <a:cxnLst/>
            <a:rect l="l" t="t" r="r" b="b"/>
            <a:pathLst>
              <a:path w="2514600" h="1838325">
                <a:moveTo>
                  <a:pt x="42649" y="0"/>
                </a:moveTo>
                <a:lnTo>
                  <a:pt x="2471951" y="0"/>
                </a:lnTo>
                <a:quadBezTo>
                  <a:pt x="2514600" y="0"/>
                  <a:pt x="2514600" y="42649"/>
                </a:quadBezTo>
                <a:lnTo>
                  <a:pt x="2514600" y="1795676"/>
                </a:lnTo>
                <a:quadBezTo>
                  <a:pt x="2514600" y="1838325"/>
                  <a:pt x="2471951" y="1838325"/>
                </a:quadBezTo>
                <a:lnTo>
                  <a:pt x="42649" y="1838325"/>
                </a:lnTo>
                <a:quadBezTo>
                  <a:pt x="0" y="1838325"/>
                  <a:pt x="0" y="1795676"/>
                </a:quadBezTo>
                <a:lnTo>
                  <a:pt x="0" y="42649"/>
                </a:lnTo>
                <a:quadBezTo>
                  <a:pt x="0" y="0"/>
                  <a:pt x="42649" y="0"/>
                </a:quadBezTo>
                <a:close/>
              </a:path>
            </a:pathLst>
          </a:custGeom>
          <a:solidFill>
            <a:srgbClr val="EAF3F7"/>
          </a:solidFill>
          <a:ln/>
        </p:spPr>
      </p:sp>
      <p:sp>
        <p:nvSpPr>
          <p:cNvPr id="21" name="Shape 16"/>
          <p:cNvSpPr/>
          <p:nvPr/>
        </p:nvSpPr>
        <p:spPr>
          <a:xfrm>
            <a:off x="3514725" y="2318742"/>
            <a:ext cx="295275" cy="295275"/>
          </a:xfrm>
          <a:custGeom>
            <a:avLst/>
            <a:gdLst/>
            <a:ahLst/>
            <a:cxnLst/>
            <a:rect l="l" t="t" r="r" b="b"/>
            <a:pathLst>
              <a:path w="295275" h="295275">
                <a:moveTo>
                  <a:pt x="51620" y="0"/>
                </a:moveTo>
                <a:lnTo>
                  <a:pt x="243655" y="0"/>
                </a:lnTo>
                <a:quadBezTo>
                  <a:pt x="295275" y="0"/>
                  <a:pt x="295275" y="51620"/>
                </a:quadBezTo>
                <a:lnTo>
                  <a:pt x="295275" y="243655"/>
                </a:lnTo>
                <a:quadBezTo>
                  <a:pt x="295275" y="295275"/>
                  <a:pt x="243655" y="295275"/>
                </a:quadBezTo>
                <a:lnTo>
                  <a:pt x="51620" y="295275"/>
                </a:lnTo>
                <a:quadBezTo>
                  <a:pt x="0" y="295275"/>
                  <a:pt x="0" y="243655"/>
                </a:quadBezTo>
                <a:lnTo>
                  <a:pt x="0" y="51620"/>
                </a:lnTo>
                <a:quadBezTo>
                  <a:pt x="0" y="0"/>
                  <a:pt x="51620" y="0"/>
                </a:quadBezTo>
                <a:close/>
              </a:path>
            </a:pathLst>
          </a:custGeom>
          <a:solidFill>
            <a:srgbClr val="FFFFFF"/>
          </a:solidFill>
          <a:ln/>
        </p:spPr>
      </p:sp>
      <p:pic>
        <p:nvPicPr>
          <p:cNvPr id="2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90925" y="2394942"/>
            <a:ext cx="142875" cy="142875"/>
          </a:xfrm>
          <a:prstGeom prst="rect">
            <a:avLst/>
          </a:prstGeom>
        </p:spPr>
      </p:pic>
      <p:sp>
        <p:nvSpPr>
          <p:cNvPr id="23" name="Shape 17"/>
          <p:cNvSpPr/>
          <p:nvPr/>
        </p:nvSpPr>
        <p:spPr>
          <a:xfrm>
            <a:off x="3894981" y="2375892"/>
            <a:ext cx="1271588" cy="180975"/>
          </a:xfrm>
          <a:custGeom>
            <a:avLst/>
            <a:gdLst/>
            <a:ahLst/>
            <a:cxnLst/>
            <a:rect l="l" t="t" r="r" b="b"/>
            <a:pathLst>
              <a:path w="1271588" h="180975">
                <a:moveTo>
                  <a:pt x="0" y="0"/>
                </a:moveTo>
                <a:lnTo>
                  <a:pt x="1271588" y="0"/>
                </a:lnTo>
                <a:lnTo>
                  <a:pt x="1271588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24" name="Text 18"/>
          <p:cNvSpPr/>
          <p:nvPr/>
        </p:nvSpPr>
        <p:spPr>
          <a:xfrm>
            <a:off x="3894981" y="2375892"/>
            <a:ext cx="1271588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4348"/>
              </a:lnSpc>
              <a:spcBef>
                <a:spcPts val="281"/>
              </a:spcBef>
              <a:buNone/>
            </a:pPr>
            <a:r>
              <a:rPr lang="en-US" sz="1198" b="1" dirty="0">
                <a:solidFill>
                  <a:srgbClr val="0B1F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2. Contextualize</a:t>
            </a:r>
            <a:endParaRPr lang="en-US" sz="900" dirty="0"/>
          </a:p>
        </p:txBody>
      </p:sp>
      <p:sp>
        <p:nvSpPr>
          <p:cNvPr id="25" name="Shape 19"/>
          <p:cNvSpPr/>
          <p:nvPr/>
        </p:nvSpPr>
        <p:spPr>
          <a:xfrm>
            <a:off x="3514725" y="2728347"/>
            <a:ext cx="2114550" cy="547687"/>
          </a:xfrm>
          <a:custGeom>
            <a:avLst/>
            <a:gdLst/>
            <a:ahLst/>
            <a:cxnLst/>
            <a:rect l="l" t="t" r="r" b="b"/>
            <a:pathLst>
              <a:path w="2114550" h="547687">
                <a:moveTo>
                  <a:pt x="0" y="0"/>
                </a:moveTo>
                <a:lnTo>
                  <a:pt x="2114550" y="0"/>
                </a:lnTo>
                <a:lnTo>
                  <a:pt x="2114550" y="547687"/>
                </a:lnTo>
                <a:lnTo>
                  <a:pt x="0" y="547687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26" name="Text 20"/>
          <p:cNvSpPr/>
          <p:nvPr/>
        </p:nvSpPr>
        <p:spPr>
          <a:xfrm>
            <a:off x="3514725" y="2728347"/>
            <a:ext cx="2114550" cy="5476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217"/>
              </a:lnSpc>
              <a:spcBef>
                <a:spcPts val="281"/>
              </a:spcBef>
              <a:buNone/>
            </a:pPr>
            <a:r>
              <a:rPr lang="en-US" sz="1001" dirty="0">
                <a:solidFill>
                  <a:srgbClr val="3341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Pass verified figures and computed metrics to the LLM as an explicit analytical context.</a:t>
            </a:r>
            <a:endParaRPr lang="en-US" sz="900" dirty="0"/>
          </a:p>
        </p:txBody>
      </p:sp>
      <p:sp>
        <p:nvSpPr>
          <p:cNvPr id="27" name="Shape 21"/>
          <p:cNvSpPr/>
          <p:nvPr/>
        </p:nvSpPr>
        <p:spPr>
          <a:xfrm>
            <a:off x="3514725" y="3755528"/>
            <a:ext cx="352425" cy="19050"/>
          </a:xfrm>
          <a:custGeom>
            <a:avLst/>
            <a:gdLst/>
            <a:ahLst/>
            <a:cxnLst/>
            <a:rect l="l" t="t" r="r" b="b"/>
            <a:pathLst>
              <a:path w="352425" h="19050">
                <a:moveTo>
                  <a:pt x="9525" y="0"/>
                </a:moveTo>
                <a:lnTo>
                  <a:pt x="342900" y="0"/>
                </a:lnTo>
                <a:quadBezTo>
                  <a:pt x="352425" y="0"/>
                  <a:pt x="352425" y="9525"/>
                </a:quadBezTo>
                <a:lnTo>
                  <a:pt x="352425" y="9525"/>
                </a:lnTo>
                <a:quadBezTo>
                  <a:pt x="352425" y="19050"/>
                  <a:pt x="342900" y="19050"/>
                </a:quadBezTo>
                <a:lnTo>
                  <a:pt x="9525" y="19050"/>
                </a:lnTo>
                <a:quadBezTo>
                  <a:pt x="0" y="19050"/>
                  <a:pt x="0" y="9525"/>
                </a:quadBezTo>
                <a:lnTo>
                  <a:pt x="0" y="9525"/>
                </a:lnTo>
                <a:quadBezTo>
                  <a:pt x="0" y="0"/>
                  <a:pt x="9525" y="0"/>
                </a:quadBezTo>
                <a:close/>
              </a:path>
            </a:pathLst>
          </a:custGeom>
          <a:solidFill>
            <a:srgbClr val="4AA3A2"/>
          </a:solidFill>
          <a:ln/>
        </p:spPr>
      </p:sp>
      <p:pic>
        <p:nvPicPr>
          <p:cNvPr id="28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19788" y="2956143"/>
            <a:ext cx="161925" cy="161925"/>
          </a:xfrm>
          <a:prstGeom prst="rect">
            <a:avLst/>
          </a:prstGeom>
        </p:spPr>
      </p:pic>
      <p:sp>
        <p:nvSpPr>
          <p:cNvPr id="29" name="Shape 22"/>
          <p:cNvSpPr/>
          <p:nvPr/>
        </p:nvSpPr>
        <p:spPr>
          <a:xfrm>
            <a:off x="6172200" y="2117973"/>
            <a:ext cx="2514600" cy="1838325"/>
          </a:xfrm>
          <a:custGeom>
            <a:avLst/>
            <a:gdLst/>
            <a:ahLst/>
            <a:cxnLst/>
            <a:rect l="l" t="t" r="r" b="b"/>
            <a:pathLst>
              <a:path w="2514600" h="1838325">
                <a:moveTo>
                  <a:pt x="42649" y="0"/>
                </a:moveTo>
                <a:lnTo>
                  <a:pt x="2471951" y="0"/>
                </a:lnTo>
                <a:quadBezTo>
                  <a:pt x="2514600" y="0"/>
                  <a:pt x="2514600" y="42649"/>
                </a:quadBezTo>
                <a:lnTo>
                  <a:pt x="2514600" y="1795676"/>
                </a:lnTo>
                <a:quadBezTo>
                  <a:pt x="2514600" y="1838325"/>
                  <a:pt x="2471951" y="1838325"/>
                </a:quadBezTo>
                <a:lnTo>
                  <a:pt x="42649" y="1838325"/>
                </a:lnTo>
                <a:quadBezTo>
                  <a:pt x="0" y="1838325"/>
                  <a:pt x="0" y="1795676"/>
                </a:quadBezTo>
                <a:lnTo>
                  <a:pt x="0" y="42649"/>
                </a:lnTo>
                <a:quadBezTo>
                  <a:pt x="0" y="0"/>
                  <a:pt x="42649" y="0"/>
                </a:quadBezTo>
                <a:close/>
              </a:path>
            </a:pathLst>
          </a:custGeom>
          <a:solidFill>
            <a:srgbClr val="F6F9FC"/>
          </a:solidFill>
          <a:ln/>
        </p:spPr>
      </p:sp>
      <p:sp>
        <p:nvSpPr>
          <p:cNvPr id="30" name="Shape 23"/>
          <p:cNvSpPr/>
          <p:nvPr/>
        </p:nvSpPr>
        <p:spPr>
          <a:xfrm>
            <a:off x="6372225" y="2318742"/>
            <a:ext cx="295275" cy="295275"/>
          </a:xfrm>
          <a:custGeom>
            <a:avLst/>
            <a:gdLst/>
            <a:ahLst/>
            <a:cxnLst/>
            <a:rect l="l" t="t" r="r" b="b"/>
            <a:pathLst>
              <a:path w="295275" h="295275">
                <a:moveTo>
                  <a:pt x="51620" y="0"/>
                </a:moveTo>
                <a:lnTo>
                  <a:pt x="243655" y="0"/>
                </a:lnTo>
                <a:quadBezTo>
                  <a:pt x="295275" y="0"/>
                  <a:pt x="295275" y="51620"/>
                </a:quadBezTo>
                <a:lnTo>
                  <a:pt x="295275" y="243655"/>
                </a:lnTo>
                <a:quadBezTo>
                  <a:pt x="295275" y="295275"/>
                  <a:pt x="243655" y="295275"/>
                </a:quadBezTo>
                <a:lnTo>
                  <a:pt x="51620" y="295275"/>
                </a:lnTo>
                <a:quadBezTo>
                  <a:pt x="0" y="295275"/>
                  <a:pt x="0" y="243655"/>
                </a:quadBezTo>
                <a:lnTo>
                  <a:pt x="0" y="51620"/>
                </a:lnTo>
                <a:quadBezTo>
                  <a:pt x="0" y="0"/>
                  <a:pt x="51620" y="0"/>
                </a:quadBezTo>
                <a:close/>
              </a:path>
            </a:pathLst>
          </a:custGeom>
          <a:solidFill>
            <a:srgbClr val="EAF3F7"/>
          </a:solidFill>
          <a:ln/>
        </p:spPr>
      </p:sp>
      <p:pic>
        <p:nvPicPr>
          <p:cNvPr id="31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48425" y="2394942"/>
            <a:ext cx="142875" cy="142875"/>
          </a:xfrm>
          <a:prstGeom prst="rect">
            <a:avLst/>
          </a:prstGeom>
        </p:spPr>
      </p:pic>
      <p:sp>
        <p:nvSpPr>
          <p:cNvPr id="32" name="Shape 24"/>
          <p:cNvSpPr/>
          <p:nvPr/>
        </p:nvSpPr>
        <p:spPr>
          <a:xfrm>
            <a:off x="6752957" y="2375892"/>
            <a:ext cx="762000" cy="180975"/>
          </a:xfrm>
          <a:custGeom>
            <a:avLst/>
            <a:gdLst/>
            <a:ahLst/>
            <a:cxnLst/>
            <a:rect l="l" t="t" r="r" b="b"/>
            <a:pathLst>
              <a:path w="762000" h="180975">
                <a:moveTo>
                  <a:pt x="0" y="0"/>
                </a:moveTo>
                <a:lnTo>
                  <a:pt x="762000" y="0"/>
                </a:lnTo>
                <a:lnTo>
                  <a:pt x="762000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33" name="Text 25"/>
          <p:cNvSpPr/>
          <p:nvPr/>
        </p:nvSpPr>
        <p:spPr>
          <a:xfrm>
            <a:off x="6752957" y="2375892"/>
            <a:ext cx="76200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4348"/>
              </a:lnSpc>
              <a:spcBef>
                <a:spcPts val="281"/>
              </a:spcBef>
              <a:buNone/>
            </a:pPr>
            <a:r>
              <a:rPr lang="en-US" sz="1198" b="1" dirty="0">
                <a:solidFill>
                  <a:srgbClr val="0B1F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3. Explain</a:t>
            </a:r>
            <a:endParaRPr lang="en-US" sz="900" dirty="0"/>
          </a:p>
        </p:txBody>
      </p:sp>
      <p:sp>
        <p:nvSpPr>
          <p:cNvPr id="34" name="Shape 26"/>
          <p:cNvSpPr/>
          <p:nvPr/>
        </p:nvSpPr>
        <p:spPr>
          <a:xfrm>
            <a:off x="6372225" y="2727573"/>
            <a:ext cx="2114550" cy="914400"/>
          </a:xfrm>
          <a:custGeom>
            <a:avLst/>
            <a:gdLst/>
            <a:ahLst/>
            <a:cxnLst/>
            <a:rect l="l" t="t" r="r" b="b"/>
            <a:pathLst>
              <a:path w="2114550" h="914400">
                <a:moveTo>
                  <a:pt x="0" y="0"/>
                </a:moveTo>
                <a:lnTo>
                  <a:pt x="2114550" y="0"/>
                </a:lnTo>
                <a:lnTo>
                  <a:pt x="2114550" y="914400"/>
                </a:lnTo>
                <a:lnTo>
                  <a:pt x="0" y="914400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35" name="Text 27"/>
          <p:cNvSpPr/>
          <p:nvPr/>
        </p:nvSpPr>
        <p:spPr>
          <a:xfrm>
            <a:off x="6372225" y="2727573"/>
            <a:ext cx="211455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217"/>
              </a:lnSpc>
              <a:spcBef>
                <a:spcPts val="281"/>
              </a:spcBef>
              <a:buNone/>
            </a:pPr>
            <a:r>
              <a:rPr lang="en-US" sz="1001" dirty="0">
                <a:solidFill>
                  <a:srgbClr val="3341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Generate a plain-language summary that explains significant movements without departing from the supplied data.</a:t>
            </a:r>
            <a:endParaRPr lang="en-US" sz="900" dirty="0"/>
          </a:p>
        </p:txBody>
      </p:sp>
      <p:sp>
        <p:nvSpPr>
          <p:cNvPr id="36" name="Shape 28"/>
          <p:cNvSpPr/>
          <p:nvPr/>
        </p:nvSpPr>
        <p:spPr>
          <a:xfrm>
            <a:off x="6372225" y="3755528"/>
            <a:ext cx="352425" cy="19050"/>
          </a:xfrm>
          <a:custGeom>
            <a:avLst/>
            <a:gdLst/>
            <a:ahLst/>
            <a:cxnLst/>
            <a:rect l="l" t="t" r="r" b="b"/>
            <a:pathLst>
              <a:path w="352425" h="19050">
                <a:moveTo>
                  <a:pt x="9525" y="0"/>
                </a:moveTo>
                <a:lnTo>
                  <a:pt x="342900" y="0"/>
                </a:lnTo>
                <a:quadBezTo>
                  <a:pt x="352425" y="0"/>
                  <a:pt x="352425" y="9525"/>
                </a:quadBezTo>
                <a:lnTo>
                  <a:pt x="352425" y="9525"/>
                </a:lnTo>
                <a:quadBezTo>
                  <a:pt x="352425" y="19050"/>
                  <a:pt x="342900" y="19050"/>
                </a:quadBezTo>
                <a:lnTo>
                  <a:pt x="9525" y="19050"/>
                </a:lnTo>
                <a:quadBezTo>
                  <a:pt x="0" y="19050"/>
                  <a:pt x="0" y="9525"/>
                </a:quadBezTo>
                <a:lnTo>
                  <a:pt x="0" y="9525"/>
                </a:lnTo>
                <a:quadBezTo>
                  <a:pt x="0" y="0"/>
                  <a:pt x="9525" y="0"/>
                </a:quadBezTo>
                <a:close/>
              </a:path>
            </a:pathLst>
          </a:custGeom>
          <a:solidFill>
            <a:srgbClr val="7CB342"/>
          </a:solidFill>
          <a:ln/>
        </p:spPr>
      </p:sp>
      <p:sp>
        <p:nvSpPr>
          <p:cNvPr id="37" name="Shape 29"/>
          <p:cNvSpPr/>
          <p:nvPr/>
        </p:nvSpPr>
        <p:spPr>
          <a:xfrm>
            <a:off x="457200" y="4155103"/>
            <a:ext cx="8229600" cy="466725"/>
          </a:xfrm>
          <a:custGeom>
            <a:avLst/>
            <a:gdLst/>
            <a:ahLst/>
            <a:cxnLst/>
            <a:rect l="l" t="t" r="r" b="b"/>
            <a:pathLst>
              <a:path w="8229600" h="466725">
                <a:moveTo>
                  <a:pt x="41987" y="0"/>
                </a:moveTo>
                <a:lnTo>
                  <a:pt x="8187613" y="0"/>
                </a:lnTo>
                <a:quadBezTo>
                  <a:pt x="8229600" y="0"/>
                  <a:pt x="8229600" y="41987"/>
                </a:quadBezTo>
                <a:lnTo>
                  <a:pt x="8229600" y="424738"/>
                </a:lnTo>
                <a:quadBezTo>
                  <a:pt x="8229600" y="466725"/>
                  <a:pt x="8187613" y="466725"/>
                </a:quadBezTo>
                <a:lnTo>
                  <a:pt x="41987" y="466725"/>
                </a:lnTo>
                <a:quadBezTo>
                  <a:pt x="0" y="466725"/>
                  <a:pt x="0" y="424738"/>
                </a:quadBezTo>
                <a:lnTo>
                  <a:pt x="0" y="41987"/>
                </a:lnTo>
                <a:quadBezTo>
                  <a:pt x="0" y="0"/>
                  <a:pt x="41987" y="0"/>
                </a:quadBezTo>
                <a:close/>
              </a:path>
            </a:pathLst>
          </a:custGeom>
          <a:solidFill>
            <a:srgbClr val="0B1F3A"/>
          </a:solidFill>
          <a:ln/>
        </p:spPr>
      </p:sp>
      <p:pic>
        <p:nvPicPr>
          <p:cNvPr id="38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7225" y="4317027"/>
            <a:ext cx="142875" cy="142875"/>
          </a:xfrm>
          <a:prstGeom prst="rect">
            <a:avLst/>
          </a:prstGeom>
        </p:spPr>
      </p:pic>
      <p:sp>
        <p:nvSpPr>
          <p:cNvPr id="39" name="Shape 30"/>
          <p:cNvSpPr/>
          <p:nvPr/>
        </p:nvSpPr>
        <p:spPr>
          <a:xfrm>
            <a:off x="905916" y="4297978"/>
            <a:ext cx="6596062" cy="180975"/>
          </a:xfrm>
          <a:custGeom>
            <a:avLst/>
            <a:gdLst/>
            <a:ahLst/>
            <a:cxnLst/>
            <a:rect l="l" t="t" r="r" b="b"/>
            <a:pathLst>
              <a:path w="6596062" h="180975">
                <a:moveTo>
                  <a:pt x="0" y="0"/>
                </a:moveTo>
                <a:lnTo>
                  <a:pt x="6596062" y="0"/>
                </a:lnTo>
                <a:lnTo>
                  <a:pt x="6596062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40" name="Text 31"/>
          <p:cNvSpPr/>
          <p:nvPr/>
        </p:nvSpPr>
        <p:spPr>
          <a:xfrm>
            <a:off x="905916" y="4297978"/>
            <a:ext cx="6596062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3478"/>
              </a:lnSpc>
              <a:spcBef>
                <a:spcPts val="281"/>
              </a:spcBef>
              <a:buNone/>
            </a:pPr>
            <a:r>
              <a:rPr lang="en-US" sz="100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Core principle: the LLM interprets verified analysis; it does not replace the underlying calculations.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" y="0"/>
            <a:ext cx="9143771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3" name="Rectangle 2"/>
          <p:cNvSpPr/>
          <p:nvPr/>
        </p:nvSpPr>
        <p:spPr>
          <a:xfrm>
            <a:off x="1" y="0"/>
            <a:ext cx="9143771" cy="48006"/>
          </a:xfrm>
          <a:prstGeom prst="rect">
            <a:avLst/>
          </a:prstGeom>
          <a:solidFill>
            <a:srgbClr val="4C7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4" name="TextBox 3"/>
          <p:cNvSpPr txBox="1"/>
          <p:nvPr/>
        </p:nvSpPr>
        <p:spPr>
          <a:xfrm>
            <a:off x="445770" y="240030"/>
            <a:ext cx="4172745" cy="4154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3041"/>
                </a:solidFill>
              </a:defRPr>
            </a:pPr>
            <a:r>
              <a:rPr sz="2100"/>
              <a:t>Existing System vs Proposed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66344" y="672084"/>
            <a:ext cx="2582758" cy="24237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4C7896"/>
                </a:solidFill>
              </a:defRPr>
            </a:pPr>
            <a:r>
              <a:rPr sz="975"/>
              <a:t>LLM-Assisted Financial Statement Analysis Tool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5770" y="1062990"/>
            <a:ext cx="4011930" cy="3051810"/>
          </a:xfrm>
          <a:prstGeom prst="roundRect">
            <a:avLst/>
          </a:prstGeom>
          <a:solidFill>
            <a:srgbClr val="F6F9FB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7" name="Rectangle 6"/>
          <p:cNvSpPr/>
          <p:nvPr/>
        </p:nvSpPr>
        <p:spPr>
          <a:xfrm>
            <a:off x="445770" y="1062990"/>
            <a:ext cx="54864" cy="3051810"/>
          </a:xfrm>
          <a:prstGeom prst="rect">
            <a:avLst/>
          </a:prstGeom>
          <a:solidFill>
            <a:srgbClr val="4C7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8" name="TextBox 7"/>
          <p:cNvSpPr txBox="1"/>
          <p:nvPr/>
        </p:nvSpPr>
        <p:spPr>
          <a:xfrm>
            <a:off x="617220" y="1186434"/>
            <a:ext cx="1524648" cy="3116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1F3041"/>
                </a:solidFill>
              </a:defRPr>
            </a:pPr>
            <a:r>
              <a:rPr sz="1425"/>
              <a:t>EXISTING SYSTEM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7221" y="1543050"/>
            <a:ext cx="3703319" cy="14793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25"/>
              </a:spcAft>
              <a:defRPr sz="1320">
                <a:solidFill>
                  <a:srgbClr val="373F48"/>
                </a:solidFill>
              </a:defRPr>
            </a:pPr>
            <a:r>
              <a:rPr sz="990"/>
              <a:t>• Financial statements are mainly analyzed manually.</a:t>
            </a:r>
          </a:p>
          <a:p>
            <a:pPr>
              <a:spcAft>
                <a:spcPts val="525"/>
              </a:spcAft>
              <a:defRPr sz="1320">
                <a:solidFill>
                  <a:srgbClr val="373F48"/>
                </a:solidFill>
              </a:defRPr>
            </a:pPr>
            <a:r>
              <a:rPr sz="990"/>
              <a:t>• Users read lengthy annual reports to identify financial figures.</a:t>
            </a:r>
          </a:p>
          <a:p>
            <a:pPr>
              <a:spcAft>
                <a:spcPts val="525"/>
              </a:spcAft>
              <a:defRPr sz="1320">
                <a:solidFill>
                  <a:srgbClr val="373F48"/>
                </a:solidFill>
              </a:defRPr>
            </a:pPr>
            <a:r>
              <a:rPr sz="990"/>
              <a:t>• Ratio calculations are often performed separately using spreadsheets or calculators.</a:t>
            </a:r>
          </a:p>
          <a:p>
            <a:pPr>
              <a:spcAft>
                <a:spcPts val="525"/>
              </a:spcAft>
              <a:defRPr sz="1320">
                <a:solidFill>
                  <a:srgbClr val="373F48"/>
                </a:solidFill>
              </a:defRPr>
            </a:pPr>
            <a:r>
              <a:rPr sz="990"/>
              <a:t>• Comparing multiple years requires additional manual effort.</a:t>
            </a:r>
          </a:p>
          <a:p>
            <a:pPr>
              <a:spcAft>
                <a:spcPts val="525"/>
              </a:spcAft>
              <a:defRPr sz="1320">
                <a:solidFill>
                  <a:srgbClr val="373F48"/>
                </a:solidFill>
              </a:defRPr>
            </a:pPr>
            <a:r>
              <a:rPr sz="990"/>
              <a:t>• Financial trends may require financial-analysis knowledge.</a:t>
            </a:r>
          </a:p>
          <a:p>
            <a:pPr>
              <a:spcAft>
                <a:spcPts val="525"/>
              </a:spcAft>
              <a:defRPr sz="1320">
                <a:solidFill>
                  <a:srgbClr val="373F48"/>
                </a:solidFill>
              </a:defRPr>
            </a:pPr>
            <a:r>
              <a:rPr sz="990"/>
              <a:t>• Limited natural-language explanation of results.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697730" y="1062990"/>
            <a:ext cx="4011930" cy="3051810"/>
          </a:xfrm>
          <a:prstGeom prst="roundRect">
            <a:avLst/>
          </a:prstGeom>
          <a:solidFill>
            <a:srgbClr val="F6F9FB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11" name="Rectangle 10"/>
          <p:cNvSpPr/>
          <p:nvPr/>
        </p:nvSpPr>
        <p:spPr>
          <a:xfrm>
            <a:off x="4697730" y="1062990"/>
            <a:ext cx="54864" cy="3051810"/>
          </a:xfrm>
          <a:prstGeom prst="rect">
            <a:avLst/>
          </a:prstGeom>
          <a:solidFill>
            <a:srgbClr val="4C84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12" name="TextBox 11"/>
          <p:cNvSpPr txBox="1"/>
          <p:nvPr/>
        </p:nvSpPr>
        <p:spPr>
          <a:xfrm>
            <a:off x="4869180" y="1186434"/>
            <a:ext cx="1660904" cy="3116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1F3041"/>
                </a:solidFill>
              </a:defRPr>
            </a:pPr>
            <a:r>
              <a:rPr sz="1425"/>
              <a:t>PROPOSED SYSTEM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69181" y="1543050"/>
            <a:ext cx="3703319" cy="14793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25"/>
              </a:spcAft>
              <a:defRPr sz="1320">
                <a:solidFill>
                  <a:srgbClr val="373F48"/>
                </a:solidFill>
              </a:defRPr>
            </a:pPr>
            <a:r>
              <a:rPr sz="990"/>
              <a:t>• Upload a financial statement or annual report in PDF format.</a:t>
            </a:r>
          </a:p>
          <a:p>
            <a:pPr>
              <a:spcAft>
                <a:spcPts val="525"/>
              </a:spcAft>
              <a:defRPr sz="1320">
                <a:solidFill>
                  <a:srgbClr val="373F48"/>
                </a:solidFill>
              </a:defRPr>
            </a:pPr>
            <a:r>
              <a:rPr sz="990"/>
              <a:t>• Automatically extract relevant financial information.</a:t>
            </a:r>
          </a:p>
          <a:p>
            <a:pPr>
              <a:spcAft>
                <a:spcPts val="525"/>
              </a:spcAft>
              <a:defRPr sz="1320">
                <a:solidFill>
                  <a:srgbClr val="373F48"/>
                </a:solidFill>
              </a:defRPr>
            </a:pPr>
            <a:r>
              <a:rPr sz="990"/>
              <a:t>• Normalize and validate extracted values.</a:t>
            </a:r>
          </a:p>
          <a:p>
            <a:pPr>
              <a:spcAft>
                <a:spcPts val="525"/>
              </a:spcAft>
              <a:defRPr sz="1320">
                <a:solidFill>
                  <a:srgbClr val="373F48"/>
                </a:solidFill>
              </a:defRPr>
            </a:pPr>
            <a:r>
              <a:rPr sz="990"/>
              <a:t>• Calculate important financial ratios programmatically.</a:t>
            </a:r>
          </a:p>
          <a:p>
            <a:pPr>
              <a:spcAft>
                <a:spcPts val="525"/>
              </a:spcAft>
              <a:defRPr sz="1320">
                <a:solidFill>
                  <a:srgbClr val="373F48"/>
                </a:solidFill>
              </a:defRPr>
            </a:pPr>
            <a:r>
              <a:rPr sz="990"/>
              <a:t>• Perform year-over-year trend analysis.</a:t>
            </a:r>
          </a:p>
          <a:p>
            <a:pPr>
              <a:spcAft>
                <a:spcPts val="525"/>
              </a:spcAft>
              <a:defRPr sz="1320">
                <a:solidFill>
                  <a:srgbClr val="373F48"/>
                </a:solidFill>
              </a:defRPr>
            </a:pPr>
            <a:r>
              <a:rPr sz="990"/>
              <a:t>• Use an LLM to generate a grounded, easy-to-understand explanation.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5176" y="4265676"/>
            <a:ext cx="7487948" cy="22512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50" b="1">
                <a:solidFill>
                  <a:srgbClr val="1F3041"/>
                </a:solidFill>
              </a:defRPr>
            </a:pPr>
            <a:r>
              <a:rPr sz="863"/>
              <a:t>Existing:  PDF → Manual Analysis → Spreadsheet → Manual Interpretation     |     Proposed:  PDF → Extraction → Validation → Ratios &amp; Trends → LLM Insights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50292" y="4814316"/>
            <a:ext cx="227948" cy="1962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737D"/>
                </a:solidFill>
              </a:defRPr>
            </a:pPr>
            <a:r>
              <a:rPr sz="675"/>
              <a:t>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0" y="0"/>
                </a:moveTo>
                <a:lnTo>
                  <a:pt x="9144000" y="0"/>
                </a:lnTo>
                <a:lnTo>
                  <a:pt x="9144000" y="5143500"/>
                </a:lnTo>
                <a:lnTo>
                  <a:pt x="0" y="514350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4" name="Shape 1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0" y="0"/>
                </a:moveTo>
                <a:lnTo>
                  <a:pt x="9144000" y="0"/>
                </a:lnTo>
                <a:lnTo>
                  <a:pt x="9144000" y="5143500"/>
                </a:lnTo>
                <a:lnTo>
                  <a:pt x="0" y="514350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5" name="Shape 2"/>
          <p:cNvSpPr/>
          <p:nvPr/>
        </p:nvSpPr>
        <p:spPr>
          <a:xfrm>
            <a:off x="533400" y="370999"/>
            <a:ext cx="8077200" cy="138113"/>
          </a:xfrm>
          <a:custGeom>
            <a:avLst/>
            <a:gdLst/>
            <a:ahLst/>
            <a:cxnLst/>
            <a:rect l="l" t="t" r="r" b="b"/>
            <a:pathLst>
              <a:path w="8077200" h="138113">
                <a:moveTo>
                  <a:pt x="0" y="0"/>
                </a:moveTo>
                <a:lnTo>
                  <a:pt x="8077200" y="0"/>
                </a:lnTo>
                <a:lnTo>
                  <a:pt x="8077200" y="138113"/>
                </a:lnTo>
                <a:lnTo>
                  <a:pt x="0" y="138113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6" name="Text 3"/>
          <p:cNvSpPr/>
          <p:nvPr/>
        </p:nvSpPr>
        <p:spPr>
          <a:xfrm>
            <a:off x="533400" y="370999"/>
            <a:ext cx="8077200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4348"/>
              </a:lnSpc>
              <a:spcBef>
                <a:spcPts val="281"/>
              </a:spcBef>
              <a:buNone/>
            </a:pPr>
            <a:r>
              <a:rPr lang="en-US" sz="900" b="1" dirty="0">
                <a:solidFill>
                  <a:srgbClr val="2F6B8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SYSTEM ARCHITECTURE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533400" y="585876"/>
            <a:ext cx="8077200" cy="347663"/>
          </a:xfrm>
          <a:custGeom>
            <a:avLst/>
            <a:gdLst/>
            <a:ahLst/>
            <a:cxnLst/>
            <a:rect l="l" t="t" r="r" b="b"/>
            <a:pathLst>
              <a:path w="8077200" h="347663">
                <a:moveTo>
                  <a:pt x="0" y="0"/>
                </a:moveTo>
                <a:lnTo>
                  <a:pt x="8077200" y="0"/>
                </a:lnTo>
                <a:lnTo>
                  <a:pt x="8077200" y="347663"/>
                </a:lnTo>
                <a:lnTo>
                  <a:pt x="0" y="347663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8" name="Text 5"/>
          <p:cNvSpPr/>
          <p:nvPr/>
        </p:nvSpPr>
        <p:spPr>
          <a:xfrm>
            <a:off x="533400" y="585876"/>
            <a:ext cx="8077200" cy="3476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5652"/>
              </a:lnSpc>
              <a:spcBef>
                <a:spcPts val="281"/>
              </a:spcBef>
              <a:buNone/>
            </a:pPr>
            <a:r>
              <a:rPr lang="en-US" sz="2498" b="1" dirty="0">
                <a:solidFill>
                  <a:srgbClr val="0B1F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Module Breakdown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533400" y="1021259"/>
            <a:ext cx="5334000" cy="409575"/>
          </a:xfrm>
          <a:custGeom>
            <a:avLst/>
            <a:gdLst/>
            <a:ahLst/>
            <a:cxnLst/>
            <a:rect l="l" t="t" r="r" b="b"/>
            <a:pathLst>
              <a:path w="5334000" h="409575">
                <a:moveTo>
                  <a:pt x="0" y="0"/>
                </a:moveTo>
                <a:lnTo>
                  <a:pt x="5334000" y="0"/>
                </a:lnTo>
                <a:lnTo>
                  <a:pt x="5334000" y="409575"/>
                </a:lnTo>
                <a:lnTo>
                  <a:pt x="0" y="409575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10" name="Text 7"/>
          <p:cNvSpPr/>
          <p:nvPr/>
        </p:nvSpPr>
        <p:spPr>
          <a:xfrm>
            <a:off x="533400" y="1021259"/>
            <a:ext cx="5334000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7391"/>
              </a:lnSpc>
              <a:spcBef>
                <a:spcPts val="281"/>
              </a:spcBef>
              <a:buNone/>
            </a:pPr>
            <a:r>
              <a:rPr lang="en-US" sz="1198" dirty="0">
                <a:solidFill>
                  <a:srgbClr val="5B6B7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structured pipeline turns a financial report into clear, decision-ready analysis.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533400" y="1737449"/>
            <a:ext cx="6134100" cy="3062287"/>
          </a:xfrm>
          <a:custGeom>
            <a:avLst/>
            <a:gdLst/>
            <a:ahLst/>
            <a:cxnLst/>
            <a:rect l="l" t="t" r="r" b="b"/>
            <a:pathLst>
              <a:path w="6134100" h="3062287">
                <a:moveTo>
                  <a:pt x="39810" y="0"/>
                </a:moveTo>
                <a:lnTo>
                  <a:pt x="6094290" y="0"/>
                </a:lnTo>
                <a:quadBezTo>
                  <a:pt x="6134100" y="0"/>
                  <a:pt x="6134100" y="39810"/>
                </a:quadBezTo>
                <a:lnTo>
                  <a:pt x="6134100" y="3022478"/>
                </a:lnTo>
                <a:quadBezTo>
                  <a:pt x="6134100" y="3062287"/>
                  <a:pt x="6094290" y="3062287"/>
                </a:quadBezTo>
                <a:lnTo>
                  <a:pt x="39810" y="3062287"/>
                </a:lnTo>
                <a:quadBezTo>
                  <a:pt x="0" y="3062287"/>
                  <a:pt x="0" y="3022478"/>
                </a:quadBezTo>
                <a:lnTo>
                  <a:pt x="0" y="39810"/>
                </a:lnTo>
                <a:quadBezTo>
                  <a:pt x="0" y="0"/>
                  <a:pt x="39810" y="0"/>
                </a:quadBezTo>
                <a:close/>
              </a:path>
            </a:pathLst>
          </a:custGeom>
          <a:solidFill>
            <a:srgbClr val="F6F9FC"/>
          </a:solidFill>
          <a:ln/>
        </p:spPr>
      </p:sp>
      <p:sp>
        <p:nvSpPr>
          <p:cNvPr id="12" name="Shape 9"/>
          <p:cNvSpPr/>
          <p:nvPr/>
        </p:nvSpPr>
        <p:spPr>
          <a:xfrm>
            <a:off x="809685" y="1984712"/>
            <a:ext cx="3009900" cy="204787"/>
          </a:xfrm>
          <a:custGeom>
            <a:avLst/>
            <a:gdLst/>
            <a:ahLst/>
            <a:cxnLst/>
            <a:rect l="l" t="t" r="r" b="b"/>
            <a:pathLst>
              <a:path w="3009900" h="204787">
                <a:moveTo>
                  <a:pt x="0" y="0"/>
                </a:moveTo>
                <a:lnTo>
                  <a:pt x="3009900" y="0"/>
                </a:lnTo>
                <a:lnTo>
                  <a:pt x="3009900" y="204787"/>
                </a:lnTo>
                <a:lnTo>
                  <a:pt x="0" y="204787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13" name="Text 10"/>
          <p:cNvSpPr/>
          <p:nvPr/>
        </p:nvSpPr>
        <p:spPr>
          <a:xfrm>
            <a:off x="809685" y="1984712"/>
            <a:ext cx="3009900" cy="2047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696"/>
              </a:lnSpc>
              <a:spcBef>
                <a:spcPts val="281"/>
              </a:spcBef>
              <a:buNone/>
            </a:pPr>
            <a:r>
              <a:rPr lang="en-US" sz="1299" b="1" dirty="0">
                <a:solidFill>
                  <a:srgbClr val="0B1F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From source document to insight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809685" y="2238554"/>
            <a:ext cx="3009900" cy="152400"/>
          </a:xfrm>
          <a:custGeom>
            <a:avLst/>
            <a:gdLst/>
            <a:ahLst/>
            <a:cxnLst/>
            <a:rect l="l" t="t" r="r" b="b"/>
            <a:pathLst>
              <a:path w="3009900" h="152400">
                <a:moveTo>
                  <a:pt x="0" y="0"/>
                </a:moveTo>
                <a:lnTo>
                  <a:pt x="3009900" y="0"/>
                </a:lnTo>
                <a:lnTo>
                  <a:pt x="3009900" y="152400"/>
                </a:lnTo>
                <a:lnTo>
                  <a:pt x="0" y="152400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15" name="Text 12"/>
          <p:cNvSpPr/>
          <p:nvPr/>
        </p:nvSpPr>
        <p:spPr>
          <a:xfrm>
            <a:off x="809685" y="2238554"/>
            <a:ext cx="30099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7391"/>
              </a:lnSpc>
              <a:spcBef>
                <a:spcPts val="281"/>
              </a:spcBef>
              <a:buNone/>
            </a:pPr>
            <a:r>
              <a:rPr lang="en-US" sz="900" dirty="0">
                <a:solidFill>
                  <a:srgbClr val="5B6B7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Each module performs one essential transformation.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6038850" y="2011859"/>
            <a:ext cx="352425" cy="352425"/>
          </a:xfrm>
          <a:custGeom>
            <a:avLst/>
            <a:gdLst/>
            <a:ahLst/>
            <a:cxnLst/>
            <a:rect l="l" t="t" r="r" b="b"/>
            <a:pathLst>
              <a:path w="352425" h="352425">
                <a:moveTo>
                  <a:pt x="55606" y="0"/>
                </a:moveTo>
                <a:lnTo>
                  <a:pt x="296819" y="0"/>
                </a:lnTo>
                <a:quadBezTo>
                  <a:pt x="352425" y="0"/>
                  <a:pt x="352425" y="55606"/>
                </a:quadBezTo>
                <a:lnTo>
                  <a:pt x="352425" y="296819"/>
                </a:lnTo>
                <a:quadBezTo>
                  <a:pt x="352425" y="352425"/>
                  <a:pt x="296819" y="352425"/>
                </a:quadBezTo>
                <a:lnTo>
                  <a:pt x="55606" y="352425"/>
                </a:lnTo>
                <a:quadBezTo>
                  <a:pt x="0" y="352425"/>
                  <a:pt x="0" y="296819"/>
                </a:quadBezTo>
                <a:lnTo>
                  <a:pt x="0" y="55606"/>
                </a:lnTo>
                <a:quadBezTo>
                  <a:pt x="0" y="0"/>
                  <a:pt x="55606" y="0"/>
                </a:quadBezTo>
                <a:close/>
              </a:path>
            </a:pathLst>
          </a:custGeom>
          <a:solidFill>
            <a:srgbClr val="EAF3F7"/>
          </a:solidFill>
          <a:ln/>
        </p:spPr>
      </p:sp>
      <p:pic>
        <p:nvPicPr>
          <p:cNvPr id="1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34100" y="2107109"/>
            <a:ext cx="161925" cy="161925"/>
          </a:xfrm>
          <a:prstGeom prst="rect">
            <a:avLst/>
          </a:prstGeom>
        </p:spPr>
      </p:pic>
      <p:sp>
        <p:nvSpPr>
          <p:cNvPr id="18" name="Shape 14"/>
          <p:cNvSpPr/>
          <p:nvPr/>
        </p:nvSpPr>
        <p:spPr>
          <a:xfrm>
            <a:off x="809625" y="2591932"/>
            <a:ext cx="2709863" cy="914400"/>
          </a:xfrm>
          <a:custGeom>
            <a:avLst/>
            <a:gdLst/>
            <a:ahLst/>
            <a:cxnLst/>
            <a:rect l="l" t="t" r="r" b="b"/>
            <a:pathLst>
              <a:path w="2709863" h="914400">
                <a:moveTo>
                  <a:pt x="95253" y="0"/>
                </a:moveTo>
                <a:lnTo>
                  <a:pt x="2614609" y="0"/>
                </a:lnTo>
                <a:quadBezTo>
                  <a:pt x="2709863" y="0"/>
                  <a:pt x="2709863" y="95253"/>
                </a:quadBezTo>
                <a:lnTo>
                  <a:pt x="2709863" y="819147"/>
                </a:lnTo>
                <a:quadBezTo>
                  <a:pt x="2709863" y="914400"/>
                  <a:pt x="2614609" y="914400"/>
                </a:quadBezTo>
                <a:lnTo>
                  <a:pt x="95253" y="914400"/>
                </a:lnTo>
                <a:quadBezTo>
                  <a:pt x="0" y="914400"/>
                  <a:pt x="0" y="819147"/>
                </a:quadBezTo>
                <a:lnTo>
                  <a:pt x="0" y="95253"/>
                </a:lnTo>
                <a:quadBezTo>
                  <a:pt x="0" y="0"/>
                  <a:pt x="95253" y="0"/>
                </a:quad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9" name="Shape 15"/>
          <p:cNvSpPr/>
          <p:nvPr/>
        </p:nvSpPr>
        <p:spPr>
          <a:xfrm>
            <a:off x="971550" y="2744332"/>
            <a:ext cx="276225" cy="276225"/>
          </a:xfrm>
          <a:custGeom>
            <a:avLst/>
            <a:gdLst/>
            <a:ahLst/>
            <a:cxnLst/>
            <a:rect l="l" t="t" r="r" b="b"/>
            <a:pathLst>
              <a:path w="276225" h="276225">
                <a:moveTo>
                  <a:pt x="59120" y="0"/>
                </a:moveTo>
                <a:lnTo>
                  <a:pt x="217105" y="0"/>
                </a:lnTo>
                <a:quadBezTo>
                  <a:pt x="276225" y="0"/>
                  <a:pt x="276225" y="59120"/>
                </a:quadBezTo>
                <a:lnTo>
                  <a:pt x="276225" y="217105"/>
                </a:lnTo>
                <a:quadBezTo>
                  <a:pt x="276225" y="276225"/>
                  <a:pt x="217105" y="276225"/>
                </a:quadBezTo>
                <a:lnTo>
                  <a:pt x="59120" y="276225"/>
                </a:lnTo>
                <a:quadBezTo>
                  <a:pt x="0" y="276225"/>
                  <a:pt x="0" y="217105"/>
                </a:quadBezTo>
                <a:lnTo>
                  <a:pt x="0" y="59120"/>
                </a:lnTo>
                <a:quadBezTo>
                  <a:pt x="0" y="0"/>
                  <a:pt x="59120" y="0"/>
                </a:quadBezTo>
                <a:close/>
              </a:path>
            </a:pathLst>
          </a:custGeom>
          <a:solidFill>
            <a:srgbClr val="EAF3F7"/>
          </a:solidFill>
          <a:ln/>
        </p:spPr>
      </p:sp>
      <p:pic>
        <p:nvPicPr>
          <p:cNvPr id="2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8225" y="2811007"/>
            <a:ext cx="142875" cy="142875"/>
          </a:xfrm>
          <a:prstGeom prst="rect">
            <a:avLst/>
          </a:prstGeom>
        </p:spPr>
      </p:pic>
      <p:sp>
        <p:nvSpPr>
          <p:cNvPr id="21" name="Shape 16"/>
          <p:cNvSpPr/>
          <p:nvPr/>
        </p:nvSpPr>
        <p:spPr>
          <a:xfrm>
            <a:off x="1352550" y="2743854"/>
            <a:ext cx="2005012" cy="138113"/>
          </a:xfrm>
          <a:custGeom>
            <a:avLst/>
            <a:gdLst/>
            <a:ahLst/>
            <a:cxnLst/>
            <a:rect l="l" t="t" r="r" b="b"/>
            <a:pathLst>
              <a:path w="2005012" h="138113">
                <a:moveTo>
                  <a:pt x="0" y="0"/>
                </a:moveTo>
                <a:lnTo>
                  <a:pt x="2005012" y="0"/>
                </a:lnTo>
                <a:lnTo>
                  <a:pt x="2005012" y="138113"/>
                </a:lnTo>
                <a:lnTo>
                  <a:pt x="0" y="138113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22" name="Text 17"/>
          <p:cNvSpPr/>
          <p:nvPr/>
        </p:nvSpPr>
        <p:spPr>
          <a:xfrm>
            <a:off x="1352550" y="2743854"/>
            <a:ext cx="2005012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4348"/>
              </a:lnSpc>
              <a:spcBef>
                <a:spcPts val="281"/>
              </a:spcBef>
              <a:buNone/>
            </a:pPr>
            <a:r>
              <a:rPr lang="en-US" sz="900" b="1" dirty="0">
                <a:solidFill>
                  <a:srgbClr val="0B1F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PDF Input</a:t>
            </a:r>
            <a:endParaRPr lang="en-US" sz="900" dirty="0"/>
          </a:p>
        </p:txBody>
      </p:sp>
      <p:sp>
        <p:nvSpPr>
          <p:cNvPr id="23" name="Shape 18"/>
          <p:cNvSpPr/>
          <p:nvPr/>
        </p:nvSpPr>
        <p:spPr>
          <a:xfrm>
            <a:off x="1352550" y="2939117"/>
            <a:ext cx="2005012" cy="261937"/>
          </a:xfrm>
          <a:custGeom>
            <a:avLst/>
            <a:gdLst/>
            <a:ahLst/>
            <a:cxnLst/>
            <a:rect l="l" t="t" r="r" b="b"/>
            <a:pathLst>
              <a:path w="2005012" h="261937">
                <a:moveTo>
                  <a:pt x="0" y="0"/>
                </a:moveTo>
                <a:lnTo>
                  <a:pt x="2005012" y="0"/>
                </a:lnTo>
                <a:lnTo>
                  <a:pt x="2005012" y="261937"/>
                </a:lnTo>
                <a:lnTo>
                  <a:pt x="0" y="261937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24" name="Text 19"/>
          <p:cNvSpPr/>
          <p:nvPr/>
        </p:nvSpPr>
        <p:spPr>
          <a:xfrm>
            <a:off x="1352550" y="2939117"/>
            <a:ext cx="2005012" cy="2619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8696"/>
              </a:lnSpc>
              <a:spcBef>
                <a:spcPts val="281"/>
              </a:spcBef>
              <a:buNone/>
            </a:pPr>
            <a:r>
              <a:rPr lang="en-US" sz="698" dirty="0">
                <a:solidFill>
                  <a:srgbClr val="3341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Accepts the financial report as the system’s source document.</a:t>
            </a:r>
            <a:endParaRPr lang="en-US" sz="900" dirty="0"/>
          </a:p>
        </p:txBody>
      </p:sp>
      <p:sp>
        <p:nvSpPr>
          <p:cNvPr id="25" name="Shape 20"/>
          <p:cNvSpPr/>
          <p:nvPr/>
        </p:nvSpPr>
        <p:spPr>
          <a:xfrm>
            <a:off x="971550" y="3334882"/>
            <a:ext cx="438150" cy="19050"/>
          </a:xfrm>
          <a:custGeom>
            <a:avLst/>
            <a:gdLst/>
            <a:ahLst/>
            <a:cxnLst/>
            <a:rect l="l" t="t" r="r" b="b"/>
            <a:pathLst>
              <a:path w="438150" h="19050">
                <a:moveTo>
                  <a:pt x="9525" y="0"/>
                </a:moveTo>
                <a:lnTo>
                  <a:pt x="428625" y="0"/>
                </a:lnTo>
                <a:quadBezTo>
                  <a:pt x="438150" y="0"/>
                  <a:pt x="438150" y="9525"/>
                </a:quadBezTo>
                <a:lnTo>
                  <a:pt x="438150" y="9525"/>
                </a:lnTo>
                <a:quadBezTo>
                  <a:pt x="438150" y="19050"/>
                  <a:pt x="428625" y="19050"/>
                </a:quadBezTo>
                <a:lnTo>
                  <a:pt x="9525" y="19050"/>
                </a:lnTo>
                <a:quadBezTo>
                  <a:pt x="0" y="19050"/>
                  <a:pt x="0" y="9525"/>
                </a:quadBezTo>
                <a:lnTo>
                  <a:pt x="0" y="9525"/>
                </a:lnTo>
                <a:quadBezTo>
                  <a:pt x="0" y="0"/>
                  <a:pt x="9525" y="0"/>
                </a:quadBezTo>
                <a:close/>
              </a:path>
            </a:pathLst>
          </a:custGeom>
          <a:solidFill>
            <a:srgbClr val="2F6B8E"/>
          </a:solidFill>
          <a:ln/>
        </p:spPr>
      </p:sp>
      <p:sp>
        <p:nvSpPr>
          <p:cNvPr id="26" name="Shape 21"/>
          <p:cNvSpPr/>
          <p:nvPr/>
        </p:nvSpPr>
        <p:spPr>
          <a:xfrm>
            <a:off x="3681412" y="2591932"/>
            <a:ext cx="2709863" cy="914400"/>
          </a:xfrm>
          <a:custGeom>
            <a:avLst/>
            <a:gdLst/>
            <a:ahLst/>
            <a:cxnLst/>
            <a:rect l="l" t="t" r="r" b="b"/>
            <a:pathLst>
              <a:path w="2709863" h="914400">
                <a:moveTo>
                  <a:pt x="95253" y="0"/>
                </a:moveTo>
                <a:lnTo>
                  <a:pt x="2614609" y="0"/>
                </a:lnTo>
                <a:quadBezTo>
                  <a:pt x="2709863" y="0"/>
                  <a:pt x="2709863" y="95253"/>
                </a:quadBezTo>
                <a:lnTo>
                  <a:pt x="2709863" y="819147"/>
                </a:lnTo>
                <a:quadBezTo>
                  <a:pt x="2709863" y="914400"/>
                  <a:pt x="2614609" y="914400"/>
                </a:quadBezTo>
                <a:lnTo>
                  <a:pt x="95253" y="914400"/>
                </a:lnTo>
                <a:quadBezTo>
                  <a:pt x="0" y="914400"/>
                  <a:pt x="0" y="819147"/>
                </a:quadBezTo>
                <a:lnTo>
                  <a:pt x="0" y="95253"/>
                </a:lnTo>
                <a:quadBezTo>
                  <a:pt x="0" y="0"/>
                  <a:pt x="95253" y="0"/>
                </a:quad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7" name="Shape 22"/>
          <p:cNvSpPr/>
          <p:nvPr/>
        </p:nvSpPr>
        <p:spPr>
          <a:xfrm>
            <a:off x="3843338" y="2744332"/>
            <a:ext cx="276225" cy="276225"/>
          </a:xfrm>
          <a:custGeom>
            <a:avLst/>
            <a:gdLst/>
            <a:ahLst/>
            <a:cxnLst/>
            <a:rect l="l" t="t" r="r" b="b"/>
            <a:pathLst>
              <a:path w="276225" h="276225">
                <a:moveTo>
                  <a:pt x="59120" y="0"/>
                </a:moveTo>
                <a:lnTo>
                  <a:pt x="217105" y="0"/>
                </a:lnTo>
                <a:quadBezTo>
                  <a:pt x="276225" y="0"/>
                  <a:pt x="276225" y="59120"/>
                </a:quadBezTo>
                <a:lnTo>
                  <a:pt x="276225" y="217105"/>
                </a:lnTo>
                <a:quadBezTo>
                  <a:pt x="276225" y="276225"/>
                  <a:pt x="217105" y="276225"/>
                </a:quadBezTo>
                <a:lnTo>
                  <a:pt x="59120" y="276225"/>
                </a:lnTo>
                <a:quadBezTo>
                  <a:pt x="0" y="276225"/>
                  <a:pt x="0" y="217105"/>
                </a:quadBezTo>
                <a:lnTo>
                  <a:pt x="0" y="59120"/>
                </a:lnTo>
                <a:quadBezTo>
                  <a:pt x="0" y="0"/>
                  <a:pt x="59120" y="0"/>
                </a:quadBezTo>
                <a:close/>
              </a:path>
            </a:pathLst>
          </a:custGeom>
          <a:solidFill>
            <a:srgbClr val="E8F4EF"/>
          </a:solidFill>
          <a:ln/>
        </p:spPr>
      </p:sp>
      <p:pic>
        <p:nvPicPr>
          <p:cNvPr id="2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10012" y="2811007"/>
            <a:ext cx="142875" cy="142875"/>
          </a:xfrm>
          <a:prstGeom prst="rect">
            <a:avLst/>
          </a:prstGeom>
        </p:spPr>
      </p:pic>
      <p:sp>
        <p:nvSpPr>
          <p:cNvPr id="29" name="Shape 23"/>
          <p:cNvSpPr/>
          <p:nvPr/>
        </p:nvSpPr>
        <p:spPr>
          <a:xfrm>
            <a:off x="4224337" y="2743854"/>
            <a:ext cx="2005012" cy="138113"/>
          </a:xfrm>
          <a:custGeom>
            <a:avLst/>
            <a:gdLst/>
            <a:ahLst/>
            <a:cxnLst/>
            <a:rect l="l" t="t" r="r" b="b"/>
            <a:pathLst>
              <a:path w="2005012" h="138113">
                <a:moveTo>
                  <a:pt x="0" y="0"/>
                </a:moveTo>
                <a:lnTo>
                  <a:pt x="2005012" y="0"/>
                </a:lnTo>
                <a:lnTo>
                  <a:pt x="2005012" y="138113"/>
                </a:lnTo>
                <a:lnTo>
                  <a:pt x="0" y="138113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30" name="Text 24"/>
          <p:cNvSpPr/>
          <p:nvPr/>
        </p:nvSpPr>
        <p:spPr>
          <a:xfrm>
            <a:off x="4224337" y="2743854"/>
            <a:ext cx="2005012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4348"/>
              </a:lnSpc>
              <a:spcBef>
                <a:spcPts val="281"/>
              </a:spcBef>
              <a:buNone/>
            </a:pPr>
            <a:r>
              <a:rPr lang="en-US" sz="900" b="1" dirty="0">
                <a:solidFill>
                  <a:srgbClr val="0B1F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PDF Extraction</a:t>
            </a:r>
            <a:endParaRPr lang="en-US" sz="900" dirty="0"/>
          </a:p>
        </p:txBody>
      </p:sp>
      <p:sp>
        <p:nvSpPr>
          <p:cNvPr id="31" name="Shape 25"/>
          <p:cNvSpPr/>
          <p:nvPr/>
        </p:nvSpPr>
        <p:spPr>
          <a:xfrm>
            <a:off x="4224337" y="2939117"/>
            <a:ext cx="2005012" cy="261937"/>
          </a:xfrm>
          <a:custGeom>
            <a:avLst/>
            <a:gdLst/>
            <a:ahLst/>
            <a:cxnLst/>
            <a:rect l="l" t="t" r="r" b="b"/>
            <a:pathLst>
              <a:path w="2005012" h="261937">
                <a:moveTo>
                  <a:pt x="0" y="0"/>
                </a:moveTo>
                <a:lnTo>
                  <a:pt x="2005012" y="0"/>
                </a:lnTo>
                <a:lnTo>
                  <a:pt x="2005012" y="261937"/>
                </a:lnTo>
                <a:lnTo>
                  <a:pt x="0" y="261937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32" name="Text 26"/>
          <p:cNvSpPr/>
          <p:nvPr/>
        </p:nvSpPr>
        <p:spPr>
          <a:xfrm>
            <a:off x="4224337" y="2939117"/>
            <a:ext cx="2005012" cy="2619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8696"/>
              </a:lnSpc>
              <a:spcBef>
                <a:spcPts val="281"/>
              </a:spcBef>
              <a:buNone/>
            </a:pPr>
            <a:r>
              <a:rPr lang="en-US" sz="698" dirty="0">
                <a:solidFill>
                  <a:srgbClr val="3341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Extracts the tables and figures needed for downstream analysis.</a:t>
            </a:r>
            <a:endParaRPr lang="en-US" sz="900" dirty="0"/>
          </a:p>
        </p:txBody>
      </p:sp>
      <p:sp>
        <p:nvSpPr>
          <p:cNvPr id="33" name="Shape 27"/>
          <p:cNvSpPr/>
          <p:nvPr/>
        </p:nvSpPr>
        <p:spPr>
          <a:xfrm>
            <a:off x="3843338" y="3334882"/>
            <a:ext cx="438150" cy="19050"/>
          </a:xfrm>
          <a:custGeom>
            <a:avLst/>
            <a:gdLst/>
            <a:ahLst/>
            <a:cxnLst/>
            <a:rect l="l" t="t" r="r" b="b"/>
            <a:pathLst>
              <a:path w="438150" h="19050">
                <a:moveTo>
                  <a:pt x="9525" y="0"/>
                </a:moveTo>
                <a:lnTo>
                  <a:pt x="428625" y="0"/>
                </a:lnTo>
                <a:quadBezTo>
                  <a:pt x="438150" y="0"/>
                  <a:pt x="438150" y="9525"/>
                </a:quadBezTo>
                <a:lnTo>
                  <a:pt x="438150" y="9525"/>
                </a:lnTo>
                <a:quadBezTo>
                  <a:pt x="438150" y="19050"/>
                  <a:pt x="428625" y="19050"/>
                </a:quadBezTo>
                <a:lnTo>
                  <a:pt x="9525" y="19050"/>
                </a:lnTo>
                <a:quadBezTo>
                  <a:pt x="0" y="19050"/>
                  <a:pt x="0" y="9525"/>
                </a:quadBezTo>
                <a:lnTo>
                  <a:pt x="0" y="9525"/>
                </a:lnTo>
                <a:quadBezTo>
                  <a:pt x="0" y="0"/>
                  <a:pt x="9525" y="0"/>
                </a:quadBezTo>
                <a:close/>
              </a:path>
            </a:pathLst>
          </a:custGeom>
          <a:solidFill>
            <a:srgbClr val="4AA3A2"/>
          </a:solidFill>
          <a:ln/>
        </p:spPr>
      </p:sp>
      <p:sp>
        <p:nvSpPr>
          <p:cNvPr id="34" name="Shape 28"/>
          <p:cNvSpPr/>
          <p:nvPr/>
        </p:nvSpPr>
        <p:spPr>
          <a:xfrm>
            <a:off x="809625" y="3639682"/>
            <a:ext cx="2709863" cy="914400"/>
          </a:xfrm>
          <a:custGeom>
            <a:avLst/>
            <a:gdLst/>
            <a:ahLst/>
            <a:cxnLst/>
            <a:rect l="l" t="t" r="r" b="b"/>
            <a:pathLst>
              <a:path w="2709863" h="914400">
                <a:moveTo>
                  <a:pt x="95253" y="0"/>
                </a:moveTo>
                <a:lnTo>
                  <a:pt x="2614609" y="0"/>
                </a:lnTo>
                <a:quadBezTo>
                  <a:pt x="2709863" y="0"/>
                  <a:pt x="2709863" y="95253"/>
                </a:quadBezTo>
                <a:lnTo>
                  <a:pt x="2709863" y="819147"/>
                </a:lnTo>
                <a:quadBezTo>
                  <a:pt x="2709863" y="914400"/>
                  <a:pt x="2614609" y="914400"/>
                </a:quadBezTo>
                <a:lnTo>
                  <a:pt x="95253" y="914400"/>
                </a:lnTo>
                <a:quadBezTo>
                  <a:pt x="0" y="914400"/>
                  <a:pt x="0" y="819147"/>
                </a:quadBezTo>
                <a:lnTo>
                  <a:pt x="0" y="95253"/>
                </a:lnTo>
                <a:quadBezTo>
                  <a:pt x="0" y="0"/>
                  <a:pt x="95253" y="0"/>
                </a:quad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35" name="Shape 29"/>
          <p:cNvSpPr/>
          <p:nvPr/>
        </p:nvSpPr>
        <p:spPr>
          <a:xfrm>
            <a:off x="971550" y="3792082"/>
            <a:ext cx="276225" cy="276225"/>
          </a:xfrm>
          <a:custGeom>
            <a:avLst/>
            <a:gdLst/>
            <a:ahLst/>
            <a:cxnLst/>
            <a:rect l="l" t="t" r="r" b="b"/>
            <a:pathLst>
              <a:path w="276225" h="276225">
                <a:moveTo>
                  <a:pt x="59120" y="0"/>
                </a:moveTo>
                <a:lnTo>
                  <a:pt x="217105" y="0"/>
                </a:lnTo>
                <a:quadBezTo>
                  <a:pt x="276225" y="0"/>
                  <a:pt x="276225" y="59120"/>
                </a:quadBezTo>
                <a:lnTo>
                  <a:pt x="276225" y="217105"/>
                </a:lnTo>
                <a:quadBezTo>
                  <a:pt x="276225" y="276225"/>
                  <a:pt x="217105" y="276225"/>
                </a:quadBezTo>
                <a:lnTo>
                  <a:pt x="59120" y="276225"/>
                </a:lnTo>
                <a:quadBezTo>
                  <a:pt x="0" y="276225"/>
                  <a:pt x="0" y="217105"/>
                </a:quadBezTo>
                <a:lnTo>
                  <a:pt x="0" y="59120"/>
                </a:lnTo>
                <a:quadBezTo>
                  <a:pt x="0" y="0"/>
                  <a:pt x="59120" y="0"/>
                </a:quadBezTo>
                <a:close/>
              </a:path>
            </a:pathLst>
          </a:custGeom>
          <a:solidFill>
            <a:srgbClr val="EEF3E8"/>
          </a:solidFill>
          <a:ln/>
        </p:spPr>
      </p:sp>
      <p:pic>
        <p:nvPicPr>
          <p:cNvPr id="3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8225" y="3858757"/>
            <a:ext cx="142875" cy="142875"/>
          </a:xfrm>
          <a:prstGeom prst="rect">
            <a:avLst/>
          </a:prstGeom>
        </p:spPr>
      </p:pic>
      <p:sp>
        <p:nvSpPr>
          <p:cNvPr id="37" name="Shape 30"/>
          <p:cNvSpPr/>
          <p:nvPr/>
        </p:nvSpPr>
        <p:spPr>
          <a:xfrm>
            <a:off x="1352550" y="3791604"/>
            <a:ext cx="2005012" cy="138113"/>
          </a:xfrm>
          <a:custGeom>
            <a:avLst/>
            <a:gdLst/>
            <a:ahLst/>
            <a:cxnLst/>
            <a:rect l="l" t="t" r="r" b="b"/>
            <a:pathLst>
              <a:path w="2005012" h="138113">
                <a:moveTo>
                  <a:pt x="0" y="0"/>
                </a:moveTo>
                <a:lnTo>
                  <a:pt x="2005012" y="0"/>
                </a:lnTo>
                <a:lnTo>
                  <a:pt x="2005012" y="138113"/>
                </a:lnTo>
                <a:lnTo>
                  <a:pt x="0" y="138113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38" name="Text 31"/>
          <p:cNvSpPr/>
          <p:nvPr/>
        </p:nvSpPr>
        <p:spPr>
          <a:xfrm>
            <a:off x="1352550" y="3791604"/>
            <a:ext cx="2005012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4348"/>
              </a:lnSpc>
              <a:spcBef>
                <a:spcPts val="281"/>
              </a:spcBef>
              <a:buNone/>
            </a:pPr>
            <a:r>
              <a:rPr lang="en-US" sz="900" b="1" dirty="0">
                <a:solidFill>
                  <a:srgbClr val="0B1F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Ratio Engine</a:t>
            </a:r>
            <a:endParaRPr lang="en-US" sz="900" dirty="0"/>
          </a:p>
        </p:txBody>
      </p:sp>
      <p:sp>
        <p:nvSpPr>
          <p:cNvPr id="39" name="Shape 32"/>
          <p:cNvSpPr/>
          <p:nvPr/>
        </p:nvSpPr>
        <p:spPr>
          <a:xfrm>
            <a:off x="1352550" y="3986867"/>
            <a:ext cx="2005012" cy="261937"/>
          </a:xfrm>
          <a:custGeom>
            <a:avLst/>
            <a:gdLst/>
            <a:ahLst/>
            <a:cxnLst/>
            <a:rect l="l" t="t" r="r" b="b"/>
            <a:pathLst>
              <a:path w="2005012" h="261937">
                <a:moveTo>
                  <a:pt x="0" y="0"/>
                </a:moveTo>
                <a:lnTo>
                  <a:pt x="2005012" y="0"/>
                </a:lnTo>
                <a:lnTo>
                  <a:pt x="2005012" y="261937"/>
                </a:lnTo>
                <a:lnTo>
                  <a:pt x="0" y="261937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40" name="Text 33"/>
          <p:cNvSpPr/>
          <p:nvPr/>
        </p:nvSpPr>
        <p:spPr>
          <a:xfrm>
            <a:off x="1352550" y="3986867"/>
            <a:ext cx="2005012" cy="2619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8696"/>
              </a:lnSpc>
              <a:spcBef>
                <a:spcPts val="281"/>
              </a:spcBef>
              <a:buNone/>
            </a:pPr>
            <a:r>
              <a:rPr lang="en-US" sz="698" dirty="0">
                <a:solidFill>
                  <a:srgbClr val="3341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Calculates financial ratios from the extracted report data.</a:t>
            </a:r>
            <a:endParaRPr lang="en-US" sz="900" dirty="0"/>
          </a:p>
        </p:txBody>
      </p:sp>
      <p:sp>
        <p:nvSpPr>
          <p:cNvPr id="41" name="Shape 34"/>
          <p:cNvSpPr/>
          <p:nvPr/>
        </p:nvSpPr>
        <p:spPr>
          <a:xfrm>
            <a:off x="971550" y="4382632"/>
            <a:ext cx="438150" cy="19050"/>
          </a:xfrm>
          <a:custGeom>
            <a:avLst/>
            <a:gdLst/>
            <a:ahLst/>
            <a:cxnLst/>
            <a:rect l="l" t="t" r="r" b="b"/>
            <a:pathLst>
              <a:path w="438150" h="19050">
                <a:moveTo>
                  <a:pt x="9525" y="0"/>
                </a:moveTo>
                <a:lnTo>
                  <a:pt x="428625" y="0"/>
                </a:lnTo>
                <a:quadBezTo>
                  <a:pt x="438150" y="0"/>
                  <a:pt x="438150" y="9525"/>
                </a:quadBezTo>
                <a:lnTo>
                  <a:pt x="438150" y="9525"/>
                </a:lnTo>
                <a:quadBezTo>
                  <a:pt x="438150" y="19050"/>
                  <a:pt x="428625" y="19050"/>
                </a:quadBezTo>
                <a:lnTo>
                  <a:pt x="9525" y="19050"/>
                </a:lnTo>
                <a:quadBezTo>
                  <a:pt x="0" y="19050"/>
                  <a:pt x="0" y="9525"/>
                </a:quadBezTo>
                <a:lnTo>
                  <a:pt x="0" y="9525"/>
                </a:lnTo>
                <a:quadBezTo>
                  <a:pt x="0" y="0"/>
                  <a:pt x="9525" y="0"/>
                </a:quadBezTo>
                <a:close/>
              </a:path>
            </a:pathLst>
          </a:custGeom>
          <a:solidFill>
            <a:srgbClr val="7CB342"/>
          </a:solidFill>
          <a:ln/>
        </p:spPr>
      </p:sp>
      <p:sp>
        <p:nvSpPr>
          <p:cNvPr id="42" name="Shape 35"/>
          <p:cNvSpPr/>
          <p:nvPr/>
        </p:nvSpPr>
        <p:spPr>
          <a:xfrm>
            <a:off x="3681412" y="3639682"/>
            <a:ext cx="2709863" cy="914400"/>
          </a:xfrm>
          <a:custGeom>
            <a:avLst/>
            <a:gdLst/>
            <a:ahLst/>
            <a:cxnLst/>
            <a:rect l="l" t="t" r="r" b="b"/>
            <a:pathLst>
              <a:path w="2709863" h="914400">
                <a:moveTo>
                  <a:pt x="95253" y="0"/>
                </a:moveTo>
                <a:lnTo>
                  <a:pt x="2614609" y="0"/>
                </a:lnTo>
                <a:quadBezTo>
                  <a:pt x="2709863" y="0"/>
                  <a:pt x="2709863" y="95253"/>
                </a:quadBezTo>
                <a:lnTo>
                  <a:pt x="2709863" y="819147"/>
                </a:lnTo>
                <a:quadBezTo>
                  <a:pt x="2709863" y="914400"/>
                  <a:pt x="2614609" y="914400"/>
                </a:quadBezTo>
                <a:lnTo>
                  <a:pt x="95253" y="914400"/>
                </a:lnTo>
                <a:quadBezTo>
                  <a:pt x="0" y="914400"/>
                  <a:pt x="0" y="819147"/>
                </a:quadBezTo>
                <a:lnTo>
                  <a:pt x="0" y="95253"/>
                </a:lnTo>
                <a:quadBezTo>
                  <a:pt x="0" y="0"/>
                  <a:pt x="95253" y="0"/>
                </a:quad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43" name="Shape 36"/>
          <p:cNvSpPr/>
          <p:nvPr/>
        </p:nvSpPr>
        <p:spPr>
          <a:xfrm>
            <a:off x="3843338" y="3792082"/>
            <a:ext cx="276225" cy="276225"/>
          </a:xfrm>
          <a:custGeom>
            <a:avLst/>
            <a:gdLst/>
            <a:ahLst/>
            <a:cxnLst/>
            <a:rect l="l" t="t" r="r" b="b"/>
            <a:pathLst>
              <a:path w="276225" h="276225">
                <a:moveTo>
                  <a:pt x="59120" y="0"/>
                </a:moveTo>
                <a:lnTo>
                  <a:pt x="217105" y="0"/>
                </a:lnTo>
                <a:quadBezTo>
                  <a:pt x="276225" y="0"/>
                  <a:pt x="276225" y="59120"/>
                </a:quadBezTo>
                <a:lnTo>
                  <a:pt x="276225" y="217105"/>
                </a:lnTo>
                <a:quadBezTo>
                  <a:pt x="276225" y="276225"/>
                  <a:pt x="217105" y="276225"/>
                </a:quadBezTo>
                <a:lnTo>
                  <a:pt x="59120" y="276225"/>
                </a:lnTo>
                <a:quadBezTo>
                  <a:pt x="0" y="276225"/>
                  <a:pt x="0" y="217105"/>
                </a:quadBezTo>
                <a:lnTo>
                  <a:pt x="0" y="59120"/>
                </a:lnTo>
                <a:quadBezTo>
                  <a:pt x="0" y="0"/>
                  <a:pt x="59120" y="0"/>
                </a:quadBezTo>
                <a:close/>
              </a:path>
            </a:pathLst>
          </a:custGeom>
          <a:solidFill>
            <a:srgbClr val="EEF0FB"/>
          </a:solidFill>
          <a:ln/>
        </p:spPr>
      </p:sp>
      <p:pic>
        <p:nvPicPr>
          <p:cNvPr id="44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910012" y="3858757"/>
            <a:ext cx="142875" cy="142875"/>
          </a:xfrm>
          <a:prstGeom prst="rect">
            <a:avLst/>
          </a:prstGeom>
        </p:spPr>
      </p:pic>
      <p:sp>
        <p:nvSpPr>
          <p:cNvPr id="45" name="Shape 37"/>
          <p:cNvSpPr/>
          <p:nvPr/>
        </p:nvSpPr>
        <p:spPr>
          <a:xfrm>
            <a:off x="4224337" y="3791604"/>
            <a:ext cx="2005012" cy="138113"/>
          </a:xfrm>
          <a:custGeom>
            <a:avLst/>
            <a:gdLst/>
            <a:ahLst/>
            <a:cxnLst/>
            <a:rect l="l" t="t" r="r" b="b"/>
            <a:pathLst>
              <a:path w="2005012" h="138113">
                <a:moveTo>
                  <a:pt x="0" y="0"/>
                </a:moveTo>
                <a:lnTo>
                  <a:pt x="2005012" y="0"/>
                </a:lnTo>
                <a:lnTo>
                  <a:pt x="2005012" y="138113"/>
                </a:lnTo>
                <a:lnTo>
                  <a:pt x="0" y="138113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46" name="Text 38"/>
          <p:cNvSpPr/>
          <p:nvPr/>
        </p:nvSpPr>
        <p:spPr>
          <a:xfrm>
            <a:off x="4224337" y="3791604"/>
            <a:ext cx="2005012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4348"/>
              </a:lnSpc>
              <a:spcBef>
                <a:spcPts val="281"/>
              </a:spcBef>
              <a:buNone/>
            </a:pPr>
            <a:r>
              <a:rPr lang="en-US" sz="900" b="1" dirty="0">
                <a:solidFill>
                  <a:srgbClr val="0B1F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Output</a:t>
            </a:r>
            <a:endParaRPr lang="en-US" sz="900" dirty="0"/>
          </a:p>
        </p:txBody>
      </p:sp>
      <p:sp>
        <p:nvSpPr>
          <p:cNvPr id="47" name="Shape 39"/>
          <p:cNvSpPr/>
          <p:nvPr/>
        </p:nvSpPr>
        <p:spPr>
          <a:xfrm>
            <a:off x="4224337" y="3986867"/>
            <a:ext cx="2005012" cy="261937"/>
          </a:xfrm>
          <a:custGeom>
            <a:avLst/>
            <a:gdLst/>
            <a:ahLst/>
            <a:cxnLst/>
            <a:rect l="l" t="t" r="r" b="b"/>
            <a:pathLst>
              <a:path w="2005012" h="261937">
                <a:moveTo>
                  <a:pt x="0" y="0"/>
                </a:moveTo>
                <a:lnTo>
                  <a:pt x="2005012" y="0"/>
                </a:lnTo>
                <a:lnTo>
                  <a:pt x="2005012" y="261937"/>
                </a:lnTo>
                <a:lnTo>
                  <a:pt x="0" y="261937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48" name="Text 40"/>
          <p:cNvSpPr/>
          <p:nvPr/>
        </p:nvSpPr>
        <p:spPr>
          <a:xfrm>
            <a:off x="4224337" y="3986867"/>
            <a:ext cx="2005012" cy="2619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8696"/>
              </a:lnSpc>
              <a:spcBef>
                <a:spcPts val="281"/>
              </a:spcBef>
              <a:buNone/>
            </a:pPr>
            <a:r>
              <a:rPr lang="en-US" sz="698" dirty="0">
                <a:solidFill>
                  <a:srgbClr val="3341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Presents the calculated results in a clear, usable format.</a:t>
            </a:r>
            <a:endParaRPr lang="en-US" sz="900" dirty="0"/>
          </a:p>
        </p:txBody>
      </p:sp>
      <p:sp>
        <p:nvSpPr>
          <p:cNvPr id="49" name="Shape 41"/>
          <p:cNvSpPr/>
          <p:nvPr/>
        </p:nvSpPr>
        <p:spPr>
          <a:xfrm>
            <a:off x="3843338" y="4382632"/>
            <a:ext cx="438150" cy="19050"/>
          </a:xfrm>
          <a:custGeom>
            <a:avLst/>
            <a:gdLst/>
            <a:ahLst/>
            <a:cxnLst/>
            <a:rect l="l" t="t" r="r" b="b"/>
            <a:pathLst>
              <a:path w="438150" h="19050">
                <a:moveTo>
                  <a:pt x="9525" y="0"/>
                </a:moveTo>
                <a:lnTo>
                  <a:pt x="428625" y="0"/>
                </a:lnTo>
                <a:quadBezTo>
                  <a:pt x="438150" y="0"/>
                  <a:pt x="438150" y="9525"/>
                </a:quadBezTo>
                <a:lnTo>
                  <a:pt x="438150" y="9525"/>
                </a:lnTo>
                <a:quadBezTo>
                  <a:pt x="438150" y="19050"/>
                  <a:pt x="428625" y="19050"/>
                </a:quadBezTo>
                <a:lnTo>
                  <a:pt x="9525" y="19050"/>
                </a:lnTo>
                <a:quadBezTo>
                  <a:pt x="0" y="19050"/>
                  <a:pt x="0" y="9525"/>
                </a:quadBezTo>
                <a:lnTo>
                  <a:pt x="0" y="9525"/>
                </a:lnTo>
                <a:quadBezTo>
                  <a:pt x="0" y="0"/>
                  <a:pt x="9525" y="0"/>
                </a:quadBezTo>
                <a:close/>
              </a:path>
            </a:pathLst>
          </a:custGeom>
          <a:solidFill>
            <a:srgbClr val="5C7AEA"/>
          </a:solidFill>
          <a:ln/>
        </p:spPr>
      </p:sp>
      <p:sp>
        <p:nvSpPr>
          <p:cNvPr id="50" name="Shape 42"/>
          <p:cNvSpPr/>
          <p:nvPr/>
        </p:nvSpPr>
        <p:spPr>
          <a:xfrm>
            <a:off x="6943725" y="1737449"/>
            <a:ext cx="1666875" cy="3062287"/>
          </a:xfrm>
          <a:custGeom>
            <a:avLst/>
            <a:gdLst/>
            <a:ahLst/>
            <a:cxnLst/>
            <a:rect l="l" t="t" r="r" b="b"/>
            <a:pathLst>
              <a:path w="1666875" h="3062287">
                <a:moveTo>
                  <a:pt x="73159" y="0"/>
                </a:moveTo>
                <a:lnTo>
                  <a:pt x="1593716" y="0"/>
                </a:lnTo>
                <a:quadBezTo>
                  <a:pt x="1666875" y="0"/>
                  <a:pt x="1666875" y="73159"/>
                </a:quadBezTo>
                <a:lnTo>
                  <a:pt x="1666875" y="2989128"/>
                </a:lnTo>
                <a:quadBezTo>
                  <a:pt x="1666875" y="3062287"/>
                  <a:pt x="1593716" y="3062287"/>
                </a:quadBezTo>
                <a:lnTo>
                  <a:pt x="73159" y="3062287"/>
                </a:lnTo>
                <a:quadBezTo>
                  <a:pt x="0" y="3062287"/>
                  <a:pt x="0" y="2989128"/>
                </a:quadBezTo>
                <a:lnTo>
                  <a:pt x="0" y="73159"/>
                </a:lnTo>
                <a:quadBezTo>
                  <a:pt x="0" y="0"/>
                  <a:pt x="73159" y="0"/>
                </a:quadBezTo>
                <a:close/>
              </a:path>
            </a:pathLst>
          </a:custGeom>
          <a:solidFill>
            <a:srgbClr val="0B1F3A"/>
          </a:solidFill>
          <a:ln/>
        </p:spPr>
      </p:sp>
      <p:sp>
        <p:nvSpPr>
          <p:cNvPr id="51" name="Shape 43"/>
          <p:cNvSpPr/>
          <p:nvPr/>
        </p:nvSpPr>
        <p:spPr>
          <a:xfrm>
            <a:off x="7124700" y="1937443"/>
            <a:ext cx="1304925" cy="119062"/>
          </a:xfrm>
          <a:custGeom>
            <a:avLst/>
            <a:gdLst/>
            <a:ahLst/>
            <a:cxnLst/>
            <a:rect l="l" t="t" r="r" b="b"/>
            <a:pathLst>
              <a:path w="1304925" h="119062">
                <a:moveTo>
                  <a:pt x="0" y="0"/>
                </a:moveTo>
                <a:lnTo>
                  <a:pt x="1304925" y="0"/>
                </a:lnTo>
                <a:lnTo>
                  <a:pt x="1304925" y="119062"/>
                </a:lnTo>
                <a:lnTo>
                  <a:pt x="0" y="119062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52" name="Text 44"/>
          <p:cNvSpPr/>
          <p:nvPr/>
        </p:nvSpPr>
        <p:spPr>
          <a:xfrm>
            <a:off x="7124700" y="1937443"/>
            <a:ext cx="1304925" cy="1190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261"/>
              </a:lnSpc>
              <a:spcBef>
                <a:spcPts val="281"/>
              </a:spcBef>
              <a:buNone/>
            </a:pPr>
            <a:r>
              <a:rPr lang="en-US" sz="698" b="1" dirty="0">
                <a:solidFill>
                  <a:srgbClr val="7CB34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CORE LOGIC</a:t>
            </a:r>
            <a:endParaRPr lang="en-US" sz="900" dirty="0"/>
          </a:p>
        </p:txBody>
      </p:sp>
      <p:sp>
        <p:nvSpPr>
          <p:cNvPr id="53" name="Shape 45"/>
          <p:cNvSpPr/>
          <p:nvPr/>
        </p:nvSpPr>
        <p:spPr>
          <a:xfrm>
            <a:off x="7124700" y="2172712"/>
            <a:ext cx="1304925" cy="881063"/>
          </a:xfrm>
          <a:custGeom>
            <a:avLst/>
            <a:gdLst/>
            <a:ahLst/>
            <a:cxnLst/>
            <a:rect l="l" t="t" r="r" b="b"/>
            <a:pathLst>
              <a:path w="1304925" h="881063">
                <a:moveTo>
                  <a:pt x="0" y="0"/>
                </a:moveTo>
                <a:lnTo>
                  <a:pt x="1304925" y="0"/>
                </a:lnTo>
                <a:lnTo>
                  <a:pt x="1304925" y="881063"/>
                </a:lnTo>
                <a:lnTo>
                  <a:pt x="0" y="881063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54" name="Text 46"/>
          <p:cNvSpPr/>
          <p:nvPr/>
        </p:nvSpPr>
        <p:spPr>
          <a:xfrm>
            <a:off x="7124700" y="2172712"/>
            <a:ext cx="1304925" cy="8810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3913"/>
              </a:lnSpc>
              <a:spcBef>
                <a:spcPts val="973"/>
              </a:spcBef>
              <a:buNone/>
            </a:pPr>
            <a:r>
              <a:rPr lang="en-US" sz="1502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Reliable inputs.</a:t>
            </a:r>
            <a:endParaRPr lang="en-US" sz="900" dirty="0"/>
          </a:p>
          <a:p>
            <a:pPr marL="0" indent="0" algn="l">
              <a:lnSpc>
                <a:spcPct val="93913"/>
              </a:lnSpc>
              <a:spcBef>
                <a:spcPts val="973"/>
              </a:spcBef>
              <a:buNone/>
            </a:pPr>
            <a:r>
              <a:rPr lang="en-US" sz="1502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Traceable results.</a:t>
            </a:r>
            <a:endParaRPr lang="en-US" sz="900" dirty="0"/>
          </a:p>
        </p:txBody>
      </p:sp>
      <p:sp>
        <p:nvSpPr>
          <p:cNvPr id="55" name="Shape 47"/>
          <p:cNvSpPr/>
          <p:nvPr/>
        </p:nvSpPr>
        <p:spPr>
          <a:xfrm>
            <a:off x="7124700" y="3178076"/>
            <a:ext cx="1304925" cy="690562"/>
          </a:xfrm>
          <a:custGeom>
            <a:avLst/>
            <a:gdLst/>
            <a:ahLst/>
            <a:cxnLst/>
            <a:rect l="l" t="t" r="r" b="b"/>
            <a:pathLst>
              <a:path w="1304925" h="690562">
                <a:moveTo>
                  <a:pt x="0" y="0"/>
                </a:moveTo>
                <a:lnTo>
                  <a:pt x="1304925" y="0"/>
                </a:lnTo>
                <a:lnTo>
                  <a:pt x="1304925" y="690562"/>
                </a:lnTo>
                <a:lnTo>
                  <a:pt x="0" y="690562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56" name="Text 48"/>
          <p:cNvSpPr/>
          <p:nvPr/>
        </p:nvSpPr>
        <p:spPr>
          <a:xfrm>
            <a:off x="7124700" y="3178076"/>
            <a:ext cx="1304925" cy="6905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1304"/>
              </a:lnSpc>
              <a:spcBef>
                <a:spcPts val="281"/>
              </a:spcBef>
              <a:buNone/>
            </a:pPr>
            <a:r>
              <a:rPr lang="en-US" sz="900" dirty="0">
                <a:solidFill>
                  <a:srgbClr val="D7E2E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architecture keeps extraction, calculation, and presentation distinct.</a:t>
            </a:r>
            <a:endParaRPr lang="en-US" sz="900" dirty="0"/>
          </a:p>
        </p:txBody>
      </p:sp>
      <p:sp>
        <p:nvSpPr>
          <p:cNvPr id="57" name="Shape 49"/>
          <p:cNvSpPr/>
          <p:nvPr/>
        </p:nvSpPr>
        <p:spPr>
          <a:xfrm>
            <a:off x="7124700" y="3867418"/>
            <a:ext cx="1304925" cy="890587"/>
          </a:xfrm>
          <a:custGeom>
            <a:avLst/>
            <a:gdLst/>
            <a:ahLst/>
            <a:cxnLst/>
            <a:rect l="l" t="t" r="r" b="b"/>
            <a:pathLst>
              <a:path w="1304925" h="890587">
                <a:moveTo>
                  <a:pt x="0" y="0"/>
                </a:moveTo>
                <a:lnTo>
                  <a:pt x="1304925" y="0"/>
                </a:lnTo>
                <a:lnTo>
                  <a:pt x="1304925" y="890587"/>
                </a:lnTo>
                <a:lnTo>
                  <a:pt x="0" y="890587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pic>
        <p:nvPicPr>
          <p:cNvPr id="58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124700" y="4078009"/>
            <a:ext cx="128588" cy="128588"/>
          </a:xfrm>
          <a:prstGeom prst="rect">
            <a:avLst/>
          </a:prstGeom>
        </p:spPr>
      </p:pic>
      <p:sp>
        <p:nvSpPr>
          <p:cNvPr id="59" name="Shape 50"/>
          <p:cNvSpPr/>
          <p:nvPr/>
        </p:nvSpPr>
        <p:spPr>
          <a:xfrm>
            <a:off x="7319962" y="4004191"/>
            <a:ext cx="1109662" cy="276225"/>
          </a:xfrm>
          <a:custGeom>
            <a:avLst/>
            <a:gdLst/>
            <a:ahLst/>
            <a:cxnLst/>
            <a:rect l="l" t="t" r="r" b="b"/>
            <a:pathLst>
              <a:path w="1109662" h="276225">
                <a:moveTo>
                  <a:pt x="0" y="0"/>
                </a:moveTo>
                <a:lnTo>
                  <a:pt x="1109662" y="0"/>
                </a:lnTo>
                <a:lnTo>
                  <a:pt x="1109662" y="276225"/>
                </a:lnTo>
                <a:lnTo>
                  <a:pt x="0" y="276225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60" name="Text 51"/>
          <p:cNvSpPr/>
          <p:nvPr/>
        </p:nvSpPr>
        <p:spPr>
          <a:xfrm>
            <a:off x="7319962" y="4004191"/>
            <a:ext cx="1109662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7391"/>
              </a:lnSpc>
              <a:spcBef>
                <a:spcPts val="281"/>
              </a:spcBef>
              <a:buNone/>
            </a:pPr>
            <a:r>
              <a:rPr lang="en-US" sz="799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Clear separation of responsibilities</a:t>
            </a:r>
            <a:endParaRPr lang="en-US" sz="900" dirty="0"/>
          </a:p>
        </p:txBody>
      </p:sp>
      <p:pic>
        <p:nvPicPr>
          <p:cNvPr id="61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124700" y="4487407"/>
            <a:ext cx="128588" cy="128588"/>
          </a:xfrm>
          <a:prstGeom prst="rect">
            <a:avLst/>
          </a:prstGeom>
        </p:spPr>
      </p:pic>
      <p:sp>
        <p:nvSpPr>
          <p:cNvPr id="62" name="Shape 52"/>
          <p:cNvSpPr/>
          <p:nvPr/>
        </p:nvSpPr>
        <p:spPr>
          <a:xfrm>
            <a:off x="7319962" y="4346942"/>
            <a:ext cx="1109662" cy="409575"/>
          </a:xfrm>
          <a:custGeom>
            <a:avLst/>
            <a:gdLst/>
            <a:ahLst/>
            <a:cxnLst/>
            <a:rect l="l" t="t" r="r" b="b"/>
            <a:pathLst>
              <a:path w="1109662" h="409575">
                <a:moveTo>
                  <a:pt x="0" y="0"/>
                </a:moveTo>
                <a:lnTo>
                  <a:pt x="1109662" y="0"/>
                </a:lnTo>
                <a:lnTo>
                  <a:pt x="1109662" y="409575"/>
                </a:lnTo>
                <a:lnTo>
                  <a:pt x="0" y="409575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63" name="Text 53"/>
          <p:cNvSpPr/>
          <p:nvPr/>
        </p:nvSpPr>
        <p:spPr>
          <a:xfrm>
            <a:off x="7319962" y="4346942"/>
            <a:ext cx="1109662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7391"/>
              </a:lnSpc>
              <a:spcBef>
                <a:spcPts val="281"/>
              </a:spcBef>
              <a:buNone/>
            </a:pPr>
            <a:r>
              <a:rPr lang="en-US" sz="799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Financial insight stays grounded in source data</a:t>
            </a:r>
            <a:endParaRPr lang="en-US" sz="900" dirty="0"/>
          </a:p>
        </p:txBody>
      </p:sp>
      <p:pic>
        <p:nvPicPr>
          <p:cNvPr id="64" name="Image 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124700" y="3867418"/>
            <a:ext cx="1304925" cy="890587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0" y="0"/>
                </a:moveTo>
                <a:lnTo>
                  <a:pt x="9144000" y="0"/>
                </a:lnTo>
                <a:lnTo>
                  <a:pt x="9144000" y="5143500"/>
                </a:lnTo>
                <a:lnTo>
                  <a:pt x="0" y="514350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4" name="Shape 1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0" y="0"/>
                </a:moveTo>
                <a:lnTo>
                  <a:pt x="9144000" y="0"/>
                </a:lnTo>
                <a:lnTo>
                  <a:pt x="9144000" y="5143500"/>
                </a:lnTo>
                <a:lnTo>
                  <a:pt x="0" y="514350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5" name="Shape 2"/>
          <p:cNvSpPr/>
          <p:nvPr/>
        </p:nvSpPr>
        <p:spPr>
          <a:xfrm>
            <a:off x="438150" y="361474"/>
            <a:ext cx="8267700" cy="138113"/>
          </a:xfrm>
          <a:custGeom>
            <a:avLst/>
            <a:gdLst/>
            <a:ahLst/>
            <a:cxnLst/>
            <a:rect l="l" t="t" r="r" b="b"/>
            <a:pathLst>
              <a:path w="8267700" h="138113">
                <a:moveTo>
                  <a:pt x="0" y="0"/>
                </a:moveTo>
                <a:lnTo>
                  <a:pt x="8267700" y="0"/>
                </a:lnTo>
                <a:lnTo>
                  <a:pt x="8267700" y="138113"/>
                </a:lnTo>
                <a:lnTo>
                  <a:pt x="0" y="138113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6" name="Text 3"/>
          <p:cNvSpPr/>
          <p:nvPr/>
        </p:nvSpPr>
        <p:spPr>
          <a:xfrm>
            <a:off x="438150" y="361474"/>
            <a:ext cx="8267700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4348"/>
              </a:lnSpc>
              <a:spcBef>
                <a:spcPts val="281"/>
              </a:spcBef>
              <a:buNone/>
            </a:pPr>
            <a:r>
              <a:rPr lang="en-US" sz="900" b="1" dirty="0">
                <a:solidFill>
                  <a:srgbClr val="2F6B8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DATA PIPELINE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438150" y="566826"/>
            <a:ext cx="8267700" cy="347663"/>
          </a:xfrm>
          <a:custGeom>
            <a:avLst/>
            <a:gdLst/>
            <a:ahLst/>
            <a:cxnLst/>
            <a:rect l="l" t="t" r="r" b="b"/>
            <a:pathLst>
              <a:path w="8267700" h="347663">
                <a:moveTo>
                  <a:pt x="0" y="0"/>
                </a:moveTo>
                <a:lnTo>
                  <a:pt x="8267700" y="0"/>
                </a:lnTo>
                <a:lnTo>
                  <a:pt x="8267700" y="347663"/>
                </a:lnTo>
                <a:lnTo>
                  <a:pt x="0" y="347663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8" name="Text 5"/>
          <p:cNvSpPr/>
          <p:nvPr/>
        </p:nvSpPr>
        <p:spPr>
          <a:xfrm>
            <a:off x="438150" y="566826"/>
            <a:ext cx="8267700" cy="3476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5652"/>
              </a:lnSpc>
              <a:spcBef>
                <a:spcPts val="281"/>
              </a:spcBef>
              <a:buNone/>
            </a:pPr>
            <a:r>
              <a:rPr lang="en-US" sz="2498" b="1" dirty="0">
                <a:solidFill>
                  <a:srgbClr val="0B1F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Module Interaction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438150" y="982682"/>
            <a:ext cx="5619750" cy="204787"/>
          </a:xfrm>
          <a:custGeom>
            <a:avLst/>
            <a:gdLst/>
            <a:ahLst/>
            <a:cxnLst/>
            <a:rect l="l" t="t" r="r" b="b"/>
            <a:pathLst>
              <a:path w="5619750" h="204787">
                <a:moveTo>
                  <a:pt x="0" y="0"/>
                </a:moveTo>
                <a:lnTo>
                  <a:pt x="5619750" y="0"/>
                </a:lnTo>
                <a:lnTo>
                  <a:pt x="5619750" y="204787"/>
                </a:lnTo>
                <a:lnTo>
                  <a:pt x="0" y="204787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10" name="Text 7"/>
          <p:cNvSpPr/>
          <p:nvPr/>
        </p:nvSpPr>
        <p:spPr>
          <a:xfrm>
            <a:off x="438150" y="982682"/>
            <a:ext cx="5619750" cy="2047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7391"/>
              </a:lnSpc>
              <a:spcBef>
                <a:spcPts val="281"/>
              </a:spcBef>
              <a:buNone/>
            </a:pPr>
            <a:r>
              <a:rPr lang="en-US" sz="1198" dirty="0">
                <a:solidFill>
                  <a:srgbClr val="5B6B7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Each stage improves the financial signal before it reaches analysis.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436959" y="1934141"/>
            <a:ext cx="1719263" cy="1971675"/>
          </a:xfrm>
          <a:custGeom>
            <a:avLst/>
            <a:gdLst/>
            <a:ahLst/>
            <a:cxnLst/>
            <a:rect l="l" t="t" r="r" b="b"/>
            <a:pathLst>
              <a:path w="1719263" h="1971675">
                <a:moveTo>
                  <a:pt x="45595" y="0"/>
                </a:moveTo>
                <a:lnTo>
                  <a:pt x="1673668" y="0"/>
                </a:lnTo>
                <a:quadBezTo>
                  <a:pt x="1719263" y="0"/>
                  <a:pt x="1719263" y="45595"/>
                </a:quadBezTo>
                <a:lnTo>
                  <a:pt x="1719263" y="1926080"/>
                </a:lnTo>
                <a:quadBezTo>
                  <a:pt x="1719263" y="1971675"/>
                  <a:pt x="1673668" y="1971675"/>
                </a:quadBezTo>
                <a:lnTo>
                  <a:pt x="45595" y="1971675"/>
                </a:lnTo>
                <a:quadBezTo>
                  <a:pt x="0" y="1971675"/>
                  <a:pt x="0" y="1926080"/>
                </a:quadBezTo>
                <a:lnTo>
                  <a:pt x="0" y="45595"/>
                </a:lnTo>
                <a:quadBezTo>
                  <a:pt x="0" y="0"/>
                  <a:pt x="45595" y="0"/>
                </a:quadBezTo>
                <a:close/>
              </a:path>
            </a:pathLst>
          </a:custGeom>
          <a:solidFill>
            <a:srgbClr val="F6F9FC"/>
          </a:solidFill>
          <a:ln/>
        </p:spPr>
      </p:sp>
      <p:sp>
        <p:nvSpPr>
          <p:cNvPr id="12" name="Shape 9"/>
          <p:cNvSpPr/>
          <p:nvPr/>
        </p:nvSpPr>
        <p:spPr>
          <a:xfrm>
            <a:off x="600075" y="2135326"/>
            <a:ext cx="352425" cy="352425"/>
          </a:xfrm>
          <a:custGeom>
            <a:avLst/>
            <a:gdLst/>
            <a:ahLst/>
            <a:cxnLst/>
            <a:rect l="l" t="t" r="r" b="b"/>
            <a:pathLst>
              <a:path w="352425" h="352425">
                <a:moveTo>
                  <a:pt x="49428" y="0"/>
                </a:moveTo>
                <a:lnTo>
                  <a:pt x="302997" y="0"/>
                </a:lnTo>
                <a:quadBezTo>
                  <a:pt x="352425" y="0"/>
                  <a:pt x="352425" y="49428"/>
                </a:quadBezTo>
                <a:lnTo>
                  <a:pt x="352425" y="302997"/>
                </a:lnTo>
                <a:quadBezTo>
                  <a:pt x="352425" y="352425"/>
                  <a:pt x="302997" y="352425"/>
                </a:quadBezTo>
                <a:lnTo>
                  <a:pt x="49428" y="352425"/>
                </a:lnTo>
                <a:quadBezTo>
                  <a:pt x="0" y="352425"/>
                  <a:pt x="0" y="302997"/>
                </a:quadBezTo>
                <a:lnTo>
                  <a:pt x="0" y="49428"/>
                </a:lnTo>
                <a:quadBezTo>
                  <a:pt x="0" y="0"/>
                  <a:pt x="49428" y="0"/>
                </a:quadBezTo>
                <a:close/>
              </a:path>
            </a:pathLst>
          </a:custGeom>
          <a:solidFill>
            <a:srgbClr val="EAF3F7"/>
          </a:solidFill>
          <a:ln/>
        </p:spPr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5325" y="2230576"/>
            <a:ext cx="161925" cy="161925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598884" y="2630894"/>
            <a:ext cx="1395412" cy="190500"/>
          </a:xfrm>
          <a:custGeom>
            <a:avLst/>
            <a:gdLst/>
            <a:ahLst/>
            <a:cxnLst/>
            <a:rect l="l" t="t" r="r" b="b"/>
            <a:pathLst>
              <a:path w="1395412" h="190500">
                <a:moveTo>
                  <a:pt x="0" y="0"/>
                </a:moveTo>
                <a:lnTo>
                  <a:pt x="1395412" y="0"/>
                </a:lnTo>
                <a:lnTo>
                  <a:pt x="1395412" y="190500"/>
                </a:lnTo>
                <a:lnTo>
                  <a:pt x="0" y="190500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15" name="Text 11"/>
          <p:cNvSpPr/>
          <p:nvPr/>
        </p:nvSpPr>
        <p:spPr>
          <a:xfrm>
            <a:off x="598884" y="2630894"/>
            <a:ext cx="1395412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696"/>
              </a:lnSpc>
              <a:spcBef>
                <a:spcPts val="281"/>
              </a:spcBef>
              <a:buNone/>
            </a:pPr>
            <a:r>
              <a:rPr lang="en-US" sz="1198" b="1" dirty="0">
                <a:solidFill>
                  <a:srgbClr val="0B1F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Extraction</a:t>
            </a:r>
            <a:endParaRPr lang="en-US" sz="900" dirty="0"/>
          </a:p>
        </p:txBody>
      </p:sp>
      <p:sp>
        <p:nvSpPr>
          <p:cNvPr id="16" name="Shape 12"/>
          <p:cNvSpPr/>
          <p:nvPr/>
        </p:nvSpPr>
        <p:spPr>
          <a:xfrm>
            <a:off x="598884" y="2882384"/>
            <a:ext cx="1395412" cy="495300"/>
          </a:xfrm>
          <a:custGeom>
            <a:avLst/>
            <a:gdLst/>
            <a:ahLst/>
            <a:cxnLst/>
            <a:rect l="l" t="t" r="r" b="b"/>
            <a:pathLst>
              <a:path w="1395412" h="495300">
                <a:moveTo>
                  <a:pt x="0" y="0"/>
                </a:moveTo>
                <a:lnTo>
                  <a:pt x="1395412" y="0"/>
                </a:lnTo>
                <a:lnTo>
                  <a:pt x="1395412" y="495300"/>
                </a:lnTo>
                <a:lnTo>
                  <a:pt x="0" y="495300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17" name="Text 13"/>
          <p:cNvSpPr/>
          <p:nvPr/>
        </p:nvSpPr>
        <p:spPr>
          <a:xfrm>
            <a:off x="598884" y="2882384"/>
            <a:ext cx="1395412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217"/>
              </a:lnSpc>
              <a:spcBef>
                <a:spcPts val="281"/>
              </a:spcBef>
              <a:buNone/>
            </a:pPr>
            <a:r>
              <a:rPr lang="en-US" sz="900" dirty="0">
                <a:solidFill>
                  <a:srgbClr val="5B6B7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Produces raw financial information from source documents.</a:t>
            </a:r>
            <a:endParaRPr lang="en-US" sz="900" dirty="0"/>
          </a:p>
        </p:txBody>
      </p:sp>
      <p:sp>
        <p:nvSpPr>
          <p:cNvPr id="18" name="Shape 14"/>
          <p:cNvSpPr/>
          <p:nvPr/>
        </p:nvSpPr>
        <p:spPr>
          <a:xfrm>
            <a:off x="598884" y="3509606"/>
            <a:ext cx="1395412" cy="214313"/>
          </a:xfrm>
          <a:custGeom>
            <a:avLst/>
            <a:gdLst/>
            <a:ahLst/>
            <a:cxnLst/>
            <a:rect l="l" t="t" r="r" b="b"/>
            <a:pathLst>
              <a:path w="1395412" h="214313">
                <a:moveTo>
                  <a:pt x="0" y="0"/>
                </a:moveTo>
                <a:lnTo>
                  <a:pt x="1395412" y="0"/>
                </a:lnTo>
                <a:lnTo>
                  <a:pt x="1395412" y="214313"/>
                </a:lnTo>
                <a:lnTo>
                  <a:pt x="0" y="214313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19" name="Text 15"/>
          <p:cNvSpPr/>
          <p:nvPr/>
        </p:nvSpPr>
        <p:spPr>
          <a:xfrm>
            <a:off x="598884" y="3509606"/>
            <a:ext cx="1395412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174"/>
              </a:lnSpc>
              <a:spcBef>
                <a:spcPts val="281"/>
              </a:spcBef>
              <a:buNone/>
            </a:pPr>
            <a:r>
              <a:rPr lang="en-US" sz="799" b="1" dirty="0">
                <a:solidFill>
                  <a:srgbClr val="2F6B8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Raw information</a:t>
            </a:r>
            <a:endParaRPr lang="en-US" sz="900" dirty="0"/>
          </a:p>
        </p:txBody>
      </p:sp>
      <p:pic>
        <p:nvPicPr>
          <p:cNvPr id="2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07431" y="2838986"/>
            <a:ext cx="161925" cy="161925"/>
          </a:xfrm>
          <a:prstGeom prst="rect">
            <a:avLst/>
          </a:prstGeom>
        </p:spPr>
      </p:pic>
      <p:sp>
        <p:nvSpPr>
          <p:cNvPr id="21" name="Shape 16"/>
          <p:cNvSpPr/>
          <p:nvPr/>
        </p:nvSpPr>
        <p:spPr>
          <a:xfrm>
            <a:off x="2620566" y="1934141"/>
            <a:ext cx="1719263" cy="1971675"/>
          </a:xfrm>
          <a:custGeom>
            <a:avLst/>
            <a:gdLst/>
            <a:ahLst/>
            <a:cxnLst/>
            <a:rect l="l" t="t" r="r" b="b"/>
            <a:pathLst>
              <a:path w="1719263" h="1971675">
                <a:moveTo>
                  <a:pt x="45595" y="0"/>
                </a:moveTo>
                <a:lnTo>
                  <a:pt x="1673668" y="0"/>
                </a:lnTo>
                <a:quadBezTo>
                  <a:pt x="1719263" y="0"/>
                  <a:pt x="1719263" y="45595"/>
                </a:quadBezTo>
                <a:lnTo>
                  <a:pt x="1719263" y="1926080"/>
                </a:lnTo>
                <a:quadBezTo>
                  <a:pt x="1719263" y="1971675"/>
                  <a:pt x="1673668" y="1971675"/>
                </a:quadBezTo>
                <a:lnTo>
                  <a:pt x="45595" y="1971675"/>
                </a:lnTo>
                <a:quadBezTo>
                  <a:pt x="0" y="1971675"/>
                  <a:pt x="0" y="1926080"/>
                </a:quadBezTo>
                <a:lnTo>
                  <a:pt x="0" y="45595"/>
                </a:lnTo>
                <a:quadBezTo>
                  <a:pt x="0" y="0"/>
                  <a:pt x="45595" y="0"/>
                </a:quadBezTo>
                <a:close/>
              </a:path>
            </a:pathLst>
          </a:custGeom>
          <a:solidFill>
            <a:srgbClr val="F6F9FC"/>
          </a:solidFill>
          <a:ln/>
        </p:spPr>
      </p:sp>
      <p:sp>
        <p:nvSpPr>
          <p:cNvPr id="22" name="Shape 17"/>
          <p:cNvSpPr/>
          <p:nvPr/>
        </p:nvSpPr>
        <p:spPr>
          <a:xfrm>
            <a:off x="2783681" y="2135326"/>
            <a:ext cx="352425" cy="352425"/>
          </a:xfrm>
          <a:custGeom>
            <a:avLst/>
            <a:gdLst/>
            <a:ahLst/>
            <a:cxnLst/>
            <a:rect l="l" t="t" r="r" b="b"/>
            <a:pathLst>
              <a:path w="352425" h="352425">
                <a:moveTo>
                  <a:pt x="49428" y="0"/>
                </a:moveTo>
                <a:lnTo>
                  <a:pt x="302997" y="0"/>
                </a:lnTo>
                <a:quadBezTo>
                  <a:pt x="352425" y="0"/>
                  <a:pt x="352425" y="49428"/>
                </a:quadBezTo>
                <a:lnTo>
                  <a:pt x="352425" y="302997"/>
                </a:lnTo>
                <a:quadBezTo>
                  <a:pt x="352425" y="352425"/>
                  <a:pt x="302997" y="352425"/>
                </a:quadBezTo>
                <a:lnTo>
                  <a:pt x="49428" y="352425"/>
                </a:lnTo>
                <a:quadBezTo>
                  <a:pt x="0" y="352425"/>
                  <a:pt x="0" y="302997"/>
                </a:quadBezTo>
                <a:lnTo>
                  <a:pt x="0" y="49428"/>
                </a:lnTo>
                <a:quadBezTo>
                  <a:pt x="0" y="0"/>
                  <a:pt x="49428" y="0"/>
                </a:quadBezTo>
                <a:close/>
              </a:path>
            </a:pathLst>
          </a:custGeom>
          <a:solidFill>
            <a:srgbClr val="EAF3F7"/>
          </a:solidFill>
          <a:ln/>
        </p:spPr>
      </p:sp>
      <p:pic>
        <p:nvPicPr>
          <p:cNvPr id="2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78931" y="2230576"/>
            <a:ext cx="161925" cy="161925"/>
          </a:xfrm>
          <a:prstGeom prst="rect">
            <a:avLst/>
          </a:prstGeom>
        </p:spPr>
      </p:pic>
      <p:sp>
        <p:nvSpPr>
          <p:cNvPr id="24" name="Shape 18"/>
          <p:cNvSpPr/>
          <p:nvPr/>
        </p:nvSpPr>
        <p:spPr>
          <a:xfrm>
            <a:off x="2782491" y="2630894"/>
            <a:ext cx="1395412" cy="190500"/>
          </a:xfrm>
          <a:custGeom>
            <a:avLst/>
            <a:gdLst/>
            <a:ahLst/>
            <a:cxnLst/>
            <a:rect l="l" t="t" r="r" b="b"/>
            <a:pathLst>
              <a:path w="1395412" h="190500">
                <a:moveTo>
                  <a:pt x="0" y="0"/>
                </a:moveTo>
                <a:lnTo>
                  <a:pt x="1395412" y="0"/>
                </a:lnTo>
                <a:lnTo>
                  <a:pt x="1395412" y="190500"/>
                </a:lnTo>
                <a:lnTo>
                  <a:pt x="0" y="190500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25" name="Text 19"/>
          <p:cNvSpPr/>
          <p:nvPr/>
        </p:nvSpPr>
        <p:spPr>
          <a:xfrm>
            <a:off x="2782491" y="2630894"/>
            <a:ext cx="1395412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696"/>
              </a:lnSpc>
              <a:spcBef>
                <a:spcPts val="281"/>
              </a:spcBef>
              <a:buNone/>
            </a:pPr>
            <a:r>
              <a:rPr lang="en-US" sz="1198" b="1" dirty="0">
                <a:solidFill>
                  <a:srgbClr val="0B1F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Normalization</a:t>
            </a:r>
            <a:endParaRPr lang="en-US" sz="900" dirty="0"/>
          </a:p>
        </p:txBody>
      </p:sp>
      <p:sp>
        <p:nvSpPr>
          <p:cNvPr id="26" name="Shape 20"/>
          <p:cNvSpPr/>
          <p:nvPr/>
        </p:nvSpPr>
        <p:spPr>
          <a:xfrm>
            <a:off x="2782491" y="2882384"/>
            <a:ext cx="1395412" cy="495300"/>
          </a:xfrm>
          <a:custGeom>
            <a:avLst/>
            <a:gdLst/>
            <a:ahLst/>
            <a:cxnLst/>
            <a:rect l="l" t="t" r="r" b="b"/>
            <a:pathLst>
              <a:path w="1395412" h="495300">
                <a:moveTo>
                  <a:pt x="0" y="0"/>
                </a:moveTo>
                <a:lnTo>
                  <a:pt x="1395412" y="0"/>
                </a:lnTo>
                <a:lnTo>
                  <a:pt x="1395412" y="495300"/>
                </a:lnTo>
                <a:lnTo>
                  <a:pt x="0" y="495300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27" name="Text 21"/>
          <p:cNvSpPr/>
          <p:nvPr/>
        </p:nvSpPr>
        <p:spPr>
          <a:xfrm>
            <a:off x="2782491" y="2882384"/>
            <a:ext cx="1395412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217"/>
              </a:lnSpc>
              <a:spcBef>
                <a:spcPts val="281"/>
              </a:spcBef>
              <a:buNone/>
            </a:pPr>
            <a:r>
              <a:rPr lang="en-US" sz="900" dirty="0">
                <a:solidFill>
                  <a:srgbClr val="5B6B7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Creates structured data with consistent fields and formats.</a:t>
            </a:r>
            <a:endParaRPr lang="en-US" sz="900" dirty="0"/>
          </a:p>
        </p:txBody>
      </p:sp>
      <p:sp>
        <p:nvSpPr>
          <p:cNvPr id="28" name="Shape 22"/>
          <p:cNvSpPr/>
          <p:nvPr/>
        </p:nvSpPr>
        <p:spPr>
          <a:xfrm>
            <a:off x="2782491" y="3509606"/>
            <a:ext cx="1395412" cy="214313"/>
          </a:xfrm>
          <a:custGeom>
            <a:avLst/>
            <a:gdLst/>
            <a:ahLst/>
            <a:cxnLst/>
            <a:rect l="l" t="t" r="r" b="b"/>
            <a:pathLst>
              <a:path w="1395412" h="214313">
                <a:moveTo>
                  <a:pt x="0" y="0"/>
                </a:moveTo>
                <a:lnTo>
                  <a:pt x="1395412" y="0"/>
                </a:lnTo>
                <a:lnTo>
                  <a:pt x="1395412" y="214313"/>
                </a:lnTo>
                <a:lnTo>
                  <a:pt x="0" y="214313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29" name="Text 23"/>
          <p:cNvSpPr/>
          <p:nvPr/>
        </p:nvSpPr>
        <p:spPr>
          <a:xfrm>
            <a:off x="2782491" y="3509606"/>
            <a:ext cx="1395412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174"/>
              </a:lnSpc>
              <a:spcBef>
                <a:spcPts val="281"/>
              </a:spcBef>
              <a:buNone/>
            </a:pPr>
            <a:r>
              <a:rPr lang="en-US" sz="799" b="1" dirty="0">
                <a:solidFill>
                  <a:srgbClr val="4AA3A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Structured data</a:t>
            </a:r>
            <a:endParaRPr lang="en-US" sz="900" dirty="0"/>
          </a:p>
        </p:txBody>
      </p:sp>
      <p:pic>
        <p:nvPicPr>
          <p:cNvPr id="3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91038" y="2838986"/>
            <a:ext cx="161925" cy="161925"/>
          </a:xfrm>
          <a:prstGeom prst="rect">
            <a:avLst/>
          </a:prstGeom>
        </p:spPr>
      </p:pic>
      <p:sp>
        <p:nvSpPr>
          <p:cNvPr id="31" name="Shape 24"/>
          <p:cNvSpPr/>
          <p:nvPr/>
        </p:nvSpPr>
        <p:spPr>
          <a:xfrm>
            <a:off x="4804173" y="1934141"/>
            <a:ext cx="1719263" cy="1971675"/>
          </a:xfrm>
          <a:custGeom>
            <a:avLst/>
            <a:gdLst/>
            <a:ahLst/>
            <a:cxnLst/>
            <a:rect l="l" t="t" r="r" b="b"/>
            <a:pathLst>
              <a:path w="1719263" h="1971675">
                <a:moveTo>
                  <a:pt x="45595" y="0"/>
                </a:moveTo>
                <a:lnTo>
                  <a:pt x="1673668" y="0"/>
                </a:lnTo>
                <a:quadBezTo>
                  <a:pt x="1719263" y="0"/>
                  <a:pt x="1719263" y="45595"/>
                </a:quadBezTo>
                <a:lnTo>
                  <a:pt x="1719263" y="1926080"/>
                </a:lnTo>
                <a:quadBezTo>
                  <a:pt x="1719263" y="1971675"/>
                  <a:pt x="1673668" y="1971675"/>
                </a:quadBezTo>
                <a:lnTo>
                  <a:pt x="45595" y="1971675"/>
                </a:lnTo>
                <a:quadBezTo>
                  <a:pt x="0" y="1971675"/>
                  <a:pt x="0" y="1926080"/>
                </a:quadBezTo>
                <a:lnTo>
                  <a:pt x="0" y="45595"/>
                </a:lnTo>
                <a:quadBezTo>
                  <a:pt x="0" y="0"/>
                  <a:pt x="45595" y="0"/>
                </a:quadBezTo>
                <a:close/>
              </a:path>
            </a:pathLst>
          </a:custGeom>
          <a:solidFill>
            <a:srgbClr val="F6F9FC"/>
          </a:solidFill>
          <a:ln/>
        </p:spPr>
      </p:sp>
      <p:sp>
        <p:nvSpPr>
          <p:cNvPr id="32" name="Shape 25"/>
          <p:cNvSpPr/>
          <p:nvPr/>
        </p:nvSpPr>
        <p:spPr>
          <a:xfrm>
            <a:off x="4967287" y="2135326"/>
            <a:ext cx="352425" cy="352425"/>
          </a:xfrm>
          <a:custGeom>
            <a:avLst/>
            <a:gdLst/>
            <a:ahLst/>
            <a:cxnLst/>
            <a:rect l="l" t="t" r="r" b="b"/>
            <a:pathLst>
              <a:path w="352425" h="352425">
                <a:moveTo>
                  <a:pt x="49428" y="0"/>
                </a:moveTo>
                <a:lnTo>
                  <a:pt x="302997" y="0"/>
                </a:lnTo>
                <a:quadBezTo>
                  <a:pt x="352425" y="0"/>
                  <a:pt x="352425" y="49428"/>
                </a:quadBezTo>
                <a:lnTo>
                  <a:pt x="352425" y="302997"/>
                </a:lnTo>
                <a:quadBezTo>
                  <a:pt x="352425" y="352425"/>
                  <a:pt x="302997" y="352425"/>
                </a:quadBezTo>
                <a:lnTo>
                  <a:pt x="49428" y="352425"/>
                </a:lnTo>
                <a:quadBezTo>
                  <a:pt x="0" y="352425"/>
                  <a:pt x="0" y="302997"/>
                </a:quadBezTo>
                <a:lnTo>
                  <a:pt x="0" y="49428"/>
                </a:lnTo>
                <a:quadBezTo>
                  <a:pt x="0" y="0"/>
                  <a:pt x="49428" y="0"/>
                </a:quadBezTo>
                <a:close/>
              </a:path>
            </a:pathLst>
          </a:custGeom>
          <a:solidFill>
            <a:srgbClr val="EAF3F7"/>
          </a:solidFill>
          <a:ln/>
        </p:spPr>
      </p:sp>
      <p:pic>
        <p:nvPicPr>
          <p:cNvPr id="3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62538" y="2230576"/>
            <a:ext cx="161925" cy="161925"/>
          </a:xfrm>
          <a:prstGeom prst="rect">
            <a:avLst/>
          </a:prstGeom>
        </p:spPr>
      </p:pic>
      <p:sp>
        <p:nvSpPr>
          <p:cNvPr id="34" name="Shape 26"/>
          <p:cNvSpPr/>
          <p:nvPr/>
        </p:nvSpPr>
        <p:spPr>
          <a:xfrm>
            <a:off x="4966098" y="2630894"/>
            <a:ext cx="1395412" cy="190500"/>
          </a:xfrm>
          <a:custGeom>
            <a:avLst/>
            <a:gdLst/>
            <a:ahLst/>
            <a:cxnLst/>
            <a:rect l="l" t="t" r="r" b="b"/>
            <a:pathLst>
              <a:path w="1395412" h="190500">
                <a:moveTo>
                  <a:pt x="0" y="0"/>
                </a:moveTo>
                <a:lnTo>
                  <a:pt x="1395412" y="0"/>
                </a:lnTo>
                <a:lnTo>
                  <a:pt x="1395412" y="190500"/>
                </a:lnTo>
                <a:lnTo>
                  <a:pt x="0" y="190500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35" name="Text 27"/>
          <p:cNvSpPr/>
          <p:nvPr/>
        </p:nvSpPr>
        <p:spPr>
          <a:xfrm>
            <a:off x="4966098" y="2630894"/>
            <a:ext cx="1395412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696"/>
              </a:lnSpc>
              <a:spcBef>
                <a:spcPts val="281"/>
              </a:spcBef>
              <a:buNone/>
            </a:pPr>
            <a:r>
              <a:rPr lang="en-US" sz="1198" b="1" dirty="0">
                <a:solidFill>
                  <a:srgbClr val="0B1F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Validation</a:t>
            </a:r>
            <a:endParaRPr lang="en-US" sz="900" dirty="0"/>
          </a:p>
        </p:txBody>
      </p:sp>
      <p:sp>
        <p:nvSpPr>
          <p:cNvPr id="36" name="Shape 28"/>
          <p:cNvSpPr/>
          <p:nvPr/>
        </p:nvSpPr>
        <p:spPr>
          <a:xfrm>
            <a:off x="4966098" y="2882384"/>
            <a:ext cx="1395412" cy="495300"/>
          </a:xfrm>
          <a:custGeom>
            <a:avLst/>
            <a:gdLst/>
            <a:ahLst/>
            <a:cxnLst/>
            <a:rect l="l" t="t" r="r" b="b"/>
            <a:pathLst>
              <a:path w="1395412" h="495300">
                <a:moveTo>
                  <a:pt x="0" y="0"/>
                </a:moveTo>
                <a:lnTo>
                  <a:pt x="1395412" y="0"/>
                </a:lnTo>
                <a:lnTo>
                  <a:pt x="1395412" y="495300"/>
                </a:lnTo>
                <a:lnTo>
                  <a:pt x="0" y="495300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37" name="Text 29"/>
          <p:cNvSpPr/>
          <p:nvPr/>
        </p:nvSpPr>
        <p:spPr>
          <a:xfrm>
            <a:off x="4966098" y="2882384"/>
            <a:ext cx="1395412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217"/>
              </a:lnSpc>
              <a:spcBef>
                <a:spcPts val="281"/>
              </a:spcBef>
              <a:buNone/>
            </a:pPr>
            <a:r>
              <a:rPr lang="en-US" sz="900" dirty="0">
                <a:solidFill>
                  <a:srgbClr val="5B6B7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Ensures the dataset is complete, coherent, and usable.</a:t>
            </a:r>
            <a:endParaRPr lang="en-US" sz="900" dirty="0"/>
          </a:p>
        </p:txBody>
      </p:sp>
      <p:sp>
        <p:nvSpPr>
          <p:cNvPr id="38" name="Shape 30"/>
          <p:cNvSpPr/>
          <p:nvPr/>
        </p:nvSpPr>
        <p:spPr>
          <a:xfrm>
            <a:off x="4966098" y="3509606"/>
            <a:ext cx="1395412" cy="214313"/>
          </a:xfrm>
          <a:custGeom>
            <a:avLst/>
            <a:gdLst/>
            <a:ahLst/>
            <a:cxnLst/>
            <a:rect l="l" t="t" r="r" b="b"/>
            <a:pathLst>
              <a:path w="1395412" h="214313">
                <a:moveTo>
                  <a:pt x="0" y="0"/>
                </a:moveTo>
                <a:lnTo>
                  <a:pt x="1395412" y="0"/>
                </a:lnTo>
                <a:lnTo>
                  <a:pt x="1395412" y="214313"/>
                </a:lnTo>
                <a:lnTo>
                  <a:pt x="0" y="214313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39" name="Text 31"/>
          <p:cNvSpPr/>
          <p:nvPr/>
        </p:nvSpPr>
        <p:spPr>
          <a:xfrm>
            <a:off x="4966098" y="3509606"/>
            <a:ext cx="1395412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174"/>
              </a:lnSpc>
              <a:spcBef>
                <a:spcPts val="281"/>
              </a:spcBef>
              <a:buNone/>
            </a:pPr>
            <a:r>
              <a:rPr lang="en-US" sz="799" b="1" dirty="0">
                <a:solidFill>
                  <a:srgbClr val="7CB34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Usable data</a:t>
            </a:r>
            <a:endParaRPr lang="en-US" sz="900" dirty="0"/>
          </a:p>
        </p:txBody>
      </p:sp>
      <p:pic>
        <p:nvPicPr>
          <p:cNvPr id="40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74644" y="2838986"/>
            <a:ext cx="161925" cy="161925"/>
          </a:xfrm>
          <a:prstGeom prst="rect">
            <a:avLst/>
          </a:prstGeom>
        </p:spPr>
      </p:pic>
      <p:sp>
        <p:nvSpPr>
          <p:cNvPr id="41" name="Shape 32"/>
          <p:cNvSpPr/>
          <p:nvPr/>
        </p:nvSpPr>
        <p:spPr>
          <a:xfrm>
            <a:off x="6987777" y="1934141"/>
            <a:ext cx="1719263" cy="1971675"/>
          </a:xfrm>
          <a:custGeom>
            <a:avLst/>
            <a:gdLst/>
            <a:ahLst/>
            <a:cxnLst/>
            <a:rect l="l" t="t" r="r" b="b"/>
            <a:pathLst>
              <a:path w="1719263" h="1971675">
                <a:moveTo>
                  <a:pt x="45595" y="0"/>
                </a:moveTo>
                <a:lnTo>
                  <a:pt x="1673668" y="0"/>
                </a:lnTo>
                <a:quadBezTo>
                  <a:pt x="1719263" y="0"/>
                  <a:pt x="1719263" y="45595"/>
                </a:quadBezTo>
                <a:lnTo>
                  <a:pt x="1719263" y="1926080"/>
                </a:lnTo>
                <a:quadBezTo>
                  <a:pt x="1719263" y="1971675"/>
                  <a:pt x="1673668" y="1971675"/>
                </a:quadBezTo>
                <a:lnTo>
                  <a:pt x="45595" y="1971675"/>
                </a:lnTo>
                <a:quadBezTo>
                  <a:pt x="0" y="1971675"/>
                  <a:pt x="0" y="1926080"/>
                </a:quadBezTo>
                <a:lnTo>
                  <a:pt x="0" y="45595"/>
                </a:lnTo>
                <a:quadBezTo>
                  <a:pt x="0" y="0"/>
                  <a:pt x="45595" y="0"/>
                </a:quadBezTo>
                <a:close/>
              </a:path>
            </a:pathLst>
          </a:custGeom>
          <a:solidFill>
            <a:srgbClr val="0B1F3A"/>
          </a:solidFill>
          <a:ln/>
        </p:spPr>
      </p:sp>
      <p:sp>
        <p:nvSpPr>
          <p:cNvPr id="42" name="Shape 33"/>
          <p:cNvSpPr/>
          <p:nvPr/>
        </p:nvSpPr>
        <p:spPr>
          <a:xfrm>
            <a:off x="7150894" y="2135326"/>
            <a:ext cx="352425" cy="352425"/>
          </a:xfrm>
          <a:custGeom>
            <a:avLst/>
            <a:gdLst/>
            <a:ahLst/>
            <a:cxnLst/>
            <a:rect l="l" t="t" r="r" b="b"/>
            <a:pathLst>
              <a:path w="352425" h="352425">
                <a:moveTo>
                  <a:pt x="49428" y="0"/>
                </a:moveTo>
                <a:lnTo>
                  <a:pt x="302997" y="0"/>
                </a:lnTo>
                <a:quadBezTo>
                  <a:pt x="352425" y="0"/>
                  <a:pt x="352425" y="49428"/>
                </a:quadBezTo>
                <a:lnTo>
                  <a:pt x="352425" y="302997"/>
                </a:lnTo>
                <a:quadBezTo>
                  <a:pt x="352425" y="352425"/>
                  <a:pt x="302997" y="352425"/>
                </a:quadBezTo>
                <a:lnTo>
                  <a:pt x="49428" y="352425"/>
                </a:lnTo>
                <a:quadBezTo>
                  <a:pt x="0" y="352425"/>
                  <a:pt x="0" y="302997"/>
                </a:quadBezTo>
                <a:lnTo>
                  <a:pt x="0" y="49428"/>
                </a:lnTo>
                <a:quadBezTo>
                  <a:pt x="0" y="0"/>
                  <a:pt x="49428" y="0"/>
                </a:quadBezTo>
                <a:close/>
              </a:path>
            </a:pathLst>
          </a:custGeom>
          <a:solidFill>
            <a:srgbClr val="2F6B8E"/>
          </a:solidFill>
          <a:ln/>
        </p:spPr>
      </p:sp>
      <p:pic>
        <p:nvPicPr>
          <p:cNvPr id="43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246144" y="2230576"/>
            <a:ext cx="161925" cy="161925"/>
          </a:xfrm>
          <a:prstGeom prst="rect">
            <a:avLst/>
          </a:prstGeom>
        </p:spPr>
      </p:pic>
      <p:sp>
        <p:nvSpPr>
          <p:cNvPr id="44" name="Shape 34"/>
          <p:cNvSpPr/>
          <p:nvPr/>
        </p:nvSpPr>
        <p:spPr>
          <a:xfrm>
            <a:off x="7149702" y="2630894"/>
            <a:ext cx="1395412" cy="190500"/>
          </a:xfrm>
          <a:custGeom>
            <a:avLst/>
            <a:gdLst/>
            <a:ahLst/>
            <a:cxnLst/>
            <a:rect l="l" t="t" r="r" b="b"/>
            <a:pathLst>
              <a:path w="1395412" h="190500">
                <a:moveTo>
                  <a:pt x="0" y="0"/>
                </a:moveTo>
                <a:lnTo>
                  <a:pt x="1395412" y="0"/>
                </a:lnTo>
                <a:lnTo>
                  <a:pt x="1395412" y="190500"/>
                </a:lnTo>
                <a:lnTo>
                  <a:pt x="0" y="190500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45" name="Text 35"/>
          <p:cNvSpPr/>
          <p:nvPr/>
        </p:nvSpPr>
        <p:spPr>
          <a:xfrm>
            <a:off x="7149702" y="2630894"/>
            <a:ext cx="1395412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696"/>
              </a:lnSpc>
              <a:spcBef>
                <a:spcPts val="281"/>
              </a:spcBef>
              <a:buNone/>
            </a:pPr>
            <a:r>
              <a:rPr lang="en-US" sz="1198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Output</a:t>
            </a:r>
            <a:endParaRPr lang="en-US" sz="900" dirty="0"/>
          </a:p>
        </p:txBody>
      </p:sp>
      <p:sp>
        <p:nvSpPr>
          <p:cNvPr id="46" name="Shape 36"/>
          <p:cNvSpPr/>
          <p:nvPr/>
        </p:nvSpPr>
        <p:spPr>
          <a:xfrm>
            <a:off x="7149702" y="2882384"/>
            <a:ext cx="1395412" cy="495300"/>
          </a:xfrm>
          <a:custGeom>
            <a:avLst/>
            <a:gdLst/>
            <a:ahLst/>
            <a:cxnLst/>
            <a:rect l="l" t="t" r="r" b="b"/>
            <a:pathLst>
              <a:path w="1395412" h="495300">
                <a:moveTo>
                  <a:pt x="0" y="0"/>
                </a:moveTo>
                <a:lnTo>
                  <a:pt x="1395412" y="0"/>
                </a:lnTo>
                <a:lnTo>
                  <a:pt x="1395412" y="495300"/>
                </a:lnTo>
                <a:lnTo>
                  <a:pt x="0" y="495300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47" name="Text 37"/>
          <p:cNvSpPr/>
          <p:nvPr/>
        </p:nvSpPr>
        <p:spPr>
          <a:xfrm>
            <a:off x="7149702" y="2882384"/>
            <a:ext cx="1395412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217"/>
              </a:lnSpc>
              <a:spcBef>
                <a:spcPts val="281"/>
              </a:spcBef>
              <a:buNone/>
            </a:pPr>
            <a:r>
              <a:rPr lang="en-US" sz="900" dirty="0">
                <a:solidFill>
                  <a:srgbClr val="D7E4E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Combines numerical and textual results for analysis.</a:t>
            </a:r>
            <a:endParaRPr lang="en-US" sz="900" dirty="0"/>
          </a:p>
        </p:txBody>
      </p:sp>
      <p:sp>
        <p:nvSpPr>
          <p:cNvPr id="48" name="Shape 38"/>
          <p:cNvSpPr/>
          <p:nvPr/>
        </p:nvSpPr>
        <p:spPr>
          <a:xfrm>
            <a:off x="7149702" y="3509606"/>
            <a:ext cx="1395412" cy="214313"/>
          </a:xfrm>
          <a:custGeom>
            <a:avLst/>
            <a:gdLst/>
            <a:ahLst/>
            <a:cxnLst/>
            <a:rect l="l" t="t" r="r" b="b"/>
            <a:pathLst>
              <a:path w="1395412" h="214313">
                <a:moveTo>
                  <a:pt x="0" y="0"/>
                </a:moveTo>
                <a:lnTo>
                  <a:pt x="1395412" y="0"/>
                </a:lnTo>
                <a:lnTo>
                  <a:pt x="1395412" y="214313"/>
                </a:lnTo>
                <a:lnTo>
                  <a:pt x="0" y="214313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49" name="Text 39"/>
          <p:cNvSpPr/>
          <p:nvPr/>
        </p:nvSpPr>
        <p:spPr>
          <a:xfrm>
            <a:off x="7149702" y="3509606"/>
            <a:ext cx="1395412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174"/>
              </a:lnSpc>
              <a:spcBef>
                <a:spcPts val="281"/>
              </a:spcBef>
              <a:buNone/>
            </a:pPr>
            <a:r>
              <a:rPr lang="en-US" sz="799" b="1" dirty="0">
                <a:solidFill>
                  <a:srgbClr val="AFC1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Grounded insights</a:t>
            </a:r>
            <a:endParaRPr lang="en-US" sz="900" dirty="0"/>
          </a:p>
        </p:txBody>
      </p:sp>
      <p:sp>
        <p:nvSpPr>
          <p:cNvPr id="50" name="Shape 40"/>
          <p:cNvSpPr/>
          <p:nvPr/>
        </p:nvSpPr>
        <p:spPr>
          <a:xfrm>
            <a:off x="2386013" y="4278987"/>
            <a:ext cx="523875" cy="9525"/>
          </a:xfrm>
          <a:custGeom>
            <a:avLst/>
            <a:gdLst/>
            <a:ahLst/>
            <a:cxnLst/>
            <a:rect l="l" t="t" r="r" b="b"/>
            <a:pathLst>
              <a:path w="523875" h="9525">
                <a:moveTo>
                  <a:pt x="0" y="0"/>
                </a:moveTo>
                <a:lnTo>
                  <a:pt x="523875" y="0"/>
                </a:lnTo>
                <a:lnTo>
                  <a:pt x="523875" y="9525"/>
                </a:lnTo>
                <a:lnTo>
                  <a:pt x="0" y="9525"/>
                </a:lnTo>
                <a:close/>
              </a:path>
            </a:pathLst>
          </a:custGeom>
          <a:solidFill>
            <a:srgbClr val="D7E4EC"/>
          </a:solidFill>
          <a:ln/>
        </p:spPr>
      </p:sp>
      <p:sp>
        <p:nvSpPr>
          <p:cNvPr id="51" name="Shape 41"/>
          <p:cNvSpPr/>
          <p:nvPr/>
        </p:nvSpPr>
        <p:spPr>
          <a:xfrm>
            <a:off x="2995583" y="4209931"/>
            <a:ext cx="3152775" cy="147637"/>
          </a:xfrm>
          <a:custGeom>
            <a:avLst/>
            <a:gdLst/>
            <a:ahLst/>
            <a:cxnLst/>
            <a:rect l="l" t="t" r="r" b="b"/>
            <a:pathLst>
              <a:path w="3152775" h="147637">
                <a:moveTo>
                  <a:pt x="0" y="0"/>
                </a:moveTo>
                <a:lnTo>
                  <a:pt x="3152775" y="0"/>
                </a:lnTo>
                <a:lnTo>
                  <a:pt x="3152775" y="147637"/>
                </a:lnTo>
                <a:lnTo>
                  <a:pt x="0" y="147637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52" name="Text 42"/>
          <p:cNvSpPr/>
          <p:nvPr/>
        </p:nvSpPr>
        <p:spPr>
          <a:xfrm>
            <a:off x="2995583" y="4209931"/>
            <a:ext cx="3152775" cy="1476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3043"/>
              </a:lnSpc>
              <a:spcBef>
                <a:spcPts val="281"/>
              </a:spcBef>
              <a:buNone/>
            </a:pPr>
            <a:r>
              <a:rPr lang="en-US" sz="889" b="1" dirty="0">
                <a:solidFill>
                  <a:srgbClr val="3341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Information becomes more reliable at every handoff.</a:t>
            </a:r>
            <a:endParaRPr lang="en-US" sz="900" dirty="0"/>
          </a:p>
        </p:txBody>
      </p:sp>
      <p:sp>
        <p:nvSpPr>
          <p:cNvPr id="53" name="Shape 43"/>
          <p:cNvSpPr/>
          <p:nvPr/>
        </p:nvSpPr>
        <p:spPr>
          <a:xfrm>
            <a:off x="6234052" y="4278987"/>
            <a:ext cx="523875" cy="9525"/>
          </a:xfrm>
          <a:custGeom>
            <a:avLst/>
            <a:gdLst/>
            <a:ahLst/>
            <a:cxnLst/>
            <a:rect l="l" t="t" r="r" b="b"/>
            <a:pathLst>
              <a:path w="523875" h="9525">
                <a:moveTo>
                  <a:pt x="0" y="0"/>
                </a:moveTo>
                <a:lnTo>
                  <a:pt x="523875" y="0"/>
                </a:lnTo>
                <a:lnTo>
                  <a:pt x="523875" y="9525"/>
                </a:lnTo>
                <a:lnTo>
                  <a:pt x="0" y="9525"/>
                </a:lnTo>
                <a:close/>
              </a:path>
            </a:pathLst>
          </a:custGeom>
          <a:solidFill>
            <a:srgbClr val="D7E4EC"/>
          </a:solidFill>
          <a:ln/>
        </p:spPr>
      </p:sp>
      <p:pic>
        <p:nvPicPr>
          <p:cNvPr id="54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98884" y="3509606"/>
            <a:ext cx="1395412" cy="214313"/>
          </a:xfrm>
          <a:prstGeom prst="rect">
            <a:avLst/>
          </a:prstGeom>
        </p:spPr>
      </p:pic>
      <p:pic>
        <p:nvPicPr>
          <p:cNvPr id="55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782491" y="3509606"/>
            <a:ext cx="1395412" cy="214313"/>
          </a:xfrm>
          <a:prstGeom prst="rect">
            <a:avLst/>
          </a:prstGeom>
        </p:spPr>
      </p:pic>
      <p:pic>
        <p:nvPicPr>
          <p:cNvPr id="56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966098" y="3509606"/>
            <a:ext cx="1395412" cy="214313"/>
          </a:xfrm>
          <a:prstGeom prst="rect">
            <a:avLst/>
          </a:prstGeom>
        </p:spPr>
      </p:pic>
      <p:pic>
        <p:nvPicPr>
          <p:cNvPr id="57" name="Image 10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149702" y="3509606"/>
            <a:ext cx="1395412" cy="214313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0" y="0"/>
                </a:moveTo>
                <a:lnTo>
                  <a:pt x="9144000" y="0"/>
                </a:lnTo>
                <a:lnTo>
                  <a:pt x="9144000" y="5143500"/>
                </a:lnTo>
                <a:lnTo>
                  <a:pt x="0" y="514350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4" name="Shape 1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0" y="0"/>
                </a:moveTo>
                <a:lnTo>
                  <a:pt x="9144000" y="0"/>
                </a:lnTo>
                <a:lnTo>
                  <a:pt x="9144000" y="5143500"/>
                </a:lnTo>
                <a:lnTo>
                  <a:pt x="0" y="514350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5" name="Shape 2"/>
          <p:cNvSpPr/>
          <p:nvPr/>
        </p:nvSpPr>
        <p:spPr>
          <a:xfrm>
            <a:off x="438150" y="370999"/>
            <a:ext cx="8267700" cy="138113"/>
          </a:xfrm>
          <a:custGeom>
            <a:avLst/>
            <a:gdLst/>
            <a:ahLst/>
            <a:cxnLst/>
            <a:rect l="l" t="t" r="r" b="b"/>
            <a:pathLst>
              <a:path w="8267700" h="138113">
                <a:moveTo>
                  <a:pt x="0" y="0"/>
                </a:moveTo>
                <a:lnTo>
                  <a:pt x="8267700" y="0"/>
                </a:lnTo>
                <a:lnTo>
                  <a:pt x="8267700" y="138113"/>
                </a:lnTo>
                <a:lnTo>
                  <a:pt x="0" y="138113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6" name="Text 3"/>
          <p:cNvSpPr/>
          <p:nvPr/>
        </p:nvSpPr>
        <p:spPr>
          <a:xfrm>
            <a:off x="438150" y="370999"/>
            <a:ext cx="8267700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4348"/>
              </a:lnSpc>
              <a:spcBef>
                <a:spcPts val="281"/>
              </a:spcBef>
              <a:buNone/>
            </a:pPr>
            <a:r>
              <a:rPr lang="en-US" sz="900" b="1" dirty="0">
                <a:solidFill>
                  <a:srgbClr val="2F6B8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PROPOSED OUTPUT STRUCTURE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438150" y="576351"/>
            <a:ext cx="8267700" cy="347663"/>
          </a:xfrm>
          <a:custGeom>
            <a:avLst/>
            <a:gdLst/>
            <a:ahLst/>
            <a:cxnLst/>
            <a:rect l="l" t="t" r="r" b="b"/>
            <a:pathLst>
              <a:path w="8267700" h="347663">
                <a:moveTo>
                  <a:pt x="0" y="0"/>
                </a:moveTo>
                <a:lnTo>
                  <a:pt x="8267700" y="0"/>
                </a:lnTo>
                <a:lnTo>
                  <a:pt x="8267700" y="347663"/>
                </a:lnTo>
                <a:lnTo>
                  <a:pt x="0" y="347663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8" name="Text 5"/>
          <p:cNvSpPr/>
          <p:nvPr/>
        </p:nvSpPr>
        <p:spPr>
          <a:xfrm>
            <a:off x="438150" y="576351"/>
            <a:ext cx="8267700" cy="3476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5652"/>
              </a:lnSpc>
              <a:spcBef>
                <a:spcPts val="281"/>
              </a:spcBef>
              <a:buNone/>
            </a:pPr>
            <a:r>
              <a:rPr lang="en-US" sz="2498" b="1" dirty="0">
                <a:solidFill>
                  <a:srgbClr val="0B1F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From verified figures to grounded insight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438150" y="991732"/>
            <a:ext cx="6000750" cy="385763"/>
          </a:xfrm>
          <a:custGeom>
            <a:avLst/>
            <a:gdLst/>
            <a:ahLst/>
            <a:cxnLst/>
            <a:rect l="l" t="t" r="r" b="b"/>
            <a:pathLst>
              <a:path w="6000750" h="385763">
                <a:moveTo>
                  <a:pt x="0" y="0"/>
                </a:moveTo>
                <a:lnTo>
                  <a:pt x="6000750" y="0"/>
                </a:lnTo>
                <a:lnTo>
                  <a:pt x="6000750" y="385763"/>
                </a:lnTo>
                <a:lnTo>
                  <a:pt x="0" y="385763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10" name="Text 7"/>
          <p:cNvSpPr/>
          <p:nvPr/>
        </p:nvSpPr>
        <p:spPr>
          <a:xfrm>
            <a:off x="438150" y="991732"/>
            <a:ext cx="6000750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spcBef>
                <a:spcPts val="281"/>
              </a:spcBef>
              <a:buNone/>
            </a:pPr>
            <a:r>
              <a:rPr lang="en-US" sz="1103" dirty="0">
                <a:solidFill>
                  <a:srgbClr val="5B6B7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three-layer output keeps financial extraction, analysis, and explanation clearly separated.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437346" y="1719828"/>
            <a:ext cx="2624138" cy="2738438"/>
          </a:xfrm>
          <a:custGeom>
            <a:avLst/>
            <a:gdLst/>
            <a:ahLst/>
            <a:cxnLst/>
            <a:rect l="l" t="t" r="r" b="b"/>
            <a:pathLst>
              <a:path w="2624138" h="2738438">
                <a:moveTo>
                  <a:pt x="29863" y="0"/>
                </a:moveTo>
                <a:lnTo>
                  <a:pt x="2594275" y="0"/>
                </a:lnTo>
                <a:quadBezTo>
                  <a:pt x="2624138" y="0"/>
                  <a:pt x="2624138" y="29863"/>
                </a:quadBezTo>
                <a:lnTo>
                  <a:pt x="2624138" y="2708575"/>
                </a:lnTo>
                <a:quadBezTo>
                  <a:pt x="2624138" y="2738438"/>
                  <a:pt x="2594275" y="2738438"/>
                </a:quadBezTo>
                <a:lnTo>
                  <a:pt x="29863" y="2738438"/>
                </a:lnTo>
                <a:quadBezTo>
                  <a:pt x="0" y="2738438"/>
                  <a:pt x="0" y="2708575"/>
                </a:quadBezTo>
                <a:lnTo>
                  <a:pt x="0" y="29863"/>
                </a:lnTo>
                <a:quadBezTo>
                  <a:pt x="0" y="0"/>
                  <a:pt x="29863" y="0"/>
                </a:quadBezTo>
                <a:close/>
              </a:path>
            </a:pathLst>
          </a:custGeom>
          <a:solidFill>
            <a:srgbClr val="F6F9FC"/>
          </a:solidFill>
          <a:ln/>
        </p:spPr>
      </p:sp>
      <p:sp>
        <p:nvSpPr>
          <p:cNvPr id="12" name="Shape 9"/>
          <p:cNvSpPr/>
          <p:nvPr/>
        </p:nvSpPr>
        <p:spPr>
          <a:xfrm>
            <a:off x="638175" y="1920419"/>
            <a:ext cx="438150" cy="28575"/>
          </a:xfrm>
          <a:custGeom>
            <a:avLst/>
            <a:gdLst/>
            <a:ahLst/>
            <a:cxnLst/>
            <a:rect l="l" t="t" r="r" b="b"/>
            <a:pathLst>
              <a:path w="438150" h="28575">
                <a:moveTo>
                  <a:pt x="14288" y="0"/>
                </a:moveTo>
                <a:lnTo>
                  <a:pt x="423862" y="0"/>
                </a:lnTo>
                <a:quadBezTo>
                  <a:pt x="438150" y="0"/>
                  <a:pt x="438150" y="14288"/>
                </a:quadBezTo>
                <a:lnTo>
                  <a:pt x="438150" y="14288"/>
                </a:lnTo>
                <a:quadBezTo>
                  <a:pt x="438150" y="28575"/>
                  <a:pt x="423862" y="28575"/>
                </a:quadBezTo>
                <a:lnTo>
                  <a:pt x="14288" y="28575"/>
                </a:lnTo>
                <a:quadBezTo>
                  <a:pt x="0" y="28575"/>
                  <a:pt x="0" y="14288"/>
                </a:quadBezTo>
                <a:lnTo>
                  <a:pt x="0" y="14288"/>
                </a:lnTo>
                <a:quadBezTo>
                  <a:pt x="0" y="0"/>
                  <a:pt x="14288" y="0"/>
                </a:quadBezTo>
                <a:close/>
              </a:path>
            </a:pathLst>
          </a:custGeom>
          <a:solidFill>
            <a:srgbClr val="2F6B8E"/>
          </a:solidFill>
          <a:ln/>
        </p:spPr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175" y="2120444"/>
            <a:ext cx="161925" cy="161925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884664" y="2120444"/>
            <a:ext cx="985838" cy="161925"/>
          </a:xfrm>
          <a:custGeom>
            <a:avLst/>
            <a:gdLst/>
            <a:ahLst/>
            <a:cxnLst/>
            <a:rect l="l" t="t" r="r" b="b"/>
            <a:pathLst>
              <a:path w="985838" h="161925">
                <a:moveTo>
                  <a:pt x="0" y="0"/>
                </a:moveTo>
                <a:lnTo>
                  <a:pt x="985838" y="0"/>
                </a:lnTo>
                <a:lnTo>
                  <a:pt x="985838" y="161925"/>
                </a:lnTo>
                <a:lnTo>
                  <a:pt x="0" y="161925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15" name="Text 11"/>
          <p:cNvSpPr/>
          <p:nvPr/>
        </p:nvSpPr>
        <p:spPr>
          <a:xfrm>
            <a:off x="884664" y="2120444"/>
            <a:ext cx="985838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9565"/>
              </a:lnSpc>
              <a:spcBef>
                <a:spcPts val="281"/>
              </a:spcBef>
              <a:buNone/>
            </a:pPr>
            <a:r>
              <a:rPr lang="en-US" sz="1001" b="1" dirty="0">
                <a:solidFill>
                  <a:srgbClr val="0B1F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Financial data</a:t>
            </a:r>
            <a:endParaRPr lang="en-US" sz="900" dirty="0"/>
          </a:p>
        </p:txBody>
      </p:sp>
      <p:sp>
        <p:nvSpPr>
          <p:cNvPr id="16" name="Shape 12"/>
          <p:cNvSpPr/>
          <p:nvPr/>
        </p:nvSpPr>
        <p:spPr>
          <a:xfrm>
            <a:off x="637371" y="2425333"/>
            <a:ext cx="2224088" cy="223838"/>
          </a:xfrm>
          <a:custGeom>
            <a:avLst/>
            <a:gdLst/>
            <a:ahLst/>
            <a:cxnLst/>
            <a:rect l="l" t="t" r="r" b="b"/>
            <a:pathLst>
              <a:path w="2224088" h="223838">
                <a:moveTo>
                  <a:pt x="0" y="0"/>
                </a:moveTo>
                <a:lnTo>
                  <a:pt x="2224088" y="0"/>
                </a:lnTo>
                <a:lnTo>
                  <a:pt x="2224088" y="223838"/>
                </a:lnTo>
                <a:lnTo>
                  <a:pt x="0" y="223838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17" name="Text 13"/>
          <p:cNvSpPr/>
          <p:nvPr/>
        </p:nvSpPr>
        <p:spPr>
          <a:xfrm>
            <a:off x="637371" y="2425333"/>
            <a:ext cx="2224088" cy="2238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2609"/>
              </a:lnSpc>
              <a:spcBef>
                <a:spcPts val="281"/>
              </a:spcBef>
              <a:buNone/>
            </a:pPr>
            <a:r>
              <a:rPr lang="en-US" sz="1502" b="1" dirty="0">
                <a:solidFill>
                  <a:srgbClr val="0B1F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Structured fields</a:t>
            </a:r>
            <a:endParaRPr lang="en-US" sz="900" dirty="0"/>
          </a:p>
        </p:txBody>
      </p:sp>
      <p:sp>
        <p:nvSpPr>
          <p:cNvPr id="18" name="Shape 14"/>
          <p:cNvSpPr/>
          <p:nvPr/>
        </p:nvSpPr>
        <p:spPr>
          <a:xfrm>
            <a:off x="638175" y="3708559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0" y="23812"/>
                </a:moveTo>
                <a:cubicBezTo>
                  <a:pt x="0" y="36964"/>
                  <a:pt x="10661" y="47625"/>
                  <a:pt x="23813" y="47625"/>
                </a:cubicBezTo>
                <a:cubicBezTo>
                  <a:pt x="36964" y="47625"/>
                  <a:pt x="47625" y="36964"/>
                  <a:pt x="47625" y="23812"/>
                </a:cubicBezTo>
                <a:cubicBezTo>
                  <a:pt x="47625" y="10661"/>
                  <a:pt x="36964" y="0"/>
                  <a:pt x="23813" y="0"/>
                </a:cubicBezTo>
                <a:cubicBezTo>
                  <a:pt x="10661" y="0"/>
                  <a:pt x="0" y="10661"/>
                  <a:pt x="0" y="23812"/>
                </a:cubicBezTo>
                <a:close/>
              </a:path>
            </a:pathLst>
          </a:custGeom>
          <a:solidFill>
            <a:srgbClr val="4AA3A2"/>
          </a:solidFill>
          <a:ln/>
        </p:spPr>
      </p:sp>
      <p:sp>
        <p:nvSpPr>
          <p:cNvPr id="19" name="Shape 15"/>
          <p:cNvSpPr/>
          <p:nvPr/>
        </p:nvSpPr>
        <p:spPr>
          <a:xfrm>
            <a:off x="761196" y="3661410"/>
            <a:ext cx="2100263" cy="333375"/>
          </a:xfrm>
          <a:custGeom>
            <a:avLst/>
            <a:gdLst/>
            <a:ahLst/>
            <a:cxnLst/>
            <a:rect l="l" t="t" r="r" b="b"/>
            <a:pathLst>
              <a:path w="2100263" h="333375">
                <a:moveTo>
                  <a:pt x="0" y="0"/>
                </a:moveTo>
                <a:lnTo>
                  <a:pt x="2100263" y="0"/>
                </a:lnTo>
                <a:lnTo>
                  <a:pt x="2100263" y="333375"/>
                </a:lnTo>
                <a:lnTo>
                  <a:pt x="0" y="333375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20" name="Text 16"/>
          <p:cNvSpPr/>
          <p:nvPr/>
        </p:nvSpPr>
        <p:spPr>
          <a:xfrm>
            <a:off x="761196" y="3661410"/>
            <a:ext cx="2100263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6957"/>
              </a:lnSpc>
              <a:spcBef>
                <a:spcPts val="281"/>
              </a:spcBef>
              <a:buNone/>
            </a:pPr>
            <a:r>
              <a:rPr lang="en-US" sz="900" dirty="0">
                <a:solidFill>
                  <a:srgbClr val="3341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Figures, reporting years, and units</a:t>
            </a:r>
            <a:endParaRPr lang="en-US" sz="900" dirty="0"/>
          </a:p>
        </p:txBody>
      </p:sp>
      <p:sp>
        <p:nvSpPr>
          <p:cNvPr id="21" name="Shape 17"/>
          <p:cNvSpPr/>
          <p:nvPr/>
        </p:nvSpPr>
        <p:spPr>
          <a:xfrm>
            <a:off x="638175" y="4157186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0" y="23812"/>
                </a:moveTo>
                <a:cubicBezTo>
                  <a:pt x="0" y="36964"/>
                  <a:pt x="10661" y="47625"/>
                  <a:pt x="23813" y="47625"/>
                </a:cubicBezTo>
                <a:cubicBezTo>
                  <a:pt x="36964" y="47625"/>
                  <a:pt x="47625" y="36964"/>
                  <a:pt x="47625" y="23812"/>
                </a:cubicBezTo>
                <a:cubicBezTo>
                  <a:pt x="47625" y="10661"/>
                  <a:pt x="36964" y="0"/>
                  <a:pt x="23813" y="0"/>
                </a:cubicBezTo>
                <a:cubicBezTo>
                  <a:pt x="10661" y="0"/>
                  <a:pt x="0" y="10661"/>
                  <a:pt x="0" y="23812"/>
                </a:cubicBezTo>
                <a:close/>
              </a:path>
            </a:pathLst>
          </a:custGeom>
          <a:solidFill>
            <a:srgbClr val="4AA3A2"/>
          </a:solidFill>
          <a:ln/>
        </p:spPr>
      </p:sp>
      <p:sp>
        <p:nvSpPr>
          <p:cNvPr id="22" name="Shape 18"/>
          <p:cNvSpPr/>
          <p:nvPr/>
        </p:nvSpPr>
        <p:spPr>
          <a:xfrm>
            <a:off x="760988" y="4109799"/>
            <a:ext cx="1881187" cy="166688"/>
          </a:xfrm>
          <a:custGeom>
            <a:avLst/>
            <a:gdLst/>
            <a:ahLst/>
            <a:cxnLst/>
            <a:rect l="l" t="t" r="r" b="b"/>
            <a:pathLst>
              <a:path w="1881187" h="166688">
                <a:moveTo>
                  <a:pt x="0" y="0"/>
                </a:moveTo>
                <a:lnTo>
                  <a:pt x="1881187" y="0"/>
                </a:lnTo>
                <a:lnTo>
                  <a:pt x="1881187" y="166688"/>
                </a:lnTo>
                <a:lnTo>
                  <a:pt x="0" y="166688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23" name="Text 19"/>
          <p:cNvSpPr/>
          <p:nvPr/>
        </p:nvSpPr>
        <p:spPr>
          <a:xfrm>
            <a:off x="760988" y="4109799"/>
            <a:ext cx="1881187" cy="166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6957"/>
              </a:lnSpc>
              <a:spcBef>
                <a:spcPts val="281"/>
              </a:spcBef>
              <a:buNone/>
            </a:pPr>
            <a:r>
              <a:rPr lang="en-US" sz="900" dirty="0">
                <a:solidFill>
                  <a:srgbClr val="3341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Core financial statement fields</a:t>
            </a:r>
            <a:endParaRPr lang="en-US" sz="900" dirty="0"/>
          </a:p>
        </p:txBody>
      </p:sp>
      <p:sp>
        <p:nvSpPr>
          <p:cNvPr id="24" name="Shape 20"/>
          <p:cNvSpPr/>
          <p:nvPr/>
        </p:nvSpPr>
        <p:spPr>
          <a:xfrm>
            <a:off x="3259899" y="1719828"/>
            <a:ext cx="2624138" cy="2738438"/>
          </a:xfrm>
          <a:custGeom>
            <a:avLst/>
            <a:gdLst/>
            <a:ahLst/>
            <a:cxnLst/>
            <a:rect l="l" t="t" r="r" b="b"/>
            <a:pathLst>
              <a:path w="2624138" h="2738438">
                <a:moveTo>
                  <a:pt x="29863" y="0"/>
                </a:moveTo>
                <a:lnTo>
                  <a:pt x="2594275" y="0"/>
                </a:lnTo>
                <a:quadBezTo>
                  <a:pt x="2624138" y="0"/>
                  <a:pt x="2624138" y="29863"/>
                </a:quadBezTo>
                <a:lnTo>
                  <a:pt x="2624138" y="2708575"/>
                </a:lnTo>
                <a:quadBezTo>
                  <a:pt x="2624138" y="2738438"/>
                  <a:pt x="2594275" y="2738438"/>
                </a:quadBezTo>
                <a:lnTo>
                  <a:pt x="29863" y="2738438"/>
                </a:lnTo>
                <a:quadBezTo>
                  <a:pt x="0" y="2738438"/>
                  <a:pt x="0" y="2708575"/>
                </a:quadBezTo>
                <a:lnTo>
                  <a:pt x="0" y="29863"/>
                </a:lnTo>
                <a:quadBezTo>
                  <a:pt x="0" y="0"/>
                  <a:pt x="29863" y="0"/>
                </a:quadBezTo>
                <a:close/>
              </a:path>
            </a:pathLst>
          </a:custGeom>
          <a:solidFill>
            <a:srgbClr val="EAF3F7"/>
          </a:solidFill>
          <a:ln/>
        </p:spPr>
      </p:sp>
      <p:sp>
        <p:nvSpPr>
          <p:cNvPr id="25" name="Shape 21"/>
          <p:cNvSpPr/>
          <p:nvPr/>
        </p:nvSpPr>
        <p:spPr>
          <a:xfrm>
            <a:off x="3460728" y="1920419"/>
            <a:ext cx="438150" cy="28575"/>
          </a:xfrm>
          <a:custGeom>
            <a:avLst/>
            <a:gdLst/>
            <a:ahLst/>
            <a:cxnLst/>
            <a:rect l="l" t="t" r="r" b="b"/>
            <a:pathLst>
              <a:path w="438150" h="28575">
                <a:moveTo>
                  <a:pt x="14288" y="0"/>
                </a:moveTo>
                <a:lnTo>
                  <a:pt x="423862" y="0"/>
                </a:lnTo>
                <a:quadBezTo>
                  <a:pt x="438150" y="0"/>
                  <a:pt x="438150" y="14288"/>
                </a:quadBezTo>
                <a:lnTo>
                  <a:pt x="438150" y="14288"/>
                </a:lnTo>
                <a:quadBezTo>
                  <a:pt x="438150" y="28575"/>
                  <a:pt x="423862" y="28575"/>
                </a:quadBezTo>
                <a:lnTo>
                  <a:pt x="14288" y="28575"/>
                </a:lnTo>
                <a:quadBezTo>
                  <a:pt x="0" y="28575"/>
                  <a:pt x="0" y="14288"/>
                </a:quadBezTo>
                <a:lnTo>
                  <a:pt x="0" y="14288"/>
                </a:lnTo>
                <a:quadBezTo>
                  <a:pt x="0" y="0"/>
                  <a:pt x="14288" y="0"/>
                </a:quadBezTo>
                <a:close/>
              </a:path>
            </a:pathLst>
          </a:custGeom>
          <a:solidFill>
            <a:srgbClr val="7CB342"/>
          </a:solidFill>
          <a:ln/>
        </p:spPr>
      </p:sp>
      <p:pic>
        <p:nvPicPr>
          <p:cNvPr id="2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60728" y="2120444"/>
            <a:ext cx="161925" cy="161925"/>
          </a:xfrm>
          <a:prstGeom prst="rect">
            <a:avLst/>
          </a:prstGeom>
        </p:spPr>
      </p:pic>
      <p:sp>
        <p:nvSpPr>
          <p:cNvPr id="27" name="Shape 22"/>
          <p:cNvSpPr/>
          <p:nvPr/>
        </p:nvSpPr>
        <p:spPr>
          <a:xfrm>
            <a:off x="3707694" y="2120444"/>
            <a:ext cx="1333500" cy="161925"/>
          </a:xfrm>
          <a:custGeom>
            <a:avLst/>
            <a:gdLst/>
            <a:ahLst/>
            <a:cxnLst/>
            <a:rect l="l" t="t" r="r" b="b"/>
            <a:pathLst>
              <a:path w="1333500" h="161925">
                <a:moveTo>
                  <a:pt x="0" y="0"/>
                </a:moveTo>
                <a:lnTo>
                  <a:pt x="1333500" y="0"/>
                </a:lnTo>
                <a:lnTo>
                  <a:pt x="1333500" y="161925"/>
                </a:lnTo>
                <a:lnTo>
                  <a:pt x="0" y="161925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28" name="Text 23"/>
          <p:cNvSpPr/>
          <p:nvPr/>
        </p:nvSpPr>
        <p:spPr>
          <a:xfrm>
            <a:off x="3707694" y="2120444"/>
            <a:ext cx="133350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9565"/>
              </a:lnSpc>
              <a:spcBef>
                <a:spcPts val="281"/>
              </a:spcBef>
              <a:buNone/>
            </a:pPr>
            <a:r>
              <a:rPr lang="en-US" sz="1001" b="1" dirty="0">
                <a:solidFill>
                  <a:srgbClr val="0B1F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Computed analysis</a:t>
            </a:r>
            <a:endParaRPr lang="en-US" sz="900" dirty="0"/>
          </a:p>
        </p:txBody>
      </p:sp>
      <p:sp>
        <p:nvSpPr>
          <p:cNvPr id="29" name="Shape 24"/>
          <p:cNvSpPr/>
          <p:nvPr/>
        </p:nvSpPr>
        <p:spPr>
          <a:xfrm>
            <a:off x="3459924" y="2425333"/>
            <a:ext cx="2224088" cy="223838"/>
          </a:xfrm>
          <a:custGeom>
            <a:avLst/>
            <a:gdLst/>
            <a:ahLst/>
            <a:cxnLst/>
            <a:rect l="l" t="t" r="r" b="b"/>
            <a:pathLst>
              <a:path w="2224088" h="223838">
                <a:moveTo>
                  <a:pt x="0" y="0"/>
                </a:moveTo>
                <a:lnTo>
                  <a:pt x="2224088" y="0"/>
                </a:lnTo>
                <a:lnTo>
                  <a:pt x="2224088" y="223838"/>
                </a:lnTo>
                <a:lnTo>
                  <a:pt x="0" y="223838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30" name="Text 25"/>
          <p:cNvSpPr/>
          <p:nvPr/>
        </p:nvSpPr>
        <p:spPr>
          <a:xfrm>
            <a:off x="3459924" y="2425333"/>
            <a:ext cx="2224088" cy="2238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2609"/>
              </a:lnSpc>
              <a:spcBef>
                <a:spcPts val="281"/>
              </a:spcBef>
              <a:buNone/>
            </a:pPr>
            <a:r>
              <a:rPr lang="en-US" sz="1502" b="1" dirty="0">
                <a:solidFill>
                  <a:srgbClr val="0B1F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Ratios + red flags</a:t>
            </a:r>
            <a:endParaRPr lang="en-US" sz="900" dirty="0"/>
          </a:p>
        </p:txBody>
      </p:sp>
      <p:sp>
        <p:nvSpPr>
          <p:cNvPr id="31" name="Shape 26"/>
          <p:cNvSpPr/>
          <p:nvPr/>
        </p:nvSpPr>
        <p:spPr>
          <a:xfrm>
            <a:off x="3460728" y="3541395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0" y="23812"/>
                </a:moveTo>
                <a:cubicBezTo>
                  <a:pt x="0" y="36964"/>
                  <a:pt x="10661" y="47625"/>
                  <a:pt x="23813" y="47625"/>
                </a:cubicBezTo>
                <a:cubicBezTo>
                  <a:pt x="36964" y="47625"/>
                  <a:pt x="47625" y="36964"/>
                  <a:pt x="47625" y="23812"/>
                </a:cubicBezTo>
                <a:cubicBezTo>
                  <a:pt x="47625" y="10661"/>
                  <a:pt x="36964" y="0"/>
                  <a:pt x="23813" y="0"/>
                </a:cubicBezTo>
                <a:cubicBezTo>
                  <a:pt x="10661" y="0"/>
                  <a:pt x="0" y="10661"/>
                  <a:pt x="0" y="23812"/>
                </a:cubicBezTo>
                <a:close/>
              </a:path>
            </a:pathLst>
          </a:custGeom>
          <a:solidFill>
            <a:srgbClr val="7CB342"/>
          </a:solidFill>
          <a:ln/>
        </p:spPr>
      </p:sp>
      <p:sp>
        <p:nvSpPr>
          <p:cNvPr id="32" name="Shape 27"/>
          <p:cNvSpPr/>
          <p:nvPr/>
        </p:nvSpPr>
        <p:spPr>
          <a:xfrm>
            <a:off x="3583750" y="3494246"/>
            <a:ext cx="2100263" cy="333375"/>
          </a:xfrm>
          <a:custGeom>
            <a:avLst/>
            <a:gdLst/>
            <a:ahLst/>
            <a:cxnLst/>
            <a:rect l="l" t="t" r="r" b="b"/>
            <a:pathLst>
              <a:path w="2100263" h="333375">
                <a:moveTo>
                  <a:pt x="0" y="0"/>
                </a:moveTo>
                <a:lnTo>
                  <a:pt x="2100263" y="0"/>
                </a:lnTo>
                <a:lnTo>
                  <a:pt x="2100263" y="333375"/>
                </a:lnTo>
                <a:lnTo>
                  <a:pt x="0" y="333375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33" name="Text 28"/>
          <p:cNvSpPr/>
          <p:nvPr/>
        </p:nvSpPr>
        <p:spPr>
          <a:xfrm>
            <a:off x="3583750" y="3494246"/>
            <a:ext cx="2100263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6957"/>
              </a:lnSpc>
              <a:spcBef>
                <a:spcPts val="281"/>
              </a:spcBef>
              <a:buNone/>
            </a:pPr>
            <a:r>
              <a:rPr lang="en-US" sz="900" dirty="0">
                <a:solidFill>
                  <a:srgbClr val="3341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Current ratio, ROE, and debt-to-equity</a:t>
            </a:r>
            <a:endParaRPr lang="en-US" sz="900" dirty="0"/>
          </a:p>
        </p:txBody>
      </p:sp>
      <p:sp>
        <p:nvSpPr>
          <p:cNvPr id="34" name="Shape 29"/>
          <p:cNvSpPr/>
          <p:nvPr/>
        </p:nvSpPr>
        <p:spPr>
          <a:xfrm>
            <a:off x="3460728" y="3990023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0" y="23812"/>
                </a:moveTo>
                <a:cubicBezTo>
                  <a:pt x="0" y="36964"/>
                  <a:pt x="10661" y="47625"/>
                  <a:pt x="23813" y="47625"/>
                </a:cubicBezTo>
                <a:cubicBezTo>
                  <a:pt x="36964" y="47625"/>
                  <a:pt x="47625" y="36964"/>
                  <a:pt x="47625" y="23812"/>
                </a:cubicBezTo>
                <a:cubicBezTo>
                  <a:pt x="47625" y="10661"/>
                  <a:pt x="36964" y="0"/>
                  <a:pt x="23813" y="0"/>
                </a:cubicBezTo>
                <a:cubicBezTo>
                  <a:pt x="10661" y="0"/>
                  <a:pt x="0" y="10661"/>
                  <a:pt x="0" y="23812"/>
                </a:cubicBezTo>
                <a:close/>
              </a:path>
            </a:pathLst>
          </a:custGeom>
          <a:solidFill>
            <a:srgbClr val="7CB342"/>
          </a:solidFill>
          <a:ln/>
        </p:spPr>
      </p:sp>
      <p:sp>
        <p:nvSpPr>
          <p:cNvPr id="35" name="Shape 30"/>
          <p:cNvSpPr/>
          <p:nvPr/>
        </p:nvSpPr>
        <p:spPr>
          <a:xfrm>
            <a:off x="3583750" y="3942874"/>
            <a:ext cx="2100263" cy="333375"/>
          </a:xfrm>
          <a:custGeom>
            <a:avLst/>
            <a:gdLst/>
            <a:ahLst/>
            <a:cxnLst/>
            <a:rect l="l" t="t" r="r" b="b"/>
            <a:pathLst>
              <a:path w="2100263" h="333375">
                <a:moveTo>
                  <a:pt x="0" y="0"/>
                </a:moveTo>
                <a:lnTo>
                  <a:pt x="2100263" y="0"/>
                </a:lnTo>
                <a:lnTo>
                  <a:pt x="2100263" y="333375"/>
                </a:lnTo>
                <a:lnTo>
                  <a:pt x="0" y="333375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36" name="Text 31"/>
          <p:cNvSpPr/>
          <p:nvPr/>
        </p:nvSpPr>
        <p:spPr>
          <a:xfrm>
            <a:off x="3583750" y="3942874"/>
            <a:ext cx="2100263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6957"/>
              </a:lnSpc>
              <a:spcBef>
                <a:spcPts val="281"/>
              </a:spcBef>
              <a:buNone/>
            </a:pPr>
            <a:r>
              <a:rPr lang="en-US" sz="900" dirty="0">
                <a:solidFill>
                  <a:srgbClr val="3341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Year-over-year changes and warning signals</a:t>
            </a:r>
            <a:endParaRPr lang="en-US" sz="900" dirty="0"/>
          </a:p>
        </p:txBody>
      </p:sp>
      <p:sp>
        <p:nvSpPr>
          <p:cNvPr id="37" name="Shape 32"/>
          <p:cNvSpPr/>
          <p:nvPr/>
        </p:nvSpPr>
        <p:spPr>
          <a:xfrm>
            <a:off x="6082458" y="1719828"/>
            <a:ext cx="2624138" cy="2738438"/>
          </a:xfrm>
          <a:custGeom>
            <a:avLst/>
            <a:gdLst/>
            <a:ahLst/>
            <a:cxnLst/>
            <a:rect l="l" t="t" r="r" b="b"/>
            <a:pathLst>
              <a:path w="2624138" h="2738438">
                <a:moveTo>
                  <a:pt x="29863" y="0"/>
                </a:moveTo>
                <a:lnTo>
                  <a:pt x="2594275" y="0"/>
                </a:lnTo>
                <a:quadBezTo>
                  <a:pt x="2624138" y="0"/>
                  <a:pt x="2624138" y="29863"/>
                </a:quadBezTo>
                <a:lnTo>
                  <a:pt x="2624138" y="2708575"/>
                </a:lnTo>
                <a:quadBezTo>
                  <a:pt x="2624138" y="2738438"/>
                  <a:pt x="2594275" y="2738438"/>
                </a:quadBezTo>
                <a:lnTo>
                  <a:pt x="29863" y="2738438"/>
                </a:lnTo>
                <a:quadBezTo>
                  <a:pt x="0" y="2738438"/>
                  <a:pt x="0" y="2708575"/>
                </a:quadBezTo>
                <a:lnTo>
                  <a:pt x="0" y="29863"/>
                </a:lnTo>
                <a:quadBezTo>
                  <a:pt x="0" y="0"/>
                  <a:pt x="29863" y="0"/>
                </a:quadBezTo>
                <a:close/>
              </a:path>
            </a:pathLst>
          </a:custGeom>
          <a:solidFill>
            <a:srgbClr val="F6F9FC"/>
          </a:solidFill>
          <a:ln w="7644">
            <a:solidFill>
              <a:srgbClr val="D5E6EA"/>
            </a:solidFill>
            <a:prstDash val="solid"/>
          </a:ln>
        </p:spPr>
      </p:sp>
      <p:sp>
        <p:nvSpPr>
          <p:cNvPr id="38" name="Shape 33"/>
          <p:cNvSpPr/>
          <p:nvPr/>
        </p:nvSpPr>
        <p:spPr>
          <a:xfrm>
            <a:off x="6290904" y="1928039"/>
            <a:ext cx="438150" cy="28575"/>
          </a:xfrm>
          <a:custGeom>
            <a:avLst/>
            <a:gdLst/>
            <a:ahLst/>
            <a:cxnLst/>
            <a:rect l="l" t="t" r="r" b="b"/>
            <a:pathLst>
              <a:path w="438150" h="28575">
                <a:moveTo>
                  <a:pt x="14288" y="0"/>
                </a:moveTo>
                <a:lnTo>
                  <a:pt x="423862" y="0"/>
                </a:lnTo>
                <a:quadBezTo>
                  <a:pt x="438150" y="0"/>
                  <a:pt x="438150" y="14288"/>
                </a:quadBezTo>
                <a:lnTo>
                  <a:pt x="438150" y="14288"/>
                </a:lnTo>
                <a:quadBezTo>
                  <a:pt x="438150" y="28575"/>
                  <a:pt x="423862" y="28575"/>
                </a:quadBezTo>
                <a:lnTo>
                  <a:pt x="14288" y="28575"/>
                </a:lnTo>
                <a:quadBezTo>
                  <a:pt x="0" y="28575"/>
                  <a:pt x="0" y="14288"/>
                </a:quadBezTo>
                <a:lnTo>
                  <a:pt x="0" y="14288"/>
                </a:lnTo>
                <a:quadBezTo>
                  <a:pt x="0" y="0"/>
                  <a:pt x="14288" y="0"/>
                </a:quadBezTo>
                <a:close/>
              </a:path>
            </a:pathLst>
          </a:custGeom>
          <a:solidFill>
            <a:srgbClr val="5C7AEA"/>
          </a:solidFill>
          <a:ln/>
        </p:spPr>
      </p:sp>
      <p:pic>
        <p:nvPicPr>
          <p:cNvPr id="3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90904" y="2128064"/>
            <a:ext cx="161925" cy="161925"/>
          </a:xfrm>
          <a:prstGeom prst="rect">
            <a:avLst/>
          </a:prstGeom>
        </p:spPr>
      </p:pic>
      <p:sp>
        <p:nvSpPr>
          <p:cNvPr id="40" name="Shape 34"/>
          <p:cNvSpPr/>
          <p:nvPr/>
        </p:nvSpPr>
        <p:spPr>
          <a:xfrm>
            <a:off x="6539567" y="2128064"/>
            <a:ext cx="985838" cy="161925"/>
          </a:xfrm>
          <a:custGeom>
            <a:avLst/>
            <a:gdLst/>
            <a:ahLst/>
            <a:cxnLst/>
            <a:rect l="l" t="t" r="r" b="b"/>
            <a:pathLst>
              <a:path w="985838" h="161925">
                <a:moveTo>
                  <a:pt x="0" y="0"/>
                </a:moveTo>
                <a:lnTo>
                  <a:pt x="985838" y="0"/>
                </a:lnTo>
                <a:lnTo>
                  <a:pt x="985838" y="161925"/>
                </a:lnTo>
                <a:lnTo>
                  <a:pt x="0" y="161925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41" name="Text 35"/>
          <p:cNvSpPr/>
          <p:nvPr/>
        </p:nvSpPr>
        <p:spPr>
          <a:xfrm>
            <a:off x="6539567" y="2128064"/>
            <a:ext cx="985838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9565"/>
              </a:lnSpc>
              <a:spcBef>
                <a:spcPts val="281"/>
              </a:spcBef>
              <a:buNone/>
            </a:pPr>
            <a:r>
              <a:rPr lang="en-US" sz="1001" b="1" dirty="0">
                <a:solidFill>
                  <a:srgbClr val="0B1F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LLM summary</a:t>
            </a:r>
            <a:endParaRPr lang="en-US" sz="900" dirty="0"/>
          </a:p>
        </p:txBody>
      </p:sp>
      <p:sp>
        <p:nvSpPr>
          <p:cNvPr id="42" name="Shape 36"/>
          <p:cNvSpPr/>
          <p:nvPr/>
        </p:nvSpPr>
        <p:spPr>
          <a:xfrm>
            <a:off x="6292005" y="2432953"/>
            <a:ext cx="2205037" cy="223838"/>
          </a:xfrm>
          <a:custGeom>
            <a:avLst/>
            <a:gdLst/>
            <a:ahLst/>
            <a:cxnLst/>
            <a:rect l="l" t="t" r="r" b="b"/>
            <a:pathLst>
              <a:path w="2205037" h="223838">
                <a:moveTo>
                  <a:pt x="0" y="0"/>
                </a:moveTo>
                <a:lnTo>
                  <a:pt x="2205037" y="0"/>
                </a:lnTo>
                <a:lnTo>
                  <a:pt x="2205037" y="223838"/>
                </a:lnTo>
                <a:lnTo>
                  <a:pt x="0" y="223838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43" name="Text 37"/>
          <p:cNvSpPr/>
          <p:nvPr/>
        </p:nvSpPr>
        <p:spPr>
          <a:xfrm>
            <a:off x="6292005" y="2432953"/>
            <a:ext cx="2205037" cy="2238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2609"/>
              </a:lnSpc>
              <a:spcBef>
                <a:spcPts val="281"/>
              </a:spcBef>
              <a:buNone/>
            </a:pPr>
            <a:r>
              <a:rPr lang="en-US" sz="1502" b="1" dirty="0">
                <a:solidFill>
                  <a:srgbClr val="0B1F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Grounded insights</a:t>
            </a:r>
            <a:endParaRPr lang="en-US" sz="900" dirty="0"/>
          </a:p>
        </p:txBody>
      </p:sp>
      <p:sp>
        <p:nvSpPr>
          <p:cNvPr id="44" name="Shape 38"/>
          <p:cNvSpPr/>
          <p:nvPr/>
        </p:nvSpPr>
        <p:spPr>
          <a:xfrm>
            <a:off x="6290904" y="3533775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0" y="23812"/>
                </a:moveTo>
                <a:cubicBezTo>
                  <a:pt x="0" y="36964"/>
                  <a:pt x="10661" y="47625"/>
                  <a:pt x="23813" y="47625"/>
                </a:cubicBezTo>
                <a:cubicBezTo>
                  <a:pt x="36964" y="47625"/>
                  <a:pt x="47625" y="36964"/>
                  <a:pt x="47625" y="23812"/>
                </a:cubicBezTo>
                <a:cubicBezTo>
                  <a:pt x="47625" y="10661"/>
                  <a:pt x="36964" y="0"/>
                  <a:pt x="23813" y="0"/>
                </a:cubicBezTo>
                <a:cubicBezTo>
                  <a:pt x="10661" y="0"/>
                  <a:pt x="0" y="10661"/>
                  <a:pt x="0" y="23812"/>
                </a:cubicBezTo>
                <a:close/>
              </a:path>
            </a:pathLst>
          </a:custGeom>
          <a:solidFill>
            <a:srgbClr val="5C7AEA"/>
          </a:solidFill>
          <a:ln/>
        </p:spPr>
      </p:sp>
      <p:sp>
        <p:nvSpPr>
          <p:cNvPr id="45" name="Shape 39"/>
          <p:cNvSpPr/>
          <p:nvPr/>
        </p:nvSpPr>
        <p:spPr>
          <a:xfrm>
            <a:off x="6415830" y="3486626"/>
            <a:ext cx="2081212" cy="333375"/>
          </a:xfrm>
          <a:custGeom>
            <a:avLst/>
            <a:gdLst/>
            <a:ahLst/>
            <a:cxnLst/>
            <a:rect l="l" t="t" r="r" b="b"/>
            <a:pathLst>
              <a:path w="2081212" h="333375">
                <a:moveTo>
                  <a:pt x="0" y="0"/>
                </a:moveTo>
                <a:lnTo>
                  <a:pt x="2081212" y="0"/>
                </a:lnTo>
                <a:lnTo>
                  <a:pt x="2081212" y="333375"/>
                </a:lnTo>
                <a:lnTo>
                  <a:pt x="0" y="333375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46" name="Text 40"/>
          <p:cNvSpPr/>
          <p:nvPr/>
        </p:nvSpPr>
        <p:spPr>
          <a:xfrm>
            <a:off x="6415830" y="3486626"/>
            <a:ext cx="2081212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6957"/>
              </a:lnSpc>
              <a:spcBef>
                <a:spcPts val="281"/>
              </a:spcBef>
              <a:buNone/>
            </a:pPr>
            <a:r>
              <a:rPr lang="en-US" sz="900" dirty="0">
                <a:solidFill>
                  <a:srgbClr val="3341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Key financial trends and observations</a:t>
            </a:r>
            <a:endParaRPr lang="en-US" sz="900" dirty="0"/>
          </a:p>
        </p:txBody>
      </p:sp>
      <p:sp>
        <p:nvSpPr>
          <p:cNvPr id="47" name="Shape 41"/>
          <p:cNvSpPr/>
          <p:nvPr/>
        </p:nvSpPr>
        <p:spPr>
          <a:xfrm>
            <a:off x="6290904" y="3982402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0" y="23812"/>
                </a:moveTo>
                <a:cubicBezTo>
                  <a:pt x="0" y="36964"/>
                  <a:pt x="10661" y="47625"/>
                  <a:pt x="23813" y="47625"/>
                </a:cubicBezTo>
                <a:cubicBezTo>
                  <a:pt x="36964" y="47625"/>
                  <a:pt x="47625" y="36964"/>
                  <a:pt x="47625" y="23812"/>
                </a:cubicBezTo>
                <a:cubicBezTo>
                  <a:pt x="47625" y="10661"/>
                  <a:pt x="36964" y="0"/>
                  <a:pt x="23813" y="0"/>
                </a:cubicBezTo>
                <a:cubicBezTo>
                  <a:pt x="10661" y="0"/>
                  <a:pt x="0" y="10661"/>
                  <a:pt x="0" y="23812"/>
                </a:cubicBezTo>
                <a:close/>
              </a:path>
            </a:pathLst>
          </a:custGeom>
          <a:solidFill>
            <a:srgbClr val="5C7AEA"/>
          </a:solidFill>
          <a:ln/>
        </p:spPr>
      </p:sp>
      <p:sp>
        <p:nvSpPr>
          <p:cNvPr id="48" name="Shape 42"/>
          <p:cNvSpPr/>
          <p:nvPr/>
        </p:nvSpPr>
        <p:spPr>
          <a:xfrm>
            <a:off x="6415830" y="3935254"/>
            <a:ext cx="2081212" cy="333375"/>
          </a:xfrm>
          <a:custGeom>
            <a:avLst/>
            <a:gdLst/>
            <a:ahLst/>
            <a:cxnLst/>
            <a:rect l="l" t="t" r="r" b="b"/>
            <a:pathLst>
              <a:path w="2081212" h="333375">
                <a:moveTo>
                  <a:pt x="0" y="0"/>
                </a:moveTo>
                <a:lnTo>
                  <a:pt x="2081212" y="0"/>
                </a:lnTo>
                <a:lnTo>
                  <a:pt x="2081212" y="333375"/>
                </a:lnTo>
                <a:lnTo>
                  <a:pt x="0" y="333375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49" name="Text 43"/>
          <p:cNvSpPr/>
          <p:nvPr/>
        </p:nvSpPr>
        <p:spPr>
          <a:xfrm>
            <a:off x="6415830" y="3935254"/>
            <a:ext cx="2081212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6957"/>
              </a:lnSpc>
              <a:spcBef>
                <a:spcPts val="281"/>
              </a:spcBef>
              <a:buNone/>
            </a:pPr>
            <a:r>
              <a:rPr lang="en-US" sz="900" dirty="0">
                <a:solidFill>
                  <a:srgbClr val="3341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Plain-language analyst-style narrative</a:t>
            </a:r>
            <a:endParaRPr lang="en-US" sz="900" dirty="0"/>
          </a:p>
        </p:txBody>
      </p:sp>
      <p:sp>
        <p:nvSpPr>
          <p:cNvPr id="50" name="Shape 44"/>
          <p:cNvSpPr/>
          <p:nvPr/>
        </p:nvSpPr>
        <p:spPr>
          <a:xfrm>
            <a:off x="438150" y="4722019"/>
            <a:ext cx="209550" cy="14288"/>
          </a:xfrm>
          <a:custGeom>
            <a:avLst/>
            <a:gdLst/>
            <a:ahLst/>
            <a:cxnLst/>
            <a:rect l="l" t="t" r="r" b="b"/>
            <a:pathLst>
              <a:path w="209550" h="14288">
                <a:moveTo>
                  <a:pt x="0" y="0"/>
                </a:moveTo>
                <a:lnTo>
                  <a:pt x="209550" y="0"/>
                </a:lnTo>
                <a:lnTo>
                  <a:pt x="209550" y="14288"/>
                </a:lnTo>
                <a:lnTo>
                  <a:pt x="0" y="14288"/>
                </a:lnTo>
                <a:close/>
              </a:path>
            </a:pathLst>
          </a:custGeom>
          <a:solidFill>
            <a:srgbClr val="4AA3A2"/>
          </a:solidFill>
          <a:ln/>
        </p:spPr>
      </p:sp>
      <p:sp>
        <p:nvSpPr>
          <p:cNvPr id="51" name="Shape 45"/>
          <p:cNvSpPr/>
          <p:nvPr/>
        </p:nvSpPr>
        <p:spPr>
          <a:xfrm>
            <a:off x="722977" y="4657725"/>
            <a:ext cx="3152775" cy="142875"/>
          </a:xfrm>
          <a:custGeom>
            <a:avLst/>
            <a:gdLst/>
            <a:ahLst/>
            <a:cxnLst/>
            <a:rect l="l" t="t" r="r" b="b"/>
            <a:pathLst>
              <a:path w="3152775" h="142875">
                <a:moveTo>
                  <a:pt x="0" y="0"/>
                </a:moveTo>
                <a:lnTo>
                  <a:pt x="3152775" y="0"/>
                </a:lnTo>
                <a:lnTo>
                  <a:pt x="3152775" y="142875"/>
                </a:lnTo>
                <a:lnTo>
                  <a:pt x="0" y="142875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52" name="Text 46"/>
          <p:cNvSpPr/>
          <p:nvPr/>
        </p:nvSpPr>
        <p:spPr>
          <a:xfrm>
            <a:off x="722977" y="4657725"/>
            <a:ext cx="315277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0000"/>
              </a:lnSpc>
              <a:spcBef>
                <a:spcPts val="281"/>
              </a:spcBef>
              <a:buNone/>
            </a:pPr>
            <a:r>
              <a:rPr lang="en-US" sz="698" dirty="0">
                <a:solidFill>
                  <a:srgbClr val="5B6B7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Traceable inputs • transparent calculations • readable conclusions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0" y="0"/>
                </a:moveTo>
                <a:lnTo>
                  <a:pt x="9144000" y="0"/>
                </a:lnTo>
                <a:lnTo>
                  <a:pt x="9144000" y="5143500"/>
                </a:lnTo>
                <a:lnTo>
                  <a:pt x="0" y="514350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4" name="Shape 1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0" y="0"/>
                </a:moveTo>
                <a:lnTo>
                  <a:pt x="9144000" y="0"/>
                </a:lnTo>
                <a:lnTo>
                  <a:pt x="9144000" y="5143500"/>
                </a:lnTo>
                <a:lnTo>
                  <a:pt x="0" y="514350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5" name="Shape 2"/>
          <p:cNvSpPr/>
          <p:nvPr/>
        </p:nvSpPr>
        <p:spPr>
          <a:xfrm>
            <a:off x="495300" y="370999"/>
            <a:ext cx="8153400" cy="138113"/>
          </a:xfrm>
          <a:custGeom>
            <a:avLst/>
            <a:gdLst/>
            <a:ahLst/>
            <a:cxnLst/>
            <a:rect l="l" t="t" r="r" b="b"/>
            <a:pathLst>
              <a:path w="8153400" h="138113">
                <a:moveTo>
                  <a:pt x="0" y="0"/>
                </a:moveTo>
                <a:lnTo>
                  <a:pt x="8153400" y="0"/>
                </a:lnTo>
                <a:lnTo>
                  <a:pt x="8153400" y="138113"/>
                </a:lnTo>
                <a:lnTo>
                  <a:pt x="0" y="138113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6" name="Text 3"/>
          <p:cNvSpPr/>
          <p:nvPr/>
        </p:nvSpPr>
        <p:spPr>
          <a:xfrm>
            <a:off x="495300" y="370999"/>
            <a:ext cx="8153400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4348"/>
              </a:lnSpc>
              <a:spcBef>
                <a:spcPts val="281"/>
              </a:spcBef>
              <a:buNone/>
            </a:pPr>
            <a:r>
              <a:rPr lang="en-US" sz="900" b="1" dirty="0">
                <a:solidFill>
                  <a:srgbClr val="2F6B8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SYSTEM ARCHITECTURE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495300" y="575578"/>
            <a:ext cx="8153400" cy="328613"/>
          </a:xfrm>
          <a:custGeom>
            <a:avLst/>
            <a:gdLst/>
            <a:ahLst/>
            <a:cxnLst/>
            <a:rect l="l" t="t" r="r" b="b"/>
            <a:pathLst>
              <a:path w="8153400" h="328613">
                <a:moveTo>
                  <a:pt x="0" y="0"/>
                </a:moveTo>
                <a:lnTo>
                  <a:pt x="8153400" y="0"/>
                </a:lnTo>
                <a:lnTo>
                  <a:pt x="8153400" y="328613"/>
                </a:lnTo>
                <a:lnTo>
                  <a:pt x="0" y="328613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8" name="Text 5"/>
          <p:cNvSpPr/>
          <p:nvPr/>
        </p:nvSpPr>
        <p:spPr>
          <a:xfrm>
            <a:off x="495300" y="575578"/>
            <a:ext cx="8153400" cy="3286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3913"/>
              </a:lnSpc>
              <a:spcBef>
                <a:spcPts val="281"/>
              </a:spcBef>
              <a:buNone/>
            </a:pPr>
            <a:r>
              <a:rPr lang="en-US" sz="2402" b="1" dirty="0">
                <a:solidFill>
                  <a:srgbClr val="0B1F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Technology-to-Module Mapping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495300" y="972086"/>
            <a:ext cx="5334000" cy="409575"/>
          </a:xfrm>
          <a:custGeom>
            <a:avLst/>
            <a:gdLst/>
            <a:ahLst/>
            <a:cxnLst/>
            <a:rect l="l" t="t" r="r" b="b"/>
            <a:pathLst>
              <a:path w="5334000" h="409575">
                <a:moveTo>
                  <a:pt x="0" y="0"/>
                </a:moveTo>
                <a:lnTo>
                  <a:pt x="5334000" y="0"/>
                </a:lnTo>
                <a:lnTo>
                  <a:pt x="5334000" y="409575"/>
                </a:lnTo>
                <a:lnTo>
                  <a:pt x="0" y="409575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10" name="Text 7"/>
          <p:cNvSpPr/>
          <p:nvPr/>
        </p:nvSpPr>
        <p:spPr>
          <a:xfrm>
            <a:off x="495300" y="972086"/>
            <a:ext cx="5334000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7391"/>
              </a:lnSpc>
              <a:spcBef>
                <a:spcPts val="281"/>
              </a:spcBef>
              <a:buNone/>
            </a:pPr>
            <a:r>
              <a:rPr lang="en-US" sz="1198" dirty="0">
                <a:solidFill>
                  <a:srgbClr val="5B6B7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Each technology is assigned to the module where it adds the most control, accuracy, and traceability.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495300" y="1924794"/>
            <a:ext cx="8153400" cy="2876550"/>
          </a:xfrm>
          <a:custGeom>
            <a:avLst/>
            <a:gdLst/>
            <a:ahLst/>
            <a:cxnLst/>
            <a:rect l="l" t="t" r="r" b="b"/>
            <a:pathLst>
              <a:path w="8153400" h="2876550">
                <a:moveTo>
                  <a:pt x="33310" y="0"/>
                </a:moveTo>
                <a:lnTo>
                  <a:pt x="8120090" y="0"/>
                </a:lnTo>
                <a:quadBezTo>
                  <a:pt x="8153400" y="0"/>
                  <a:pt x="8153400" y="33310"/>
                </a:quadBezTo>
                <a:lnTo>
                  <a:pt x="8153400" y="2843240"/>
                </a:lnTo>
                <a:quadBezTo>
                  <a:pt x="8153400" y="2876550"/>
                  <a:pt x="8120090" y="2876550"/>
                </a:quadBezTo>
                <a:lnTo>
                  <a:pt x="33310" y="2876550"/>
                </a:lnTo>
                <a:quadBezTo>
                  <a:pt x="0" y="2876550"/>
                  <a:pt x="0" y="2843240"/>
                </a:quadBezTo>
                <a:lnTo>
                  <a:pt x="0" y="33310"/>
                </a:lnTo>
                <a:quadBezTo>
                  <a:pt x="0" y="0"/>
                  <a:pt x="33310" y="0"/>
                </a:quadBezTo>
                <a:close/>
              </a:path>
            </a:pathLst>
          </a:custGeom>
          <a:solidFill>
            <a:srgbClr val="F6F9FC"/>
          </a:solidFill>
          <a:ln/>
        </p:spPr>
      </p:sp>
      <p:sp>
        <p:nvSpPr>
          <p:cNvPr id="12" name="Shape 9"/>
          <p:cNvSpPr/>
          <p:nvPr/>
        </p:nvSpPr>
        <p:spPr>
          <a:xfrm>
            <a:off x="752475" y="2125654"/>
            <a:ext cx="7639050" cy="161925"/>
          </a:xfrm>
          <a:custGeom>
            <a:avLst/>
            <a:gdLst/>
            <a:ahLst/>
            <a:cxnLst/>
            <a:rect l="l" t="t" r="r" b="b"/>
            <a:pathLst>
              <a:path w="7639050" h="161925">
                <a:moveTo>
                  <a:pt x="0" y="0"/>
                </a:moveTo>
                <a:lnTo>
                  <a:pt x="7639050" y="0"/>
                </a:lnTo>
                <a:lnTo>
                  <a:pt x="7639050" y="161925"/>
                </a:lnTo>
                <a:lnTo>
                  <a:pt x="0" y="161925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13" name="Shape 10"/>
          <p:cNvSpPr/>
          <p:nvPr/>
        </p:nvSpPr>
        <p:spPr>
          <a:xfrm>
            <a:off x="866775" y="2128957"/>
            <a:ext cx="3443288" cy="100013"/>
          </a:xfrm>
          <a:custGeom>
            <a:avLst/>
            <a:gdLst/>
            <a:ahLst/>
            <a:cxnLst/>
            <a:rect l="l" t="t" r="r" b="b"/>
            <a:pathLst>
              <a:path w="3443288" h="100013">
                <a:moveTo>
                  <a:pt x="0" y="0"/>
                </a:moveTo>
                <a:lnTo>
                  <a:pt x="3443288" y="0"/>
                </a:lnTo>
                <a:lnTo>
                  <a:pt x="3443288" y="100013"/>
                </a:lnTo>
                <a:lnTo>
                  <a:pt x="0" y="100013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14" name="Text 11"/>
          <p:cNvSpPr/>
          <p:nvPr/>
        </p:nvSpPr>
        <p:spPr>
          <a:xfrm>
            <a:off x="866775" y="2128957"/>
            <a:ext cx="3443288" cy="1000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652"/>
              </a:lnSpc>
              <a:spcBef>
                <a:spcPts val="281"/>
              </a:spcBef>
              <a:buNone/>
            </a:pPr>
            <a:r>
              <a:rPr lang="en-US" sz="602" b="1" dirty="0">
                <a:solidFill>
                  <a:srgbClr val="2F6B8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TECHNOLOGY LAYER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4310062" y="2126605"/>
            <a:ext cx="523875" cy="104775"/>
          </a:xfrm>
          <a:custGeom>
            <a:avLst/>
            <a:gdLst/>
            <a:ahLst/>
            <a:cxnLst/>
            <a:rect l="l" t="t" r="r" b="b"/>
            <a:pathLst>
              <a:path w="523875" h="104775">
                <a:moveTo>
                  <a:pt x="0" y="0"/>
                </a:moveTo>
                <a:lnTo>
                  <a:pt x="523875" y="0"/>
                </a:lnTo>
                <a:lnTo>
                  <a:pt x="523875" y="104775"/>
                </a:lnTo>
                <a:lnTo>
                  <a:pt x="0" y="104775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16" name="Text 13"/>
          <p:cNvSpPr/>
          <p:nvPr/>
        </p:nvSpPr>
        <p:spPr>
          <a:xfrm>
            <a:off x="4310062" y="2126605"/>
            <a:ext cx="523875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46087"/>
              </a:lnSpc>
              <a:spcBef>
                <a:spcPts val="281"/>
              </a:spcBef>
              <a:buNone/>
            </a:pPr>
            <a:r>
              <a:rPr lang="en-US" sz="501" b="1" dirty="0">
                <a:solidFill>
                  <a:srgbClr val="5B6B7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maps to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4833938" y="2128957"/>
            <a:ext cx="3443288" cy="100013"/>
          </a:xfrm>
          <a:custGeom>
            <a:avLst/>
            <a:gdLst/>
            <a:ahLst/>
            <a:cxnLst/>
            <a:rect l="l" t="t" r="r" b="b"/>
            <a:pathLst>
              <a:path w="3443288" h="100013">
                <a:moveTo>
                  <a:pt x="0" y="0"/>
                </a:moveTo>
                <a:lnTo>
                  <a:pt x="3443288" y="0"/>
                </a:lnTo>
                <a:lnTo>
                  <a:pt x="3443288" y="100013"/>
                </a:lnTo>
                <a:lnTo>
                  <a:pt x="0" y="100013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18" name="Text 15"/>
          <p:cNvSpPr/>
          <p:nvPr/>
        </p:nvSpPr>
        <p:spPr>
          <a:xfrm>
            <a:off x="4833938" y="2128957"/>
            <a:ext cx="3443288" cy="1000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652"/>
              </a:lnSpc>
              <a:spcBef>
                <a:spcPts val="281"/>
              </a:spcBef>
              <a:buNone/>
            </a:pPr>
            <a:r>
              <a:rPr lang="en-US" sz="602" b="1" dirty="0">
                <a:solidFill>
                  <a:srgbClr val="2F6B8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MODULE RESPONSIBILITY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752475" y="2411493"/>
            <a:ext cx="7639050" cy="533400"/>
          </a:xfrm>
          <a:custGeom>
            <a:avLst/>
            <a:gdLst/>
            <a:ahLst/>
            <a:cxnLst/>
            <a:rect l="l" t="t" r="r" b="b"/>
            <a:pathLst>
              <a:path w="7639050" h="533400">
                <a:moveTo>
                  <a:pt x="114302" y="0"/>
                </a:moveTo>
                <a:lnTo>
                  <a:pt x="7524748" y="0"/>
                </a:lnTo>
                <a:quadBezTo>
                  <a:pt x="7639050" y="0"/>
                  <a:pt x="7639050" y="114302"/>
                </a:quadBezTo>
                <a:lnTo>
                  <a:pt x="7639050" y="419098"/>
                </a:lnTo>
                <a:quadBezTo>
                  <a:pt x="7639050" y="533400"/>
                  <a:pt x="7524748" y="533400"/>
                </a:quadBezTo>
                <a:lnTo>
                  <a:pt x="114302" y="533400"/>
                </a:lnTo>
                <a:quadBezTo>
                  <a:pt x="0" y="533400"/>
                  <a:pt x="0" y="419098"/>
                </a:quadBezTo>
                <a:lnTo>
                  <a:pt x="0" y="114302"/>
                </a:lnTo>
                <a:quadBezTo>
                  <a:pt x="0" y="0"/>
                  <a:pt x="114302" y="0"/>
                </a:quad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0" name="Shape 17"/>
          <p:cNvSpPr/>
          <p:nvPr/>
        </p:nvSpPr>
        <p:spPr>
          <a:xfrm>
            <a:off x="866775" y="2554368"/>
            <a:ext cx="247650" cy="247650"/>
          </a:xfrm>
          <a:custGeom>
            <a:avLst/>
            <a:gdLst/>
            <a:ahLst/>
            <a:cxnLst/>
            <a:rect l="l" t="t" r="r" b="b"/>
            <a:pathLst>
              <a:path w="247650" h="247650">
                <a:moveTo>
                  <a:pt x="52754" y="0"/>
                </a:moveTo>
                <a:lnTo>
                  <a:pt x="194896" y="0"/>
                </a:lnTo>
                <a:quadBezTo>
                  <a:pt x="247650" y="0"/>
                  <a:pt x="247650" y="52754"/>
                </a:quadBezTo>
                <a:lnTo>
                  <a:pt x="247650" y="194896"/>
                </a:lnTo>
                <a:quadBezTo>
                  <a:pt x="247650" y="247650"/>
                  <a:pt x="194896" y="247650"/>
                </a:quadBezTo>
                <a:lnTo>
                  <a:pt x="52754" y="247650"/>
                </a:lnTo>
                <a:quadBezTo>
                  <a:pt x="0" y="247650"/>
                  <a:pt x="0" y="194896"/>
                </a:quadBezTo>
                <a:lnTo>
                  <a:pt x="0" y="52754"/>
                </a:lnTo>
                <a:quadBezTo>
                  <a:pt x="0" y="0"/>
                  <a:pt x="52754" y="0"/>
                </a:quadBezTo>
                <a:close/>
              </a:path>
            </a:pathLst>
          </a:custGeom>
          <a:solidFill>
            <a:srgbClr val="EAF3F7"/>
          </a:solidFill>
          <a:ln/>
        </p:spPr>
      </p:sp>
      <p:pic>
        <p:nvPicPr>
          <p:cNvPr id="2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6306" y="2613897"/>
            <a:ext cx="128588" cy="128588"/>
          </a:xfrm>
          <a:prstGeom prst="rect">
            <a:avLst/>
          </a:prstGeom>
        </p:spPr>
      </p:pic>
      <p:sp>
        <p:nvSpPr>
          <p:cNvPr id="22" name="Shape 18"/>
          <p:cNvSpPr/>
          <p:nvPr/>
        </p:nvSpPr>
        <p:spPr>
          <a:xfrm>
            <a:off x="1209675" y="2560557"/>
            <a:ext cx="3100388" cy="114300"/>
          </a:xfrm>
          <a:custGeom>
            <a:avLst/>
            <a:gdLst/>
            <a:ahLst/>
            <a:cxnLst/>
            <a:rect l="l" t="t" r="r" b="b"/>
            <a:pathLst>
              <a:path w="3100388" h="114300">
                <a:moveTo>
                  <a:pt x="0" y="0"/>
                </a:moveTo>
                <a:lnTo>
                  <a:pt x="3100388" y="0"/>
                </a:lnTo>
                <a:lnTo>
                  <a:pt x="3100388" y="114300"/>
                </a:lnTo>
                <a:lnTo>
                  <a:pt x="0" y="114300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23" name="Text 19"/>
          <p:cNvSpPr/>
          <p:nvPr/>
        </p:nvSpPr>
        <p:spPr>
          <a:xfrm>
            <a:off x="1209675" y="2560557"/>
            <a:ext cx="310038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3913"/>
              </a:lnSpc>
              <a:spcBef>
                <a:spcPts val="281"/>
              </a:spcBef>
              <a:buNone/>
            </a:pPr>
            <a:r>
              <a:rPr lang="en-US" sz="698" b="1" dirty="0">
                <a:solidFill>
                  <a:srgbClr val="0B1F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Python + Pandas</a:t>
            </a:r>
            <a:endParaRPr lang="en-US" sz="900" dirty="0"/>
          </a:p>
        </p:txBody>
      </p:sp>
      <p:sp>
        <p:nvSpPr>
          <p:cNvPr id="24" name="Shape 20"/>
          <p:cNvSpPr/>
          <p:nvPr/>
        </p:nvSpPr>
        <p:spPr>
          <a:xfrm>
            <a:off x="1209675" y="2700755"/>
            <a:ext cx="3100388" cy="95250"/>
          </a:xfrm>
          <a:custGeom>
            <a:avLst/>
            <a:gdLst/>
            <a:ahLst/>
            <a:cxnLst/>
            <a:rect l="l" t="t" r="r" b="b"/>
            <a:pathLst>
              <a:path w="3100388" h="95250">
                <a:moveTo>
                  <a:pt x="0" y="0"/>
                </a:moveTo>
                <a:lnTo>
                  <a:pt x="3100388" y="0"/>
                </a:lnTo>
                <a:lnTo>
                  <a:pt x="3100388" y="95250"/>
                </a:lnTo>
                <a:lnTo>
                  <a:pt x="0" y="95250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25" name="Text 21"/>
          <p:cNvSpPr/>
          <p:nvPr/>
        </p:nvSpPr>
        <p:spPr>
          <a:xfrm>
            <a:off x="1209675" y="2700755"/>
            <a:ext cx="3100388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1304"/>
              </a:lnSpc>
              <a:spcBef>
                <a:spcPts val="281"/>
              </a:spcBef>
              <a:buNone/>
            </a:pPr>
            <a:r>
              <a:rPr lang="en-US" sz="602" dirty="0">
                <a:solidFill>
                  <a:srgbClr val="5B6B7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Data processing and structured financial data</a:t>
            </a:r>
            <a:endParaRPr lang="en-US" sz="900" dirty="0"/>
          </a:p>
        </p:txBody>
      </p:sp>
      <p:pic>
        <p:nvPicPr>
          <p:cNvPr id="2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95800" y="2601993"/>
            <a:ext cx="152400" cy="152400"/>
          </a:xfrm>
          <a:prstGeom prst="rect">
            <a:avLst/>
          </a:prstGeom>
        </p:spPr>
      </p:pic>
      <p:sp>
        <p:nvSpPr>
          <p:cNvPr id="27" name="Shape 22"/>
          <p:cNvSpPr/>
          <p:nvPr/>
        </p:nvSpPr>
        <p:spPr>
          <a:xfrm>
            <a:off x="4833938" y="2616279"/>
            <a:ext cx="3443288" cy="123825"/>
          </a:xfrm>
          <a:custGeom>
            <a:avLst/>
            <a:gdLst/>
            <a:ahLst/>
            <a:cxnLst/>
            <a:rect l="l" t="t" r="r" b="b"/>
            <a:pathLst>
              <a:path w="3443288" h="123825">
                <a:moveTo>
                  <a:pt x="0" y="0"/>
                </a:moveTo>
                <a:lnTo>
                  <a:pt x="3443288" y="0"/>
                </a:lnTo>
                <a:lnTo>
                  <a:pt x="3443288" y="123825"/>
                </a:lnTo>
                <a:lnTo>
                  <a:pt x="0" y="123825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28" name="Text 23"/>
          <p:cNvSpPr/>
          <p:nvPr/>
        </p:nvSpPr>
        <p:spPr>
          <a:xfrm>
            <a:off x="4833938" y="2616279"/>
            <a:ext cx="3443288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9130"/>
              </a:lnSpc>
              <a:spcBef>
                <a:spcPts val="281"/>
              </a:spcBef>
              <a:buNone/>
            </a:pPr>
            <a:r>
              <a:rPr lang="en-US" sz="698" b="1" dirty="0">
                <a:solidFill>
                  <a:srgbClr val="0B1F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Data preparation module</a:t>
            </a:r>
            <a:endParaRPr lang="en-US" sz="900" dirty="0"/>
          </a:p>
        </p:txBody>
      </p:sp>
      <p:sp>
        <p:nvSpPr>
          <p:cNvPr id="29" name="Shape 24"/>
          <p:cNvSpPr/>
          <p:nvPr/>
        </p:nvSpPr>
        <p:spPr>
          <a:xfrm>
            <a:off x="752475" y="3021093"/>
            <a:ext cx="7639050" cy="533400"/>
          </a:xfrm>
          <a:custGeom>
            <a:avLst/>
            <a:gdLst/>
            <a:ahLst/>
            <a:cxnLst/>
            <a:rect l="l" t="t" r="r" b="b"/>
            <a:pathLst>
              <a:path w="7639050" h="533400">
                <a:moveTo>
                  <a:pt x="114302" y="0"/>
                </a:moveTo>
                <a:lnTo>
                  <a:pt x="7524748" y="0"/>
                </a:lnTo>
                <a:quadBezTo>
                  <a:pt x="7639050" y="0"/>
                  <a:pt x="7639050" y="114302"/>
                </a:quadBezTo>
                <a:lnTo>
                  <a:pt x="7639050" y="419098"/>
                </a:lnTo>
                <a:quadBezTo>
                  <a:pt x="7639050" y="533400"/>
                  <a:pt x="7524748" y="533400"/>
                </a:quadBezTo>
                <a:lnTo>
                  <a:pt x="114302" y="533400"/>
                </a:lnTo>
                <a:quadBezTo>
                  <a:pt x="0" y="533400"/>
                  <a:pt x="0" y="419098"/>
                </a:quadBezTo>
                <a:lnTo>
                  <a:pt x="0" y="114302"/>
                </a:lnTo>
                <a:quadBezTo>
                  <a:pt x="0" y="0"/>
                  <a:pt x="114302" y="0"/>
                </a:quad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30" name="Shape 25"/>
          <p:cNvSpPr/>
          <p:nvPr/>
        </p:nvSpPr>
        <p:spPr>
          <a:xfrm>
            <a:off x="866775" y="3163968"/>
            <a:ext cx="247650" cy="247650"/>
          </a:xfrm>
          <a:custGeom>
            <a:avLst/>
            <a:gdLst/>
            <a:ahLst/>
            <a:cxnLst/>
            <a:rect l="l" t="t" r="r" b="b"/>
            <a:pathLst>
              <a:path w="247650" h="247650">
                <a:moveTo>
                  <a:pt x="52754" y="0"/>
                </a:moveTo>
                <a:lnTo>
                  <a:pt x="194896" y="0"/>
                </a:lnTo>
                <a:quadBezTo>
                  <a:pt x="247650" y="0"/>
                  <a:pt x="247650" y="52754"/>
                </a:quadBezTo>
                <a:lnTo>
                  <a:pt x="247650" y="194896"/>
                </a:lnTo>
                <a:quadBezTo>
                  <a:pt x="247650" y="247650"/>
                  <a:pt x="194896" y="247650"/>
                </a:quadBezTo>
                <a:lnTo>
                  <a:pt x="52754" y="247650"/>
                </a:lnTo>
                <a:quadBezTo>
                  <a:pt x="0" y="247650"/>
                  <a:pt x="0" y="194896"/>
                </a:quadBezTo>
                <a:lnTo>
                  <a:pt x="0" y="52754"/>
                </a:lnTo>
                <a:quadBezTo>
                  <a:pt x="0" y="0"/>
                  <a:pt x="52754" y="0"/>
                </a:quadBezTo>
                <a:close/>
              </a:path>
            </a:pathLst>
          </a:custGeom>
          <a:solidFill>
            <a:srgbClr val="EAF3F7"/>
          </a:solidFill>
          <a:ln/>
        </p:spPr>
      </p:sp>
      <p:pic>
        <p:nvPicPr>
          <p:cNvPr id="3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6306" y="3223497"/>
            <a:ext cx="128588" cy="128588"/>
          </a:xfrm>
          <a:prstGeom prst="rect">
            <a:avLst/>
          </a:prstGeom>
        </p:spPr>
      </p:pic>
      <p:sp>
        <p:nvSpPr>
          <p:cNvPr id="32" name="Shape 26"/>
          <p:cNvSpPr/>
          <p:nvPr/>
        </p:nvSpPr>
        <p:spPr>
          <a:xfrm>
            <a:off x="1209675" y="3170157"/>
            <a:ext cx="3100388" cy="114300"/>
          </a:xfrm>
          <a:custGeom>
            <a:avLst/>
            <a:gdLst/>
            <a:ahLst/>
            <a:cxnLst/>
            <a:rect l="l" t="t" r="r" b="b"/>
            <a:pathLst>
              <a:path w="3100388" h="114300">
                <a:moveTo>
                  <a:pt x="0" y="0"/>
                </a:moveTo>
                <a:lnTo>
                  <a:pt x="3100388" y="0"/>
                </a:lnTo>
                <a:lnTo>
                  <a:pt x="3100388" y="114300"/>
                </a:lnTo>
                <a:lnTo>
                  <a:pt x="0" y="114300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33" name="Text 27"/>
          <p:cNvSpPr/>
          <p:nvPr/>
        </p:nvSpPr>
        <p:spPr>
          <a:xfrm>
            <a:off x="1209675" y="3170157"/>
            <a:ext cx="310038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3913"/>
              </a:lnSpc>
              <a:spcBef>
                <a:spcPts val="281"/>
              </a:spcBef>
              <a:buNone/>
            </a:pPr>
            <a:r>
              <a:rPr lang="en-US" sz="698" b="1" dirty="0">
                <a:solidFill>
                  <a:srgbClr val="0B1F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pdfplumber / Camelot</a:t>
            </a:r>
            <a:endParaRPr lang="en-US" sz="900" dirty="0"/>
          </a:p>
        </p:txBody>
      </p:sp>
      <p:sp>
        <p:nvSpPr>
          <p:cNvPr id="34" name="Shape 28"/>
          <p:cNvSpPr/>
          <p:nvPr/>
        </p:nvSpPr>
        <p:spPr>
          <a:xfrm>
            <a:off x="1209675" y="3310355"/>
            <a:ext cx="3100388" cy="95250"/>
          </a:xfrm>
          <a:custGeom>
            <a:avLst/>
            <a:gdLst/>
            <a:ahLst/>
            <a:cxnLst/>
            <a:rect l="l" t="t" r="r" b="b"/>
            <a:pathLst>
              <a:path w="3100388" h="95250">
                <a:moveTo>
                  <a:pt x="0" y="0"/>
                </a:moveTo>
                <a:lnTo>
                  <a:pt x="3100388" y="0"/>
                </a:lnTo>
                <a:lnTo>
                  <a:pt x="3100388" y="95250"/>
                </a:lnTo>
                <a:lnTo>
                  <a:pt x="0" y="95250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35" name="Text 29"/>
          <p:cNvSpPr/>
          <p:nvPr/>
        </p:nvSpPr>
        <p:spPr>
          <a:xfrm>
            <a:off x="1209675" y="3310355"/>
            <a:ext cx="3100388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1304"/>
              </a:lnSpc>
              <a:spcBef>
                <a:spcPts val="281"/>
              </a:spcBef>
              <a:buNone/>
            </a:pPr>
            <a:r>
              <a:rPr lang="en-US" sz="602" dirty="0">
                <a:solidFill>
                  <a:srgbClr val="5B6B7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PDF table and figure extraction</a:t>
            </a:r>
            <a:endParaRPr lang="en-US" sz="900" dirty="0"/>
          </a:p>
        </p:txBody>
      </p:sp>
      <p:pic>
        <p:nvPicPr>
          <p:cNvPr id="36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95800" y="3211593"/>
            <a:ext cx="152400" cy="152400"/>
          </a:xfrm>
          <a:prstGeom prst="rect">
            <a:avLst/>
          </a:prstGeom>
        </p:spPr>
      </p:pic>
      <p:sp>
        <p:nvSpPr>
          <p:cNvPr id="37" name="Shape 30"/>
          <p:cNvSpPr/>
          <p:nvPr/>
        </p:nvSpPr>
        <p:spPr>
          <a:xfrm>
            <a:off x="4833938" y="3225879"/>
            <a:ext cx="3443288" cy="123825"/>
          </a:xfrm>
          <a:custGeom>
            <a:avLst/>
            <a:gdLst/>
            <a:ahLst/>
            <a:cxnLst/>
            <a:rect l="l" t="t" r="r" b="b"/>
            <a:pathLst>
              <a:path w="3443288" h="123825">
                <a:moveTo>
                  <a:pt x="0" y="0"/>
                </a:moveTo>
                <a:lnTo>
                  <a:pt x="3443288" y="0"/>
                </a:lnTo>
                <a:lnTo>
                  <a:pt x="3443288" y="123825"/>
                </a:lnTo>
                <a:lnTo>
                  <a:pt x="0" y="123825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38" name="Text 31"/>
          <p:cNvSpPr/>
          <p:nvPr/>
        </p:nvSpPr>
        <p:spPr>
          <a:xfrm>
            <a:off x="4833938" y="3225879"/>
            <a:ext cx="3443288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9130"/>
              </a:lnSpc>
              <a:spcBef>
                <a:spcPts val="281"/>
              </a:spcBef>
              <a:buNone/>
            </a:pPr>
            <a:r>
              <a:rPr lang="en-US" sz="698" b="1" dirty="0">
                <a:solidFill>
                  <a:srgbClr val="0B1F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Document ingestion module</a:t>
            </a:r>
            <a:endParaRPr lang="en-US" sz="900" dirty="0"/>
          </a:p>
        </p:txBody>
      </p:sp>
      <p:sp>
        <p:nvSpPr>
          <p:cNvPr id="39" name="Shape 32"/>
          <p:cNvSpPr/>
          <p:nvPr/>
        </p:nvSpPr>
        <p:spPr>
          <a:xfrm>
            <a:off x="752475" y="3630693"/>
            <a:ext cx="7639050" cy="533400"/>
          </a:xfrm>
          <a:custGeom>
            <a:avLst/>
            <a:gdLst/>
            <a:ahLst/>
            <a:cxnLst/>
            <a:rect l="l" t="t" r="r" b="b"/>
            <a:pathLst>
              <a:path w="7639050" h="533400">
                <a:moveTo>
                  <a:pt x="114302" y="0"/>
                </a:moveTo>
                <a:lnTo>
                  <a:pt x="7524748" y="0"/>
                </a:lnTo>
                <a:quadBezTo>
                  <a:pt x="7639050" y="0"/>
                  <a:pt x="7639050" y="114302"/>
                </a:quadBezTo>
                <a:lnTo>
                  <a:pt x="7639050" y="419098"/>
                </a:lnTo>
                <a:quadBezTo>
                  <a:pt x="7639050" y="533400"/>
                  <a:pt x="7524748" y="533400"/>
                </a:quadBezTo>
                <a:lnTo>
                  <a:pt x="114302" y="533400"/>
                </a:lnTo>
                <a:quadBezTo>
                  <a:pt x="0" y="533400"/>
                  <a:pt x="0" y="419098"/>
                </a:quadBezTo>
                <a:lnTo>
                  <a:pt x="0" y="114302"/>
                </a:lnTo>
                <a:quadBezTo>
                  <a:pt x="0" y="0"/>
                  <a:pt x="114302" y="0"/>
                </a:quad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40" name="Shape 33"/>
          <p:cNvSpPr/>
          <p:nvPr/>
        </p:nvSpPr>
        <p:spPr>
          <a:xfrm>
            <a:off x="866775" y="3773568"/>
            <a:ext cx="247650" cy="247650"/>
          </a:xfrm>
          <a:custGeom>
            <a:avLst/>
            <a:gdLst/>
            <a:ahLst/>
            <a:cxnLst/>
            <a:rect l="l" t="t" r="r" b="b"/>
            <a:pathLst>
              <a:path w="247650" h="247650">
                <a:moveTo>
                  <a:pt x="52754" y="0"/>
                </a:moveTo>
                <a:lnTo>
                  <a:pt x="194896" y="0"/>
                </a:lnTo>
                <a:quadBezTo>
                  <a:pt x="247650" y="0"/>
                  <a:pt x="247650" y="52754"/>
                </a:quadBezTo>
                <a:lnTo>
                  <a:pt x="247650" y="194896"/>
                </a:lnTo>
                <a:quadBezTo>
                  <a:pt x="247650" y="247650"/>
                  <a:pt x="194896" y="247650"/>
                </a:quadBezTo>
                <a:lnTo>
                  <a:pt x="52754" y="247650"/>
                </a:lnTo>
                <a:quadBezTo>
                  <a:pt x="0" y="247650"/>
                  <a:pt x="0" y="194896"/>
                </a:quadBezTo>
                <a:lnTo>
                  <a:pt x="0" y="52754"/>
                </a:lnTo>
                <a:quadBezTo>
                  <a:pt x="0" y="0"/>
                  <a:pt x="52754" y="0"/>
                </a:quadBezTo>
                <a:close/>
              </a:path>
            </a:pathLst>
          </a:custGeom>
          <a:solidFill>
            <a:srgbClr val="EAF3F7"/>
          </a:solidFill>
          <a:ln/>
        </p:spPr>
      </p:sp>
      <p:pic>
        <p:nvPicPr>
          <p:cNvPr id="41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6306" y="3833097"/>
            <a:ext cx="128588" cy="128588"/>
          </a:xfrm>
          <a:prstGeom prst="rect">
            <a:avLst/>
          </a:prstGeom>
        </p:spPr>
      </p:pic>
      <p:sp>
        <p:nvSpPr>
          <p:cNvPr id="42" name="Shape 34"/>
          <p:cNvSpPr/>
          <p:nvPr/>
        </p:nvSpPr>
        <p:spPr>
          <a:xfrm>
            <a:off x="1209675" y="3779757"/>
            <a:ext cx="3100388" cy="114300"/>
          </a:xfrm>
          <a:custGeom>
            <a:avLst/>
            <a:gdLst/>
            <a:ahLst/>
            <a:cxnLst/>
            <a:rect l="l" t="t" r="r" b="b"/>
            <a:pathLst>
              <a:path w="3100388" h="114300">
                <a:moveTo>
                  <a:pt x="0" y="0"/>
                </a:moveTo>
                <a:lnTo>
                  <a:pt x="3100388" y="0"/>
                </a:lnTo>
                <a:lnTo>
                  <a:pt x="3100388" y="114300"/>
                </a:lnTo>
                <a:lnTo>
                  <a:pt x="0" y="114300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43" name="Text 35"/>
          <p:cNvSpPr/>
          <p:nvPr/>
        </p:nvSpPr>
        <p:spPr>
          <a:xfrm>
            <a:off x="1209675" y="3779757"/>
            <a:ext cx="310038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3913"/>
              </a:lnSpc>
              <a:spcBef>
                <a:spcPts val="281"/>
              </a:spcBef>
              <a:buNone/>
            </a:pPr>
            <a:r>
              <a:rPr lang="en-US" sz="698" b="1" dirty="0">
                <a:solidFill>
                  <a:srgbClr val="0B1F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LLM API</a:t>
            </a:r>
            <a:endParaRPr lang="en-US" sz="900" dirty="0"/>
          </a:p>
        </p:txBody>
      </p:sp>
      <p:sp>
        <p:nvSpPr>
          <p:cNvPr id="44" name="Shape 36"/>
          <p:cNvSpPr/>
          <p:nvPr/>
        </p:nvSpPr>
        <p:spPr>
          <a:xfrm>
            <a:off x="1209675" y="3919955"/>
            <a:ext cx="3100388" cy="95250"/>
          </a:xfrm>
          <a:custGeom>
            <a:avLst/>
            <a:gdLst/>
            <a:ahLst/>
            <a:cxnLst/>
            <a:rect l="l" t="t" r="r" b="b"/>
            <a:pathLst>
              <a:path w="3100388" h="95250">
                <a:moveTo>
                  <a:pt x="0" y="0"/>
                </a:moveTo>
                <a:lnTo>
                  <a:pt x="3100388" y="0"/>
                </a:lnTo>
                <a:lnTo>
                  <a:pt x="3100388" y="95250"/>
                </a:lnTo>
                <a:lnTo>
                  <a:pt x="0" y="95250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45" name="Text 37"/>
          <p:cNvSpPr/>
          <p:nvPr/>
        </p:nvSpPr>
        <p:spPr>
          <a:xfrm>
            <a:off x="1209675" y="3919955"/>
            <a:ext cx="3100388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1304"/>
              </a:lnSpc>
              <a:spcBef>
                <a:spcPts val="281"/>
              </a:spcBef>
              <a:buNone/>
            </a:pPr>
            <a:r>
              <a:rPr lang="en-US" sz="602" dirty="0">
                <a:solidFill>
                  <a:srgbClr val="5B6B7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Normalization and grounded narrative generation</a:t>
            </a:r>
            <a:endParaRPr lang="en-US" sz="900" dirty="0"/>
          </a:p>
        </p:txBody>
      </p:sp>
      <p:pic>
        <p:nvPicPr>
          <p:cNvPr id="46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95800" y="3821193"/>
            <a:ext cx="152400" cy="152400"/>
          </a:xfrm>
          <a:prstGeom prst="rect">
            <a:avLst/>
          </a:prstGeom>
        </p:spPr>
      </p:pic>
      <p:sp>
        <p:nvSpPr>
          <p:cNvPr id="47" name="Shape 38"/>
          <p:cNvSpPr/>
          <p:nvPr/>
        </p:nvSpPr>
        <p:spPr>
          <a:xfrm>
            <a:off x="4833938" y="3835479"/>
            <a:ext cx="3443288" cy="123825"/>
          </a:xfrm>
          <a:custGeom>
            <a:avLst/>
            <a:gdLst/>
            <a:ahLst/>
            <a:cxnLst/>
            <a:rect l="l" t="t" r="r" b="b"/>
            <a:pathLst>
              <a:path w="3443288" h="123825">
                <a:moveTo>
                  <a:pt x="0" y="0"/>
                </a:moveTo>
                <a:lnTo>
                  <a:pt x="3443288" y="0"/>
                </a:lnTo>
                <a:lnTo>
                  <a:pt x="3443288" y="123825"/>
                </a:lnTo>
                <a:lnTo>
                  <a:pt x="0" y="123825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48" name="Text 39"/>
          <p:cNvSpPr/>
          <p:nvPr/>
        </p:nvSpPr>
        <p:spPr>
          <a:xfrm>
            <a:off x="4833938" y="3835479"/>
            <a:ext cx="3443288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9130"/>
              </a:lnSpc>
              <a:spcBef>
                <a:spcPts val="281"/>
              </a:spcBef>
              <a:buNone/>
            </a:pPr>
            <a:r>
              <a:rPr lang="en-US" sz="698" b="1" dirty="0">
                <a:solidFill>
                  <a:srgbClr val="0B1F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Interpretation module</a:t>
            </a:r>
            <a:endParaRPr lang="en-US" sz="900" dirty="0"/>
          </a:p>
        </p:txBody>
      </p:sp>
      <p:sp>
        <p:nvSpPr>
          <p:cNvPr id="49" name="Shape 40"/>
          <p:cNvSpPr/>
          <p:nvPr/>
        </p:nvSpPr>
        <p:spPr>
          <a:xfrm>
            <a:off x="752475" y="4240293"/>
            <a:ext cx="7639050" cy="533400"/>
          </a:xfrm>
          <a:custGeom>
            <a:avLst/>
            <a:gdLst/>
            <a:ahLst/>
            <a:cxnLst/>
            <a:rect l="l" t="t" r="r" b="b"/>
            <a:pathLst>
              <a:path w="7639050" h="533400">
                <a:moveTo>
                  <a:pt x="114302" y="0"/>
                </a:moveTo>
                <a:lnTo>
                  <a:pt x="7524748" y="0"/>
                </a:lnTo>
                <a:quadBezTo>
                  <a:pt x="7639050" y="0"/>
                  <a:pt x="7639050" y="114302"/>
                </a:quadBezTo>
                <a:lnTo>
                  <a:pt x="7639050" y="419098"/>
                </a:lnTo>
                <a:quadBezTo>
                  <a:pt x="7639050" y="533400"/>
                  <a:pt x="7524748" y="533400"/>
                </a:quadBezTo>
                <a:lnTo>
                  <a:pt x="114302" y="533400"/>
                </a:lnTo>
                <a:quadBezTo>
                  <a:pt x="0" y="533400"/>
                  <a:pt x="0" y="419098"/>
                </a:quadBezTo>
                <a:lnTo>
                  <a:pt x="0" y="114302"/>
                </a:lnTo>
                <a:quadBezTo>
                  <a:pt x="0" y="0"/>
                  <a:pt x="114302" y="0"/>
                </a:quad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50" name="Shape 41"/>
          <p:cNvSpPr/>
          <p:nvPr/>
        </p:nvSpPr>
        <p:spPr>
          <a:xfrm>
            <a:off x="866775" y="4383168"/>
            <a:ext cx="247650" cy="247650"/>
          </a:xfrm>
          <a:custGeom>
            <a:avLst/>
            <a:gdLst/>
            <a:ahLst/>
            <a:cxnLst/>
            <a:rect l="l" t="t" r="r" b="b"/>
            <a:pathLst>
              <a:path w="247650" h="247650">
                <a:moveTo>
                  <a:pt x="52754" y="0"/>
                </a:moveTo>
                <a:lnTo>
                  <a:pt x="194896" y="0"/>
                </a:lnTo>
                <a:quadBezTo>
                  <a:pt x="247650" y="0"/>
                  <a:pt x="247650" y="52754"/>
                </a:quadBezTo>
                <a:lnTo>
                  <a:pt x="247650" y="194896"/>
                </a:lnTo>
                <a:quadBezTo>
                  <a:pt x="247650" y="247650"/>
                  <a:pt x="194896" y="247650"/>
                </a:quadBezTo>
                <a:lnTo>
                  <a:pt x="52754" y="247650"/>
                </a:lnTo>
                <a:quadBezTo>
                  <a:pt x="0" y="247650"/>
                  <a:pt x="0" y="194896"/>
                </a:quadBezTo>
                <a:lnTo>
                  <a:pt x="0" y="52754"/>
                </a:lnTo>
                <a:quadBezTo>
                  <a:pt x="0" y="0"/>
                  <a:pt x="52754" y="0"/>
                </a:quadBezTo>
                <a:close/>
              </a:path>
            </a:pathLst>
          </a:custGeom>
          <a:solidFill>
            <a:srgbClr val="EAF3F7"/>
          </a:solidFill>
          <a:ln/>
        </p:spPr>
      </p:sp>
      <p:pic>
        <p:nvPicPr>
          <p:cNvPr id="51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26306" y="4442697"/>
            <a:ext cx="128588" cy="128588"/>
          </a:xfrm>
          <a:prstGeom prst="rect">
            <a:avLst/>
          </a:prstGeom>
        </p:spPr>
      </p:pic>
      <p:sp>
        <p:nvSpPr>
          <p:cNvPr id="52" name="Shape 42"/>
          <p:cNvSpPr/>
          <p:nvPr/>
        </p:nvSpPr>
        <p:spPr>
          <a:xfrm>
            <a:off x="1209675" y="4389357"/>
            <a:ext cx="3100388" cy="114300"/>
          </a:xfrm>
          <a:custGeom>
            <a:avLst/>
            <a:gdLst/>
            <a:ahLst/>
            <a:cxnLst/>
            <a:rect l="l" t="t" r="r" b="b"/>
            <a:pathLst>
              <a:path w="3100388" h="114300">
                <a:moveTo>
                  <a:pt x="0" y="0"/>
                </a:moveTo>
                <a:lnTo>
                  <a:pt x="3100388" y="0"/>
                </a:lnTo>
                <a:lnTo>
                  <a:pt x="3100388" y="114300"/>
                </a:lnTo>
                <a:lnTo>
                  <a:pt x="0" y="114300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53" name="Text 43"/>
          <p:cNvSpPr/>
          <p:nvPr/>
        </p:nvSpPr>
        <p:spPr>
          <a:xfrm>
            <a:off x="1209675" y="4389357"/>
            <a:ext cx="310038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3913"/>
              </a:lnSpc>
              <a:spcBef>
                <a:spcPts val="281"/>
              </a:spcBef>
              <a:buNone/>
            </a:pPr>
            <a:r>
              <a:rPr lang="en-US" sz="698" b="1" dirty="0">
                <a:solidFill>
                  <a:srgbClr val="0B1F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Financial formulas</a:t>
            </a:r>
            <a:endParaRPr lang="en-US" sz="900" dirty="0"/>
          </a:p>
        </p:txBody>
      </p:sp>
      <p:sp>
        <p:nvSpPr>
          <p:cNvPr id="54" name="Shape 44"/>
          <p:cNvSpPr/>
          <p:nvPr/>
        </p:nvSpPr>
        <p:spPr>
          <a:xfrm>
            <a:off x="1209675" y="4529555"/>
            <a:ext cx="3100388" cy="95250"/>
          </a:xfrm>
          <a:custGeom>
            <a:avLst/>
            <a:gdLst/>
            <a:ahLst/>
            <a:cxnLst/>
            <a:rect l="l" t="t" r="r" b="b"/>
            <a:pathLst>
              <a:path w="3100388" h="95250">
                <a:moveTo>
                  <a:pt x="0" y="0"/>
                </a:moveTo>
                <a:lnTo>
                  <a:pt x="3100388" y="0"/>
                </a:lnTo>
                <a:lnTo>
                  <a:pt x="3100388" y="95250"/>
                </a:lnTo>
                <a:lnTo>
                  <a:pt x="0" y="95250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55" name="Text 45"/>
          <p:cNvSpPr/>
          <p:nvPr/>
        </p:nvSpPr>
        <p:spPr>
          <a:xfrm>
            <a:off x="1209675" y="4529555"/>
            <a:ext cx="3100388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1304"/>
              </a:lnSpc>
              <a:spcBef>
                <a:spcPts val="281"/>
              </a:spcBef>
              <a:buNone/>
            </a:pPr>
            <a:r>
              <a:rPr lang="en-US" sz="602" dirty="0">
                <a:solidFill>
                  <a:srgbClr val="5B6B7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Programmatic ratio calculations</a:t>
            </a:r>
            <a:endParaRPr lang="en-US" sz="900" dirty="0"/>
          </a:p>
        </p:txBody>
      </p:sp>
      <p:pic>
        <p:nvPicPr>
          <p:cNvPr id="56" name="Image 7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95800" y="4430793"/>
            <a:ext cx="152400" cy="152400"/>
          </a:xfrm>
          <a:prstGeom prst="rect">
            <a:avLst/>
          </a:prstGeom>
        </p:spPr>
      </p:pic>
      <p:sp>
        <p:nvSpPr>
          <p:cNvPr id="57" name="Shape 46"/>
          <p:cNvSpPr/>
          <p:nvPr/>
        </p:nvSpPr>
        <p:spPr>
          <a:xfrm>
            <a:off x="4833938" y="4445079"/>
            <a:ext cx="3443288" cy="123825"/>
          </a:xfrm>
          <a:custGeom>
            <a:avLst/>
            <a:gdLst/>
            <a:ahLst/>
            <a:cxnLst/>
            <a:rect l="l" t="t" r="r" b="b"/>
            <a:pathLst>
              <a:path w="3443288" h="123825">
                <a:moveTo>
                  <a:pt x="0" y="0"/>
                </a:moveTo>
                <a:lnTo>
                  <a:pt x="3443288" y="0"/>
                </a:lnTo>
                <a:lnTo>
                  <a:pt x="3443288" y="123825"/>
                </a:lnTo>
                <a:lnTo>
                  <a:pt x="0" y="123825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58" name="Text 47"/>
          <p:cNvSpPr/>
          <p:nvPr/>
        </p:nvSpPr>
        <p:spPr>
          <a:xfrm>
            <a:off x="4833938" y="4445079"/>
            <a:ext cx="3443288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9130"/>
              </a:lnSpc>
              <a:spcBef>
                <a:spcPts val="281"/>
              </a:spcBef>
              <a:buNone/>
            </a:pPr>
            <a:r>
              <a:rPr lang="en-US" sz="698" b="1" dirty="0">
                <a:solidFill>
                  <a:srgbClr val="0B1F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Analysis module</a:t>
            </a:r>
            <a:endParaRPr lang="en-US" sz="900" dirty="0"/>
          </a:p>
        </p:txBody>
      </p:sp>
      <p:sp>
        <p:nvSpPr>
          <p:cNvPr id="59" name="Shape 48"/>
          <p:cNvSpPr/>
          <p:nvPr/>
        </p:nvSpPr>
        <p:spPr>
          <a:xfrm>
            <a:off x="752475" y="4896564"/>
            <a:ext cx="7639050" cy="214313"/>
          </a:xfrm>
          <a:custGeom>
            <a:avLst/>
            <a:gdLst/>
            <a:ahLst/>
            <a:cxnLst/>
            <a:rect l="l" t="t" r="r" b="b"/>
            <a:pathLst>
              <a:path w="7639050" h="214313">
                <a:moveTo>
                  <a:pt x="0" y="0"/>
                </a:moveTo>
                <a:lnTo>
                  <a:pt x="7639050" y="0"/>
                </a:lnTo>
                <a:lnTo>
                  <a:pt x="7639050" y="214313"/>
                </a:lnTo>
                <a:lnTo>
                  <a:pt x="0" y="214313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pic>
        <p:nvPicPr>
          <p:cNvPr id="60" name="Image 8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66775" y="4990863"/>
            <a:ext cx="119062" cy="119062"/>
          </a:xfrm>
          <a:prstGeom prst="rect">
            <a:avLst/>
          </a:prstGeom>
        </p:spPr>
      </p:pic>
      <p:sp>
        <p:nvSpPr>
          <p:cNvPr id="61" name="Shape 49"/>
          <p:cNvSpPr/>
          <p:nvPr/>
        </p:nvSpPr>
        <p:spPr>
          <a:xfrm>
            <a:off x="1052900" y="5000357"/>
            <a:ext cx="3257550" cy="100013"/>
          </a:xfrm>
          <a:custGeom>
            <a:avLst/>
            <a:gdLst/>
            <a:ahLst/>
            <a:cxnLst/>
            <a:rect l="l" t="t" r="r" b="b"/>
            <a:pathLst>
              <a:path w="3257550" h="100013">
                <a:moveTo>
                  <a:pt x="0" y="0"/>
                </a:moveTo>
                <a:lnTo>
                  <a:pt x="3257550" y="0"/>
                </a:lnTo>
                <a:lnTo>
                  <a:pt x="3257550" y="100013"/>
                </a:lnTo>
                <a:lnTo>
                  <a:pt x="0" y="100013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62" name="Text 50"/>
          <p:cNvSpPr/>
          <p:nvPr/>
        </p:nvSpPr>
        <p:spPr>
          <a:xfrm>
            <a:off x="1052900" y="5000357"/>
            <a:ext cx="3257550" cy="1000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652"/>
              </a:lnSpc>
              <a:spcBef>
                <a:spcPts val="281"/>
              </a:spcBef>
              <a:buNone/>
            </a:pPr>
            <a:r>
              <a:rPr lang="en-US" sz="602" b="1" dirty="0">
                <a:solidFill>
                  <a:srgbClr val="3341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Structured extraction + programmatic checks keep generated insights grounded.</a:t>
            </a:r>
            <a:endParaRPr lang="en-US" sz="900" dirty="0"/>
          </a:p>
        </p:txBody>
      </p:sp>
      <p:pic>
        <p:nvPicPr>
          <p:cNvPr id="63" name="Image 9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52475" y="2125654"/>
            <a:ext cx="7639050" cy="161925"/>
          </a:xfrm>
          <a:prstGeom prst="rect">
            <a:avLst/>
          </a:prstGeom>
        </p:spPr>
      </p:pic>
      <p:pic>
        <p:nvPicPr>
          <p:cNvPr id="64" name="Image 10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52475" y="4896564"/>
            <a:ext cx="7639050" cy="214313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0" y="0"/>
                </a:moveTo>
                <a:lnTo>
                  <a:pt x="9144000" y="0"/>
                </a:lnTo>
                <a:lnTo>
                  <a:pt x="9144000" y="5143500"/>
                </a:lnTo>
                <a:lnTo>
                  <a:pt x="0" y="514350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4" name="Shape 1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0" y="0"/>
                </a:moveTo>
                <a:lnTo>
                  <a:pt x="9144000" y="0"/>
                </a:lnTo>
                <a:lnTo>
                  <a:pt x="9144000" y="5143500"/>
                </a:lnTo>
                <a:lnTo>
                  <a:pt x="0" y="514350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5" name="Shape 2"/>
          <p:cNvSpPr/>
          <p:nvPr/>
        </p:nvSpPr>
        <p:spPr>
          <a:xfrm>
            <a:off x="438150" y="370999"/>
            <a:ext cx="8267700" cy="138113"/>
          </a:xfrm>
          <a:custGeom>
            <a:avLst/>
            <a:gdLst/>
            <a:ahLst/>
            <a:cxnLst/>
            <a:rect l="l" t="t" r="r" b="b"/>
            <a:pathLst>
              <a:path w="8267700" h="138113">
                <a:moveTo>
                  <a:pt x="0" y="0"/>
                </a:moveTo>
                <a:lnTo>
                  <a:pt x="8267700" y="0"/>
                </a:lnTo>
                <a:lnTo>
                  <a:pt x="8267700" y="138113"/>
                </a:lnTo>
                <a:lnTo>
                  <a:pt x="0" y="138113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6" name="Text 3"/>
          <p:cNvSpPr/>
          <p:nvPr/>
        </p:nvSpPr>
        <p:spPr>
          <a:xfrm>
            <a:off x="438150" y="370999"/>
            <a:ext cx="8267700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4348"/>
              </a:lnSpc>
              <a:spcBef>
                <a:spcPts val="281"/>
              </a:spcBef>
              <a:buNone/>
            </a:pPr>
            <a:r>
              <a:rPr lang="en-US" sz="900" b="1" dirty="0">
                <a:solidFill>
                  <a:srgbClr val="2F6B8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SYSTEM DESIGN · END-TO-END PIPELINE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438150" y="576351"/>
            <a:ext cx="8267700" cy="347663"/>
          </a:xfrm>
          <a:custGeom>
            <a:avLst/>
            <a:gdLst/>
            <a:ahLst/>
            <a:cxnLst/>
            <a:rect l="l" t="t" r="r" b="b"/>
            <a:pathLst>
              <a:path w="8267700" h="347663">
                <a:moveTo>
                  <a:pt x="0" y="0"/>
                </a:moveTo>
                <a:lnTo>
                  <a:pt x="8267700" y="0"/>
                </a:lnTo>
                <a:lnTo>
                  <a:pt x="8267700" y="347663"/>
                </a:lnTo>
                <a:lnTo>
                  <a:pt x="0" y="347663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8" name="Text 5"/>
          <p:cNvSpPr/>
          <p:nvPr/>
        </p:nvSpPr>
        <p:spPr>
          <a:xfrm>
            <a:off x="438150" y="576351"/>
            <a:ext cx="8267700" cy="3476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5652"/>
              </a:lnSpc>
              <a:spcBef>
                <a:spcPts val="281"/>
              </a:spcBef>
              <a:buNone/>
            </a:pPr>
            <a:r>
              <a:rPr lang="en-US" sz="2498" b="1" dirty="0">
                <a:solidFill>
                  <a:srgbClr val="0B1F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Complete System Architecture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438150" y="991732"/>
            <a:ext cx="6000750" cy="385763"/>
          </a:xfrm>
          <a:custGeom>
            <a:avLst/>
            <a:gdLst/>
            <a:ahLst/>
            <a:cxnLst/>
            <a:rect l="l" t="t" r="r" b="b"/>
            <a:pathLst>
              <a:path w="6000750" h="385763">
                <a:moveTo>
                  <a:pt x="0" y="0"/>
                </a:moveTo>
                <a:lnTo>
                  <a:pt x="6000750" y="0"/>
                </a:lnTo>
                <a:lnTo>
                  <a:pt x="6000750" y="385763"/>
                </a:lnTo>
                <a:lnTo>
                  <a:pt x="0" y="385763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10" name="Text 7"/>
          <p:cNvSpPr/>
          <p:nvPr/>
        </p:nvSpPr>
        <p:spPr>
          <a:xfrm>
            <a:off x="438150" y="991732"/>
            <a:ext cx="6000750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spcBef>
                <a:spcPts val="281"/>
              </a:spcBef>
              <a:buNone/>
            </a:pPr>
            <a:r>
              <a:rPr lang="en-US" sz="1103" dirty="0">
                <a:solidFill>
                  <a:srgbClr val="5B6B7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verified financial-data pipeline turns uploaded documents into grounded analytical insight.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438150" y="1938903"/>
            <a:ext cx="8267700" cy="2871788"/>
          </a:xfrm>
          <a:custGeom>
            <a:avLst/>
            <a:gdLst/>
            <a:ahLst/>
            <a:cxnLst/>
            <a:rect l="l" t="t" r="r" b="b"/>
            <a:pathLst>
              <a:path w="8267700" h="2871788">
                <a:moveTo>
                  <a:pt x="36386" y="0"/>
                </a:moveTo>
                <a:lnTo>
                  <a:pt x="8231314" y="0"/>
                </a:lnTo>
                <a:quadBezTo>
                  <a:pt x="8267700" y="0"/>
                  <a:pt x="8267700" y="36386"/>
                </a:quadBezTo>
                <a:lnTo>
                  <a:pt x="8267700" y="2835402"/>
                </a:lnTo>
                <a:quadBezTo>
                  <a:pt x="8267700" y="2871788"/>
                  <a:pt x="8231314" y="2871788"/>
                </a:quadBezTo>
                <a:lnTo>
                  <a:pt x="36386" y="2871788"/>
                </a:lnTo>
                <a:quadBezTo>
                  <a:pt x="0" y="2871788"/>
                  <a:pt x="0" y="2835402"/>
                </a:quadBezTo>
                <a:lnTo>
                  <a:pt x="0" y="36386"/>
                </a:lnTo>
                <a:quadBezTo>
                  <a:pt x="0" y="0"/>
                  <a:pt x="36386" y="0"/>
                </a:quadBezTo>
                <a:close/>
              </a:path>
            </a:pathLst>
          </a:custGeom>
          <a:solidFill>
            <a:srgbClr val="F6F9FC"/>
          </a:solidFill>
          <a:ln w="3786">
            <a:solidFill>
              <a:srgbClr val="D7E4EB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70559" y="2228077"/>
            <a:ext cx="57150" cy="247650"/>
          </a:xfrm>
          <a:custGeom>
            <a:avLst/>
            <a:gdLst/>
            <a:ahLst/>
            <a:cxnLst/>
            <a:rect l="l" t="t" r="r" b="b"/>
            <a:pathLst>
              <a:path w="57150" h="247650">
                <a:moveTo>
                  <a:pt x="28575" y="0"/>
                </a:moveTo>
                <a:lnTo>
                  <a:pt x="28575" y="0"/>
                </a:lnTo>
                <a:quadBezTo>
                  <a:pt x="57150" y="0"/>
                  <a:pt x="57150" y="28575"/>
                </a:quadBezTo>
                <a:lnTo>
                  <a:pt x="57150" y="219075"/>
                </a:lnTo>
                <a:quadBezTo>
                  <a:pt x="57150" y="247650"/>
                  <a:pt x="28575" y="247650"/>
                </a:quadBezTo>
                <a:lnTo>
                  <a:pt x="28575" y="247650"/>
                </a:lnTo>
                <a:quadBezTo>
                  <a:pt x="0" y="247650"/>
                  <a:pt x="0" y="219075"/>
                </a:quadBezTo>
                <a:lnTo>
                  <a:pt x="0" y="28575"/>
                </a:lnTo>
                <a:quadBezTo>
                  <a:pt x="0" y="0"/>
                  <a:pt x="28575" y="0"/>
                </a:quadBezTo>
                <a:close/>
              </a:path>
            </a:pathLst>
          </a:custGeom>
          <a:solidFill>
            <a:srgbClr val="4AA3A2"/>
          </a:solidFill>
          <a:ln/>
        </p:spPr>
      </p:sp>
      <p:sp>
        <p:nvSpPr>
          <p:cNvPr id="13" name="Shape 10"/>
          <p:cNvSpPr/>
          <p:nvPr/>
        </p:nvSpPr>
        <p:spPr>
          <a:xfrm>
            <a:off x="803463" y="2172832"/>
            <a:ext cx="3662362" cy="180975"/>
          </a:xfrm>
          <a:custGeom>
            <a:avLst/>
            <a:gdLst/>
            <a:ahLst/>
            <a:cxnLst/>
            <a:rect l="l" t="t" r="r" b="b"/>
            <a:pathLst>
              <a:path w="3662362" h="180975">
                <a:moveTo>
                  <a:pt x="0" y="0"/>
                </a:moveTo>
                <a:lnTo>
                  <a:pt x="3662362" y="0"/>
                </a:lnTo>
                <a:lnTo>
                  <a:pt x="3662362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14" name="Text 11"/>
          <p:cNvSpPr/>
          <p:nvPr/>
        </p:nvSpPr>
        <p:spPr>
          <a:xfrm>
            <a:off x="803463" y="2172832"/>
            <a:ext cx="3662362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4348"/>
              </a:lnSpc>
              <a:spcBef>
                <a:spcPts val="281"/>
              </a:spcBef>
              <a:buNone/>
            </a:pPr>
            <a:r>
              <a:rPr lang="en-US" sz="1198" b="1" dirty="0">
                <a:solidFill>
                  <a:srgbClr val="0B1F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Verified data flow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803463" y="2383810"/>
            <a:ext cx="3662362" cy="147637"/>
          </a:xfrm>
          <a:custGeom>
            <a:avLst/>
            <a:gdLst/>
            <a:ahLst/>
            <a:cxnLst/>
            <a:rect l="l" t="t" r="r" b="b"/>
            <a:pathLst>
              <a:path w="3662362" h="147637">
                <a:moveTo>
                  <a:pt x="0" y="0"/>
                </a:moveTo>
                <a:lnTo>
                  <a:pt x="3662362" y="0"/>
                </a:lnTo>
                <a:lnTo>
                  <a:pt x="3662362" y="147637"/>
                </a:lnTo>
                <a:lnTo>
                  <a:pt x="0" y="147637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16" name="Text 13"/>
          <p:cNvSpPr/>
          <p:nvPr/>
        </p:nvSpPr>
        <p:spPr>
          <a:xfrm>
            <a:off x="803463" y="2383810"/>
            <a:ext cx="3662362" cy="1476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3043"/>
              </a:lnSpc>
              <a:spcBef>
                <a:spcPts val="281"/>
              </a:spcBef>
              <a:buNone/>
            </a:pPr>
            <a:r>
              <a:rPr lang="en-US" sz="889" dirty="0">
                <a:solidFill>
                  <a:srgbClr val="5B6B7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Each stage strengthens the evidence behind the final summary.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5819861" y="2289988"/>
            <a:ext cx="2652713" cy="123825"/>
          </a:xfrm>
          <a:custGeom>
            <a:avLst/>
            <a:gdLst/>
            <a:ahLst/>
            <a:cxnLst/>
            <a:rect l="l" t="t" r="r" b="b"/>
            <a:pathLst>
              <a:path w="2652713" h="123825">
                <a:moveTo>
                  <a:pt x="0" y="0"/>
                </a:moveTo>
                <a:lnTo>
                  <a:pt x="2652713" y="0"/>
                </a:lnTo>
                <a:lnTo>
                  <a:pt x="2652713" y="123825"/>
                </a:lnTo>
                <a:lnTo>
                  <a:pt x="0" y="123825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18" name="Text 15"/>
          <p:cNvSpPr/>
          <p:nvPr/>
        </p:nvSpPr>
        <p:spPr>
          <a:xfrm>
            <a:off x="5819861" y="2289988"/>
            <a:ext cx="2652713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7826"/>
              </a:lnSpc>
              <a:spcBef>
                <a:spcPts val="281"/>
              </a:spcBef>
              <a:buNone/>
            </a:pPr>
            <a:r>
              <a:rPr lang="en-US" sz="799" b="1" dirty="0">
                <a:solidFill>
                  <a:srgbClr val="2F6B8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INPUT → TRANSFORM → ANALYZE → OUTPUT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669994" y="2731830"/>
            <a:ext cx="1390650" cy="1352550"/>
          </a:xfrm>
          <a:custGeom>
            <a:avLst/>
            <a:gdLst/>
            <a:ahLst/>
            <a:cxnLst/>
            <a:rect l="l" t="t" r="r" b="b"/>
            <a:pathLst>
              <a:path w="1390650" h="1352550">
                <a:moveTo>
                  <a:pt x="57957" y="0"/>
                </a:moveTo>
                <a:lnTo>
                  <a:pt x="1332693" y="0"/>
                </a:lnTo>
                <a:quadBezTo>
                  <a:pt x="1390650" y="0"/>
                  <a:pt x="1390650" y="57957"/>
                </a:quadBezTo>
                <a:lnTo>
                  <a:pt x="1390650" y="1294593"/>
                </a:lnTo>
                <a:quadBezTo>
                  <a:pt x="1390650" y="1352550"/>
                  <a:pt x="1332693" y="1352550"/>
                </a:quadBezTo>
                <a:lnTo>
                  <a:pt x="57957" y="1352550"/>
                </a:lnTo>
                <a:quadBezTo>
                  <a:pt x="0" y="1352550"/>
                  <a:pt x="0" y="1294593"/>
                </a:quadBezTo>
                <a:lnTo>
                  <a:pt x="0" y="57957"/>
                </a:lnTo>
                <a:quadBezTo>
                  <a:pt x="0" y="0"/>
                  <a:pt x="57957" y="0"/>
                </a:quadBezTo>
                <a:close/>
              </a:path>
            </a:pathLst>
          </a:custGeom>
          <a:solidFill>
            <a:srgbClr val="FFFFFF"/>
          </a:solidFill>
          <a:ln/>
        </p:spPr>
      </p:sp>
      <p:pic>
        <p:nvPicPr>
          <p:cNvPr id="2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3434" y="2952929"/>
            <a:ext cx="142875" cy="142875"/>
          </a:xfrm>
          <a:prstGeom prst="rect">
            <a:avLst/>
          </a:prstGeom>
        </p:spPr>
      </p:pic>
      <p:sp>
        <p:nvSpPr>
          <p:cNvPr id="21" name="Shape 17"/>
          <p:cNvSpPr/>
          <p:nvPr/>
        </p:nvSpPr>
        <p:spPr>
          <a:xfrm>
            <a:off x="1031944" y="2886254"/>
            <a:ext cx="885825" cy="276225"/>
          </a:xfrm>
          <a:custGeom>
            <a:avLst/>
            <a:gdLst/>
            <a:ahLst/>
            <a:cxnLst/>
            <a:rect l="l" t="t" r="r" b="b"/>
            <a:pathLst>
              <a:path w="885825" h="276225">
                <a:moveTo>
                  <a:pt x="0" y="0"/>
                </a:moveTo>
                <a:lnTo>
                  <a:pt x="885825" y="0"/>
                </a:lnTo>
                <a:lnTo>
                  <a:pt x="885825" y="276225"/>
                </a:lnTo>
                <a:lnTo>
                  <a:pt x="0" y="276225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22" name="Text 18"/>
          <p:cNvSpPr/>
          <p:nvPr/>
        </p:nvSpPr>
        <p:spPr>
          <a:xfrm>
            <a:off x="1031944" y="2886254"/>
            <a:ext cx="885825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6087"/>
              </a:lnSpc>
              <a:spcBef>
                <a:spcPts val="281"/>
              </a:spcBef>
              <a:buNone/>
            </a:pPr>
            <a:r>
              <a:rPr lang="en-US" sz="900" b="1" dirty="0">
                <a:solidFill>
                  <a:srgbClr val="0B1F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Document intake</a:t>
            </a:r>
            <a:endParaRPr lang="en-US" sz="900" dirty="0"/>
          </a:p>
        </p:txBody>
      </p:sp>
      <p:sp>
        <p:nvSpPr>
          <p:cNvPr id="23" name="Shape 19"/>
          <p:cNvSpPr/>
          <p:nvPr/>
        </p:nvSpPr>
        <p:spPr>
          <a:xfrm>
            <a:off x="812869" y="3269367"/>
            <a:ext cx="1104900" cy="423862"/>
          </a:xfrm>
          <a:custGeom>
            <a:avLst/>
            <a:gdLst/>
            <a:ahLst/>
            <a:cxnLst/>
            <a:rect l="l" t="t" r="r" b="b"/>
            <a:pathLst>
              <a:path w="1104900" h="423862">
                <a:moveTo>
                  <a:pt x="0" y="0"/>
                </a:moveTo>
                <a:lnTo>
                  <a:pt x="1104900" y="0"/>
                </a:lnTo>
                <a:lnTo>
                  <a:pt x="1104900" y="423862"/>
                </a:lnTo>
                <a:lnTo>
                  <a:pt x="0" y="423862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24" name="Text 20"/>
          <p:cNvSpPr/>
          <p:nvPr/>
        </p:nvSpPr>
        <p:spPr>
          <a:xfrm>
            <a:off x="812869" y="3269367"/>
            <a:ext cx="1104900" cy="4238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9130"/>
              </a:lnSpc>
              <a:spcBef>
                <a:spcPts val="281"/>
              </a:spcBef>
              <a:buNone/>
            </a:pPr>
            <a:r>
              <a:rPr lang="en-US" sz="698" dirty="0">
                <a:solidFill>
                  <a:srgbClr val="3341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User uploads a PDF for structured document extraction.</a:t>
            </a:r>
            <a:endParaRPr lang="en-US" sz="900" dirty="0"/>
          </a:p>
        </p:txBody>
      </p:sp>
      <p:pic>
        <p:nvPicPr>
          <p:cNvPr id="2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3434" y="3812620"/>
            <a:ext cx="104775" cy="104775"/>
          </a:xfrm>
          <a:prstGeom prst="rect">
            <a:avLst/>
          </a:prstGeom>
        </p:spPr>
      </p:pic>
      <p:sp>
        <p:nvSpPr>
          <p:cNvPr id="26" name="Shape 21"/>
          <p:cNvSpPr/>
          <p:nvPr/>
        </p:nvSpPr>
        <p:spPr>
          <a:xfrm>
            <a:off x="965834" y="3810478"/>
            <a:ext cx="459223" cy="106680"/>
          </a:xfrm>
          <a:custGeom>
            <a:avLst/>
            <a:gdLst/>
            <a:ahLst/>
            <a:cxnLst/>
            <a:rect l="l" t="t" r="r" b="b"/>
            <a:pathLst>
              <a:path w="459223" h="106680">
                <a:moveTo>
                  <a:pt x="0" y="0"/>
                </a:moveTo>
                <a:lnTo>
                  <a:pt x="459223" y="0"/>
                </a:lnTo>
                <a:lnTo>
                  <a:pt x="459223" y="106680"/>
                </a:lnTo>
                <a:lnTo>
                  <a:pt x="0" y="106680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27" name="Text 22"/>
          <p:cNvSpPr/>
          <p:nvPr/>
        </p:nvSpPr>
        <p:spPr>
          <a:xfrm>
            <a:off x="965834" y="3810478"/>
            <a:ext cx="459223" cy="106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435"/>
              </a:lnSpc>
              <a:spcBef>
                <a:spcPts val="281"/>
              </a:spcBef>
              <a:buNone/>
            </a:pPr>
            <a:r>
              <a:rPr lang="en-US" sz="602" b="1" dirty="0">
                <a:solidFill>
                  <a:srgbClr val="2F6B8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PDF input</a:t>
            </a:r>
            <a:endParaRPr lang="en-US" sz="900" dirty="0"/>
          </a:p>
        </p:txBody>
      </p:sp>
      <p:pic>
        <p:nvPicPr>
          <p:cNvPr id="2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93428" y="3327142"/>
            <a:ext cx="161925" cy="161925"/>
          </a:xfrm>
          <a:prstGeom prst="rect">
            <a:avLst/>
          </a:prstGeom>
        </p:spPr>
      </p:pic>
      <p:sp>
        <p:nvSpPr>
          <p:cNvPr id="29" name="Shape 23"/>
          <p:cNvSpPr/>
          <p:nvPr/>
        </p:nvSpPr>
        <p:spPr>
          <a:xfrm>
            <a:off x="2488615" y="2727096"/>
            <a:ext cx="1695450" cy="1362075"/>
          </a:xfrm>
          <a:custGeom>
            <a:avLst/>
            <a:gdLst/>
            <a:ahLst/>
            <a:cxnLst/>
            <a:rect l="l" t="t" r="r" b="b"/>
            <a:pathLst>
              <a:path w="1695450" h="1362075">
                <a:moveTo>
                  <a:pt x="57548" y="0"/>
                </a:moveTo>
                <a:lnTo>
                  <a:pt x="1637902" y="0"/>
                </a:lnTo>
                <a:quadBezTo>
                  <a:pt x="1695450" y="0"/>
                  <a:pt x="1695450" y="57548"/>
                </a:quadBezTo>
                <a:lnTo>
                  <a:pt x="1695450" y="1304527"/>
                </a:lnTo>
                <a:quadBezTo>
                  <a:pt x="1695450" y="1362075"/>
                  <a:pt x="1637902" y="1362075"/>
                </a:quadBezTo>
                <a:lnTo>
                  <a:pt x="57548" y="1362075"/>
                </a:lnTo>
                <a:quadBezTo>
                  <a:pt x="0" y="1362075"/>
                  <a:pt x="0" y="1304527"/>
                </a:quadBezTo>
                <a:lnTo>
                  <a:pt x="0" y="57548"/>
                </a:lnTo>
                <a:quadBezTo>
                  <a:pt x="0" y="0"/>
                  <a:pt x="57548" y="0"/>
                </a:quadBezTo>
                <a:close/>
              </a:path>
            </a:pathLst>
          </a:custGeom>
          <a:solidFill>
            <a:srgbClr val="EAF3F7"/>
          </a:solidFill>
          <a:ln/>
        </p:spPr>
      </p:sp>
      <p:pic>
        <p:nvPicPr>
          <p:cNvPr id="3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631578" y="2887920"/>
            <a:ext cx="142875" cy="142875"/>
          </a:xfrm>
          <a:prstGeom prst="rect">
            <a:avLst/>
          </a:prstGeom>
        </p:spPr>
      </p:pic>
      <p:sp>
        <p:nvSpPr>
          <p:cNvPr id="31" name="Shape 24"/>
          <p:cNvSpPr/>
          <p:nvPr/>
        </p:nvSpPr>
        <p:spPr>
          <a:xfrm>
            <a:off x="2849612" y="2880777"/>
            <a:ext cx="1181100" cy="157163"/>
          </a:xfrm>
          <a:custGeom>
            <a:avLst/>
            <a:gdLst/>
            <a:ahLst/>
            <a:cxnLst/>
            <a:rect l="l" t="t" r="r" b="b"/>
            <a:pathLst>
              <a:path w="1181100" h="157163">
                <a:moveTo>
                  <a:pt x="0" y="0"/>
                </a:moveTo>
                <a:lnTo>
                  <a:pt x="1181100" y="0"/>
                </a:lnTo>
                <a:lnTo>
                  <a:pt x="1181100" y="157163"/>
                </a:lnTo>
                <a:lnTo>
                  <a:pt x="0" y="157163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32" name="Text 25"/>
          <p:cNvSpPr/>
          <p:nvPr/>
        </p:nvSpPr>
        <p:spPr>
          <a:xfrm>
            <a:off x="2849612" y="2880777"/>
            <a:ext cx="1181100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696"/>
              </a:lnSpc>
              <a:spcBef>
                <a:spcPts val="281"/>
              </a:spcBef>
              <a:buNone/>
            </a:pPr>
            <a:r>
              <a:rPr lang="en-US" sz="1001" b="1" dirty="0">
                <a:solidFill>
                  <a:srgbClr val="0B1F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Data preparation</a:t>
            </a:r>
            <a:endParaRPr lang="en-US" sz="900" dirty="0"/>
          </a:p>
        </p:txBody>
      </p:sp>
      <p:sp>
        <p:nvSpPr>
          <p:cNvPr id="33" name="Shape 26"/>
          <p:cNvSpPr/>
          <p:nvPr/>
        </p:nvSpPr>
        <p:spPr>
          <a:xfrm>
            <a:off x="2631490" y="3134677"/>
            <a:ext cx="1409700" cy="485775"/>
          </a:xfrm>
          <a:custGeom>
            <a:avLst/>
            <a:gdLst/>
            <a:ahLst/>
            <a:cxnLst/>
            <a:rect l="l" t="t" r="r" b="b"/>
            <a:pathLst>
              <a:path w="1409700" h="485775">
                <a:moveTo>
                  <a:pt x="0" y="0"/>
                </a:moveTo>
                <a:lnTo>
                  <a:pt x="1409700" y="0"/>
                </a:lnTo>
                <a:lnTo>
                  <a:pt x="1409700" y="485775"/>
                </a:lnTo>
                <a:lnTo>
                  <a:pt x="0" y="485775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34" name="Text 27"/>
          <p:cNvSpPr/>
          <p:nvPr/>
        </p:nvSpPr>
        <p:spPr>
          <a:xfrm>
            <a:off x="2631490" y="3134677"/>
            <a:ext cx="1409700" cy="485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3478"/>
              </a:lnSpc>
              <a:spcBef>
                <a:spcPts val="281"/>
              </a:spcBef>
              <a:buNone/>
            </a:pPr>
            <a:r>
              <a:rPr lang="en-US" sz="900" dirty="0">
                <a:solidFill>
                  <a:srgbClr val="3341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Normalize extracted values and validate financial fields.</a:t>
            </a:r>
            <a:endParaRPr lang="en-US" sz="900" dirty="0"/>
          </a:p>
        </p:txBody>
      </p:sp>
      <p:sp>
        <p:nvSpPr>
          <p:cNvPr id="35" name="Shape 28"/>
          <p:cNvSpPr/>
          <p:nvPr/>
        </p:nvSpPr>
        <p:spPr>
          <a:xfrm>
            <a:off x="2631490" y="3716804"/>
            <a:ext cx="1409700" cy="219075"/>
          </a:xfrm>
          <a:custGeom>
            <a:avLst/>
            <a:gdLst/>
            <a:ahLst/>
            <a:cxnLst/>
            <a:rect l="l" t="t" r="r" b="b"/>
            <a:pathLst>
              <a:path w="1409700" h="219075">
                <a:moveTo>
                  <a:pt x="0" y="0"/>
                </a:moveTo>
                <a:lnTo>
                  <a:pt x="1409700" y="0"/>
                </a:lnTo>
                <a:lnTo>
                  <a:pt x="1409700" y="219075"/>
                </a:lnTo>
                <a:lnTo>
                  <a:pt x="0" y="219075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36" name="Text 29"/>
          <p:cNvSpPr/>
          <p:nvPr/>
        </p:nvSpPr>
        <p:spPr>
          <a:xfrm>
            <a:off x="2631490" y="3716804"/>
            <a:ext cx="1409700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86957"/>
              </a:lnSpc>
              <a:spcBef>
                <a:spcPts val="281"/>
              </a:spcBef>
              <a:buNone/>
            </a:pPr>
            <a:r>
              <a:rPr lang="en-US" sz="698" b="1" dirty="0">
                <a:solidFill>
                  <a:srgbClr val="2F6B8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Normalize</a:t>
            </a:r>
            <a:r>
              <a:rPr lang="en-US" sz="501" dirty="0">
                <a:solidFill>
                  <a:srgbClr val="0B1F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698" b="1" dirty="0">
                <a:solidFill>
                  <a:srgbClr val="2F6B8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Validate</a:t>
            </a:r>
            <a:endParaRPr lang="en-US" sz="900" dirty="0"/>
          </a:p>
        </p:txBody>
      </p:sp>
      <p:pic>
        <p:nvPicPr>
          <p:cNvPr id="37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17323" y="3327142"/>
            <a:ext cx="161925" cy="161925"/>
          </a:xfrm>
          <a:prstGeom prst="rect">
            <a:avLst/>
          </a:prstGeom>
        </p:spPr>
      </p:pic>
      <p:sp>
        <p:nvSpPr>
          <p:cNvPr id="38" name="Shape 30"/>
          <p:cNvSpPr/>
          <p:nvPr/>
        </p:nvSpPr>
        <p:spPr>
          <a:xfrm>
            <a:off x="4612330" y="2755642"/>
            <a:ext cx="1876425" cy="1304925"/>
          </a:xfrm>
          <a:custGeom>
            <a:avLst/>
            <a:gdLst/>
            <a:ahLst/>
            <a:cxnLst/>
            <a:rect l="l" t="t" r="r" b="b"/>
            <a:pathLst>
              <a:path w="1876425" h="1304925">
                <a:moveTo>
                  <a:pt x="60066" y="0"/>
                </a:moveTo>
                <a:lnTo>
                  <a:pt x="1816359" y="0"/>
                </a:lnTo>
                <a:quadBezTo>
                  <a:pt x="1876425" y="0"/>
                  <a:pt x="1876425" y="60066"/>
                </a:quadBezTo>
                <a:lnTo>
                  <a:pt x="1876425" y="1244859"/>
                </a:lnTo>
                <a:quadBezTo>
                  <a:pt x="1876425" y="1304925"/>
                  <a:pt x="1816359" y="1304925"/>
                </a:quadBezTo>
                <a:lnTo>
                  <a:pt x="60066" y="1304925"/>
                </a:lnTo>
                <a:quadBezTo>
                  <a:pt x="0" y="1304925"/>
                  <a:pt x="0" y="1244859"/>
                </a:quadBezTo>
                <a:lnTo>
                  <a:pt x="0" y="60066"/>
                </a:lnTo>
                <a:quadBezTo>
                  <a:pt x="0" y="0"/>
                  <a:pt x="60066" y="0"/>
                </a:quadBezTo>
                <a:close/>
              </a:path>
            </a:pathLst>
          </a:custGeom>
          <a:solidFill>
            <a:srgbClr val="FFFFFF"/>
          </a:solidFill>
          <a:ln/>
        </p:spPr>
      </p:sp>
      <p:pic>
        <p:nvPicPr>
          <p:cNvPr id="39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55473" y="2910900"/>
            <a:ext cx="142875" cy="142875"/>
          </a:xfrm>
          <a:prstGeom prst="rect">
            <a:avLst/>
          </a:prstGeom>
        </p:spPr>
      </p:pic>
      <p:sp>
        <p:nvSpPr>
          <p:cNvPr id="40" name="Shape 31"/>
          <p:cNvSpPr/>
          <p:nvPr/>
        </p:nvSpPr>
        <p:spPr>
          <a:xfrm>
            <a:off x="4975560" y="2898993"/>
            <a:ext cx="1209675" cy="166688"/>
          </a:xfrm>
          <a:custGeom>
            <a:avLst/>
            <a:gdLst/>
            <a:ahLst/>
            <a:cxnLst/>
            <a:rect l="l" t="t" r="r" b="b"/>
            <a:pathLst>
              <a:path w="1209675" h="166688">
                <a:moveTo>
                  <a:pt x="0" y="0"/>
                </a:moveTo>
                <a:lnTo>
                  <a:pt x="1209675" y="0"/>
                </a:lnTo>
                <a:lnTo>
                  <a:pt x="1209675" y="166688"/>
                </a:lnTo>
                <a:lnTo>
                  <a:pt x="0" y="166688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41" name="Text 32"/>
          <p:cNvSpPr/>
          <p:nvPr/>
        </p:nvSpPr>
        <p:spPr>
          <a:xfrm>
            <a:off x="4975560" y="2898993"/>
            <a:ext cx="1209675" cy="166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3913"/>
              </a:lnSpc>
              <a:spcBef>
                <a:spcPts val="281"/>
              </a:spcBef>
              <a:buNone/>
            </a:pPr>
            <a:r>
              <a:rPr lang="en-US" sz="1001" b="1" dirty="0">
                <a:solidFill>
                  <a:srgbClr val="0B1F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Analytics engine</a:t>
            </a:r>
            <a:endParaRPr lang="en-US" sz="900" dirty="0"/>
          </a:p>
        </p:txBody>
      </p:sp>
      <p:sp>
        <p:nvSpPr>
          <p:cNvPr id="42" name="Shape 33"/>
          <p:cNvSpPr/>
          <p:nvPr/>
        </p:nvSpPr>
        <p:spPr>
          <a:xfrm>
            <a:off x="4755205" y="3150453"/>
            <a:ext cx="1590675" cy="309562"/>
          </a:xfrm>
          <a:custGeom>
            <a:avLst/>
            <a:gdLst/>
            <a:ahLst/>
            <a:cxnLst/>
            <a:rect l="l" t="t" r="r" b="b"/>
            <a:pathLst>
              <a:path w="1590675" h="309562">
                <a:moveTo>
                  <a:pt x="0" y="0"/>
                </a:moveTo>
                <a:lnTo>
                  <a:pt x="1590675" y="0"/>
                </a:lnTo>
                <a:lnTo>
                  <a:pt x="1590675" y="309562"/>
                </a:lnTo>
                <a:lnTo>
                  <a:pt x="0" y="309562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43" name="Text 34"/>
          <p:cNvSpPr/>
          <p:nvPr/>
        </p:nvSpPr>
        <p:spPr>
          <a:xfrm>
            <a:off x="4755205" y="3150453"/>
            <a:ext cx="1590675" cy="3095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7391"/>
              </a:lnSpc>
              <a:spcBef>
                <a:spcPts val="281"/>
              </a:spcBef>
              <a:buNone/>
            </a:pPr>
            <a:r>
              <a:rPr lang="en-US" sz="900" dirty="0">
                <a:solidFill>
                  <a:srgbClr val="3341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Computed signals become context for LLM analysis.</a:t>
            </a:r>
            <a:endParaRPr lang="en-US" sz="900" dirty="0"/>
          </a:p>
        </p:txBody>
      </p:sp>
      <p:sp>
        <p:nvSpPr>
          <p:cNvPr id="44" name="Shape 35"/>
          <p:cNvSpPr/>
          <p:nvPr/>
        </p:nvSpPr>
        <p:spPr>
          <a:xfrm>
            <a:off x="4755473" y="3602415"/>
            <a:ext cx="42863" cy="42863"/>
          </a:xfrm>
          <a:custGeom>
            <a:avLst/>
            <a:gdLst/>
            <a:ahLst/>
            <a:cxnLst/>
            <a:rect l="l" t="t" r="r" b="b"/>
            <a:pathLst>
              <a:path w="42863" h="42863">
                <a:moveTo>
                  <a:pt x="0" y="21431"/>
                </a:moveTo>
                <a:cubicBezTo>
                  <a:pt x="0" y="33267"/>
                  <a:pt x="9595" y="42863"/>
                  <a:pt x="21431" y="42863"/>
                </a:cubicBezTo>
                <a:cubicBezTo>
                  <a:pt x="33267" y="42863"/>
                  <a:pt x="42863" y="33267"/>
                  <a:pt x="42863" y="21431"/>
                </a:cubicBezTo>
                <a:cubicBezTo>
                  <a:pt x="42863" y="9595"/>
                  <a:pt x="33267" y="0"/>
                  <a:pt x="21431" y="0"/>
                </a:cubicBezTo>
                <a:cubicBezTo>
                  <a:pt x="9595" y="0"/>
                  <a:pt x="0" y="9595"/>
                  <a:pt x="0" y="21431"/>
                </a:cubicBezTo>
                <a:close/>
              </a:path>
            </a:pathLst>
          </a:custGeom>
          <a:solidFill>
            <a:srgbClr val="7CB342"/>
          </a:solidFill>
          <a:ln/>
        </p:spPr>
      </p:sp>
      <p:sp>
        <p:nvSpPr>
          <p:cNvPr id="45" name="Shape 36"/>
          <p:cNvSpPr/>
          <p:nvPr/>
        </p:nvSpPr>
        <p:spPr>
          <a:xfrm>
            <a:off x="4855486" y="3556695"/>
            <a:ext cx="905828" cy="129540"/>
          </a:xfrm>
          <a:custGeom>
            <a:avLst/>
            <a:gdLst/>
            <a:ahLst/>
            <a:cxnLst/>
            <a:rect l="l" t="t" r="r" b="b"/>
            <a:pathLst>
              <a:path w="905828" h="129540">
                <a:moveTo>
                  <a:pt x="0" y="0"/>
                </a:moveTo>
                <a:lnTo>
                  <a:pt x="905828" y="0"/>
                </a:lnTo>
                <a:lnTo>
                  <a:pt x="905828" y="129540"/>
                </a:lnTo>
                <a:lnTo>
                  <a:pt x="0" y="129540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46" name="Text 37"/>
          <p:cNvSpPr/>
          <p:nvPr/>
        </p:nvSpPr>
        <p:spPr>
          <a:xfrm>
            <a:off x="4855486" y="3556695"/>
            <a:ext cx="905828" cy="1295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34783"/>
              </a:lnSpc>
              <a:spcBef>
                <a:spcPts val="281"/>
              </a:spcBef>
              <a:buNone/>
            </a:pPr>
            <a:r>
              <a:rPr lang="en-US" sz="799" b="1" dirty="0">
                <a:solidFill>
                  <a:srgbClr val="3341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Ratio calculation</a:t>
            </a:r>
            <a:endParaRPr lang="en-US" sz="900" dirty="0"/>
          </a:p>
        </p:txBody>
      </p:sp>
      <p:sp>
        <p:nvSpPr>
          <p:cNvPr id="47" name="Shape 38"/>
          <p:cNvSpPr/>
          <p:nvPr/>
        </p:nvSpPr>
        <p:spPr>
          <a:xfrm>
            <a:off x="4755473" y="3816727"/>
            <a:ext cx="42863" cy="42863"/>
          </a:xfrm>
          <a:custGeom>
            <a:avLst/>
            <a:gdLst/>
            <a:ahLst/>
            <a:cxnLst/>
            <a:rect l="l" t="t" r="r" b="b"/>
            <a:pathLst>
              <a:path w="42863" h="42863">
                <a:moveTo>
                  <a:pt x="0" y="21431"/>
                </a:moveTo>
                <a:cubicBezTo>
                  <a:pt x="0" y="33267"/>
                  <a:pt x="9595" y="42863"/>
                  <a:pt x="21431" y="42863"/>
                </a:cubicBezTo>
                <a:cubicBezTo>
                  <a:pt x="33267" y="42863"/>
                  <a:pt x="42863" y="33267"/>
                  <a:pt x="42863" y="21431"/>
                </a:cubicBezTo>
                <a:cubicBezTo>
                  <a:pt x="42863" y="9595"/>
                  <a:pt x="33267" y="0"/>
                  <a:pt x="21431" y="0"/>
                </a:cubicBezTo>
                <a:cubicBezTo>
                  <a:pt x="9595" y="0"/>
                  <a:pt x="0" y="9595"/>
                  <a:pt x="0" y="21431"/>
                </a:cubicBezTo>
                <a:close/>
              </a:path>
            </a:pathLst>
          </a:custGeom>
          <a:solidFill>
            <a:srgbClr val="5C7AEA"/>
          </a:solidFill>
          <a:ln/>
        </p:spPr>
      </p:sp>
      <p:sp>
        <p:nvSpPr>
          <p:cNvPr id="48" name="Shape 39"/>
          <p:cNvSpPr/>
          <p:nvPr/>
        </p:nvSpPr>
        <p:spPr>
          <a:xfrm>
            <a:off x="4855486" y="3771007"/>
            <a:ext cx="769920" cy="129540"/>
          </a:xfrm>
          <a:custGeom>
            <a:avLst/>
            <a:gdLst/>
            <a:ahLst/>
            <a:cxnLst/>
            <a:rect l="l" t="t" r="r" b="b"/>
            <a:pathLst>
              <a:path w="769920" h="129540">
                <a:moveTo>
                  <a:pt x="0" y="0"/>
                </a:moveTo>
                <a:lnTo>
                  <a:pt x="769920" y="0"/>
                </a:lnTo>
                <a:lnTo>
                  <a:pt x="769920" y="129540"/>
                </a:lnTo>
                <a:lnTo>
                  <a:pt x="0" y="129540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49" name="Text 40"/>
          <p:cNvSpPr/>
          <p:nvPr/>
        </p:nvSpPr>
        <p:spPr>
          <a:xfrm>
            <a:off x="4855486" y="3771007"/>
            <a:ext cx="769920" cy="1295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34783"/>
              </a:lnSpc>
              <a:spcBef>
                <a:spcPts val="281"/>
              </a:spcBef>
              <a:buNone/>
            </a:pPr>
            <a:r>
              <a:rPr lang="en-US" sz="799" b="1" dirty="0">
                <a:solidFill>
                  <a:srgbClr val="3341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Trend analysis</a:t>
            </a:r>
            <a:endParaRPr lang="en-US" sz="900" dirty="0"/>
          </a:p>
        </p:txBody>
      </p:sp>
      <p:pic>
        <p:nvPicPr>
          <p:cNvPr id="50" name="Image 6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21838" y="3327142"/>
            <a:ext cx="161925" cy="161925"/>
          </a:xfrm>
          <a:prstGeom prst="rect">
            <a:avLst/>
          </a:prstGeom>
        </p:spPr>
      </p:pic>
      <p:sp>
        <p:nvSpPr>
          <p:cNvPr id="51" name="Shape 41"/>
          <p:cNvSpPr/>
          <p:nvPr/>
        </p:nvSpPr>
        <p:spPr>
          <a:xfrm>
            <a:off x="6916607" y="2693759"/>
            <a:ext cx="1557338" cy="1428750"/>
          </a:xfrm>
          <a:custGeom>
            <a:avLst/>
            <a:gdLst/>
            <a:ahLst/>
            <a:cxnLst/>
            <a:rect l="l" t="t" r="r" b="b"/>
            <a:pathLst>
              <a:path w="1557338" h="1428750">
                <a:moveTo>
                  <a:pt x="54864" y="0"/>
                </a:moveTo>
                <a:lnTo>
                  <a:pt x="1502474" y="0"/>
                </a:lnTo>
                <a:quadBezTo>
                  <a:pt x="1557338" y="0"/>
                  <a:pt x="1557338" y="54864"/>
                </a:quadBezTo>
                <a:lnTo>
                  <a:pt x="1557338" y="1373886"/>
                </a:lnTo>
                <a:quadBezTo>
                  <a:pt x="1557338" y="1428750"/>
                  <a:pt x="1502474" y="1428750"/>
                </a:quadBezTo>
                <a:lnTo>
                  <a:pt x="54864" y="1428750"/>
                </a:lnTo>
                <a:quadBezTo>
                  <a:pt x="0" y="1428750"/>
                  <a:pt x="0" y="1373886"/>
                </a:quadBezTo>
                <a:lnTo>
                  <a:pt x="0" y="54864"/>
                </a:lnTo>
                <a:quadBezTo>
                  <a:pt x="0" y="0"/>
                  <a:pt x="54864" y="0"/>
                </a:quadBezTo>
                <a:close/>
              </a:path>
            </a:pathLst>
          </a:custGeom>
          <a:solidFill>
            <a:srgbClr val="0B1F3A"/>
          </a:solidFill>
          <a:ln/>
        </p:spPr>
      </p:sp>
      <p:pic>
        <p:nvPicPr>
          <p:cNvPr id="52" name="Image 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059988" y="2848273"/>
            <a:ext cx="142875" cy="142875"/>
          </a:xfrm>
          <a:prstGeom prst="rect">
            <a:avLst/>
          </a:prstGeom>
        </p:spPr>
      </p:pic>
      <p:sp>
        <p:nvSpPr>
          <p:cNvPr id="53" name="Shape 42"/>
          <p:cNvSpPr/>
          <p:nvPr/>
        </p:nvSpPr>
        <p:spPr>
          <a:xfrm>
            <a:off x="7278765" y="2845891"/>
            <a:ext cx="781050" cy="147637"/>
          </a:xfrm>
          <a:custGeom>
            <a:avLst/>
            <a:gdLst/>
            <a:ahLst/>
            <a:cxnLst/>
            <a:rect l="l" t="t" r="r" b="b"/>
            <a:pathLst>
              <a:path w="781050" h="147637">
                <a:moveTo>
                  <a:pt x="0" y="0"/>
                </a:moveTo>
                <a:lnTo>
                  <a:pt x="781050" y="0"/>
                </a:lnTo>
                <a:lnTo>
                  <a:pt x="781050" y="147637"/>
                </a:lnTo>
                <a:lnTo>
                  <a:pt x="0" y="147637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54" name="Text 43"/>
          <p:cNvSpPr/>
          <p:nvPr/>
        </p:nvSpPr>
        <p:spPr>
          <a:xfrm>
            <a:off x="7278765" y="2845891"/>
            <a:ext cx="781050" cy="1476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1304"/>
              </a:lnSpc>
              <a:spcBef>
                <a:spcPts val="281"/>
              </a:spcBef>
              <a:buNone/>
            </a:pPr>
            <a:r>
              <a:rPr lang="en-US" sz="9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Final output</a:t>
            </a:r>
            <a:endParaRPr lang="en-US" sz="900" dirty="0"/>
          </a:p>
        </p:txBody>
      </p:sp>
      <p:sp>
        <p:nvSpPr>
          <p:cNvPr id="55" name="Shape 44"/>
          <p:cNvSpPr/>
          <p:nvPr/>
        </p:nvSpPr>
        <p:spPr>
          <a:xfrm>
            <a:off x="7059482" y="3087826"/>
            <a:ext cx="1271588" cy="285750"/>
          </a:xfrm>
          <a:custGeom>
            <a:avLst/>
            <a:gdLst/>
            <a:ahLst/>
            <a:cxnLst/>
            <a:rect l="l" t="t" r="r" b="b"/>
            <a:pathLst>
              <a:path w="1271588" h="285750">
                <a:moveTo>
                  <a:pt x="0" y="0"/>
                </a:moveTo>
                <a:lnTo>
                  <a:pt x="1271588" y="0"/>
                </a:lnTo>
                <a:lnTo>
                  <a:pt x="1271588" y="285750"/>
                </a:lnTo>
                <a:lnTo>
                  <a:pt x="0" y="285750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56" name="Text 45"/>
          <p:cNvSpPr/>
          <p:nvPr/>
        </p:nvSpPr>
        <p:spPr>
          <a:xfrm>
            <a:off x="7059482" y="3087826"/>
            <a:ext cx="1271588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0000"/>
              </a:lnSpc>
              <a:spcBef>
                <a:spcPts val="281"/>
              </a:spcBef>
              <a:buNone/>
            </a:pPr>
            <a:r>
              <a:rPr lang="en-US" sz="698" dirty="0">
                <a:solidFill>
                  <a:srgbClr val="EAF3F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One concise, grounded view of the company.</a:t>
            </a:r>
            <a:endParaRPr lang="en-US" sz="900" dirty="0"/>
          </a:p>
        </p:txBody>
      </p:sp>
      <p:sp>
        <p:nvSpPr>
          <p:cNvPr id="57" name="Shape 46"/>
          <p:cNvSpPr/>
          <p:nvPr/>
        </p:nvSpPr>
        <p:spPr>
          <a:xfrm>
            <a:off x="7059482" y="3468083"/>
            <a:ext cx="1271588" cy="133350"/>
          </a:xfrm>
          <a:custGeom>
            <a:avLst/>
            <a:gdLst/>
            <a:ahLst/>
            <a:cxnLst/>
            <a:rect l="l" t="t" r="r" b="b"/>
            <a:pathLst>
              <a:path w="1271588" h="133350">
                <a:moveTo>
                  <a:pt x="0" y="0"/>
                </a:moveTo>
                <a:lnTo>
                  <a:pt x="1271588" y="0"/>
                </a:lnTo>
                <a:lnTo>
                  <a:pt x="1271588" y="133350"/>
                </a:lnTo>
                <a:lnTo>
                  <a:pt x="0" y="133350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58" name="Text 47"/>
          <p:cNvSpPr/>
          <p:nvPr/>
        </p:nvSpPr>
        <p:spPr>
          <a:xfrm>
            <a:off x="7059482" y="3468083"/>
            <a:ext cx="127158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435"/>
              </a:lnSpc>
              <a:spcBef>
                <a:spcPts val="281"/>
              </a:spcBef>
              <a:buNone/>
            </a:pPr>
            <a:r>
              <a:rPr lang="en-US" sz="602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Financial data</a:t>
            </a:r>
            <a:endParaRPr lang="en-US" sz="900" dirty="0"/>
          </a:p>
        </p:txBody>
      </p:sp>
      <p:sp>
        <p:nvSpPr>
          <p:cNvPr id="59" name="Shape 48"/>
          <p:cNvSpPr/>
          <p:nvPr/>
        </p:nvSpPr>
        <p:spPr>
          <a:xfrm>
            <a:off x="7059482" y="3652451"/>
            <a:ext cx="1271588" cy="133350"/>
          </a:xfrm>
          <a:custGeom>
            <a:avLst/>
            <a:gdLst/>
            <a:ahLst/>
            <a:cxnLst/>
            <a:rect l="l" t="t" r="r" b="b"/>
            <a:pathLst>
              <a:path w="1271588" h="133350">
                <a:moveTo>
                  <a:pt x="0" y="0"/>
                </a:moveTo>
                <a:lnTo>
                  <a:pt x="1271588" y="0"/>
                </a:lnTo>
                <a:lnTo>
                  <a:pt x="1271588" y="133350"/>
                </a:lnTo>
                <a:lnTo>
                  <a:pt x="0" y="133350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60" name="Text 49"/>
          <p:cNvSpPr/>
          <p:nvPr/>
        </p:nvSpPr>
        <p:spPr>
          <a:xfrm>
            <a:off x="7059482" y="3652451"/>
            <a:ext cx="127158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435"/>
              </a:lnSpc>
              <a:spcBef>
                <a:spcPts val="281"/>
              </a:spcBef>
              <a:buNone/>
            </a:pPr>
            <a:r>
              <a:rPr lang="en-US" sz="602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Metrics</a:t>
            </a:r>
            <a:endParaRPr lang="en-US" sz="900" dirty="0"/>
          </a:p>
        </p:txBody>
      </p:sp>
      <p:sp>
        <p:nvSpPr>
          <p:cNvPr id="61" name="Shape 50"/>
          <p:cNvSpPr/>
          <p:nvPr/>
        </p:nvSpPr>
        <p:spPr>
          <a:xfrm>
            <a:off x="7059482" y="3836820"/>
            <a:ext cx="1271588" cy="133350"/>
          </a:xfrm>
          <a:custGeom>
            <a:avLst/>
            <a:gdLst/>
            <a:ahLst/>
            <a:cxnLst/>
            <a:rect l="l" t="t" r="r" b="b"/>
            <a:pathLst>
              <a:path w="1271588" h="133350">
                <a:moveTo>
                  <a:pt x="0" y="0"/>
                </a:moveTo>
                <a:lnTo>
                  <a:pt x="1271588" y="0"/>
                </a:lnTo>
                <a:lnTo>
                  <a:pt x="1271588" y="133350"/>
                </a:lnTo>
                <a:lnTo>
                  <a:pt x="0" y="133350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62" name="Text 51"/>
          <p:cNvSpPr/>
          <p:nvPr/>
        </p:nvSpPr>
        <p:spPr>
          <a:xfrm>
            <a:off x="7059482" y="3836820"/>
            <a:ext cx="127158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435"/>
              </a:lnSpc>
              <a:spcBef>
                <a:spcPts val="281"/>
              </a:spcBef>
              <a:buNone/>
            </a:pPr>
            <a:r>
              <a:rPr lang="en-US" sz="602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Summary</a:t>
            </a:r>
            <a:endParaRPr lang="en-US" sz="900" dirty="0"/>
          </a:p>
        </p:txBody>
      </p:sp>
      <p:sp>
        <p:nvSpPr>
          <p:cNvPr id="63" name="Shape 52"/>
          <p:cNvSpPr/>
          <p:nvPr/>
        </p:nvSpPr>
        <p:spPr>
          <a:xfrm>
            <a:off x="671513" y="4284345"/>
            <a:ext cx="7800975" cy="4763"/>
          </a:xfrm>
          <a:custGeom>
            <a:avLst/>
            <a:gdLst/>
            <a:ahLst/>
            <a:cxnLst/>
            <a:rect l="l" t="t" r="r" b="b"/>
            <a:pathLst>
              <a:path w="7800975" h="4763">
                <a:moveTo>
                  <a:pt x="0" y="0"/>
                </a:moveTo>
                <a:lnTo>
                  <a:pt x="7800975" y="0"/>
                </a:lnTo>
                <a:lnTo>
                  <a:pt x="7800975" y="4763"/>
                </a:lnTo>
                <a:lnTo>
                  <a:pt x="0" y="4763"/>
                </a:lnTo>
                <a:close/>
              </a:path>
            </a:pathLst>
          </a:custGeom>
          <a:solidFill>
            <a:srgbClr val="C9DCE5"/>
          </a:solidFill>
          <a:ln/>
        </p:spPr>
      </p:sp>
      <p:pic>
        <p:nvPicPr>
          <p:cNvPr id="64" name="Image 8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70559" y="4481038"/>
            <a:ext cx="114300" cy="114300"/>
          </a:xfrm>
          <a:prstGeom prst="rect">
            <a:avLst/>
          </a:prstGeom>
        </p:spPr>
      </p:pic>
      <p:sp>
        <p:nvSpPr>
          <p:cNvPr id="65" name="Shape 53"/>
          <p:cNvSpPr/>
          <p:nvPr/>
        </p:nvSpPr>
        <p:spPr>
          <a:xfrm>
            <a:off x="850790" y="4469130"/>
            <a:ext cx="4210050" cy="138113"/>
          </a:xfrm>
          <a:custGeom>
            <a:avLst/>
            <a:gdLst/>
            <a:ahLst/>
            <a:cxnLst/>
            <a:rect l="l" t="t" r="r" b="b"/>
            <a:pathLst>
              <a:path w="4210050" h="138113">
                <a:moveTo>
                  <a:pt x="0" y="0"/>
                </a:moveTo>
                <a:lnTo>
                  <a:pt x="4210050" y="0"/>
                </a:lnTo>
                <a:lnTo>
                  <a:pt x="4210050" y="138113"/>
                </a:lnTo>
                <a:lnTo>
                  <a:pt x="0" y="138113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66" name="Text 54"/>
          <p:cNvSpPr/>
          <p:nvPr/>
        </p:nvSpPr>
        <p:spPr>
          <a:xfrm>
            <a:off x="850790" y="4469130"/>
            <a:ext cx="4210050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6522"/>
              </a:lnSpc>
              <a:spcBef>
                <a:spcPts val="281"/>
              </a:spcBef>
              <a:buNone/>
            </a:pPr>
            <a:r>
              <a:rPr lang="en-US" sz="799" b="1" dirty="0">
                <a:solidFill>
                  <a:srgbClr val="5B6B7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Design principle: analytical outputs remain traceable to validated source data.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1168</Words>
  <Application>Microsoft Office PowerPoint</Application>
  <PresentationFormat>On-screen Show (16:9)</PresentationFormat>
  <Paragraphs>218</Paragraphs>
  <Slides>13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Lexend Deca</vt:lpstr>
      <vt:lpstr>Montserrat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SAHASRA RAYAKANTI</cp:lastModifiedBy>
  <cp:revision>9</cp:revision>
  <dcterms:created xsi:type="dcterms:W3CDTF">2026-09-26T04:37:43Z</dcterms:created>
  <dcterms:modified xsi:type="dcterms:W3CDTF">2026-09-26T05:04:09Z</dcterms:modified>
</cp:coreProperties>
</file>