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C7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3041"/>
                </a:solidFill>
                <a:latin typeface="Aptos Display"/>
              </a:defRPr>
            </a:pPr>
            <a:r>
              <a:t>LLM-Assisted Financial</a:t>
            </a:r>
            <a:br/>
            <a:r>
              <a:t>Statement Analysis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46888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C7896"/>
                </a:solidFill>
                <a:latin typeface="Aptos"/>
              </a:defRPr>
            </a:pPr>
            <a:r>
              <a:t>Major Project • 4th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52120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3041"/>
                </a:solidFill>
              </a:defRPr>
            </a:pPr>
            <a:r>
              <a:t>TEAM MEMBERS</a:t>
            </a:r>
          </a:p>
          <a:p>
            <a:pPr>
              <a:spcAft>
                <a:spcPts val="800"/>
              </a:spcAft>
              <a:defRPr sz="1700">
                <a:solidFill>
                  <a:srgbClr val="69737D"/>
                </a:solidFill>
              </a:defRPr>
            </a:pPr>
            <a:r>
              <a:t>R. Lalithasahasra</a:t>
            </a:r>
          </a:p>
          <a:p>
            <a:pPr>
              <a:spcAft>
                <a:spcPts val="800"/>
              </a:spcAft>
              <a:defRPr sz="1700">
                <a:solidFill>
                  <a:srgbClr val="69737D"/>
                </a:solidFill>
              </a:defRPr>
            </a:pPr>
            <a:r>
              <a:t>Md. Maaz</a:t>
            </a:r>
          </a:p>
          <a:p>
            <a:pPr>
              <a:spcAft>
                <a:spcPts val="800"/>
              </a:spcAft>
              <a:defRPr sz="1700">
                <a:solidFill>
                  <a:srgbClr val="69737D"/>
                </a:solidFill>
              </a:defRPr>
            </a:pPr>
            <a:r>
              <a:t>G. Nikhil reddy</a:t>
            </a:r>
          </a:p>
          <a:p>
            <a:pPr>
              <a:spcAft>
                <a:spcPts val="800"/>
              </a:spcAft>
              <a:defRPr sz="1700">
                <a:solidFill>
                  <a:srgbClr val="69737D"/>
                </a:solidFill>
              </a:defRPr>
            </a:pPr>
            <a:r>
              <a:t>K. Praveen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24612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041"/>
                </a:solidFill>
              </a:defRPr>
            </a:pPr>
            <a:r>
              <a:t>Financial document analysis</a:t>
            </a:r>
          </a:p>
          <a:p>
            <a:pPr>
              <a:defRPr sz="1300">
                <a:solidFill>
                  <a:srgbClr val="69737D"/>
                </a:solidFill>
              </a:defRPr>
            </a:pPr>
            <a:r>
              <a:t>PDF extraction  •  Ratio analysis  •  Grounded LLM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</a:defRPr>
            </a:pPr>
            <a: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D343C"/>
                </a:solidFill>
              </a:defRPr>
            </a:pPr>
            <a:r>
              <a:t>• Annual reports and 10-K-style PDFs contain valuable financial information, but much of it is difficult to extract and analyze manually.</a:t>
            </a:r>
          </a:p>
          <a:p>
            <a:pPr>
              <a:spcAft>
                <a:spcPts val="1200"/>
              </a:spcAft>
              <a:defRPr sz="1900">
                <a:solidFill>
                  <a:srgbClr val="2D343C"/>
                </a:solidFill>
              </a:defRPr>
            </a:pPr>
            <a:r>
              <a:t>• The system converts important financial information from unstructured reports into structured, usable data.</a:t>
            </a:r>
          </a:p>
          <a:p>
            <a:pPr>
              <a:spcAft>
                <a:spcPts val="1200"/>
              </a:spcAft>
              <a:defRPr sz="1900">
                <a:solidFill>
                  <a:srgbClr val="2D343C"/>
                </a:solidFill>
              </a:defRPr>
            </a:pPr>
            <a:r>
              <a:t>• An LLM helps normalize extracted figures and generate an easy-to-understand analyst-style summary.</a:t>
            </a:r>
          </a:p>
          <a:p>
            <a:pPr>
              <a:spcAft>
                <a:spcPts val="1200"/>
              </a:spcAft>
              <a:defRPr sz="1900">
                <a:solidFill>
                  <a:srgbClr val="2D343C"/>
                </a:solidFill>
              </a:defRPr>
            </a:pPr>
            <a:r>
              <a:t>• The final analysis is grounded in extracted and computed figures rather than asking the LLM to guess financial values.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Financial reports can be lengthy and contain tables, figures and different formats across companies.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Finding revenue, margins and other important figures manually takes time.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Financial ratios must be calculated correctly before meaningful comparisons can be made.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Manual analysis can make it difficult to quickly understand year-over-year changes and possible warning signs.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Therefore, an automated workflow is needed to extract, calculate and explain financial information.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</a:defRPr>
            </a:pPr>
            <a:r>
              <a:t>3.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Accept a public annual report or 10-K-style PDF as input.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Extract relevant tables and financial figures using a PDF table-extraction pipeline.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Use structured-output prompting to normalize the extracted figures.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Calculate financial ratios programmatically.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Generate a plain-language analyst summary based only on the extracted and computed figures.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</a:defRPr>
            </a:pPr>
            <a:r>
              <a:t>4.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Build a PDF table/figure extraction pipeline for financial statements.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Use an LLM with structured-output prompting to normalize extracted figures into a standard schema.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Compute current ratio, ROE and debt-to-equity programmatically.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Generate a grounded analyst-style summary referencing the computed figures.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Make financial statement analysis faster and easier to understand.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</a:defRPr>
            </a:pPr>
            <a:r>
              <a:t>5. 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PDF Input → Annual report / 10-K-style document.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Extraction → Tables and relevant financial figures.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Normalization → LLM structured output.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Calculation → Financial ratios using programmatic formulas.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Analysis → Year-over-year trends and possible red flags.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Output → Structured results plus an analyst-style summary.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</a:defRPr>
            </a:pPr>
            <a:r>
              <a:t>6. Data Extraction &amp;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Input data comes from publicly filed annual reports and 10-K-style documents.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Tools such as pdfplumber or Camelot can extract tables and figures from PDFs.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Important values such as revenue, margins and other financial figures are identified.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Extracted information is converted into a consistent structured schema.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Structured data is then passed to the calculation and analysis stages.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</a:defRPr>
            </a:pPr>
            <a:r>
              <a:t>7. Role of the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The LLM helps normalize extracted financial figures into a consistent format.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Structured-output prompting makes the expected fields easier to process programmatically.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The LLM generates a plain-language analyst summary from supplied figures.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It is not used to guess financial ratios.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Separating calculation from generation helps keep the summary grounded in the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</a:defRPr>
            </a:pPr>
            <a:r>
              <a:t>8. Financial Ratio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Current Ratio = Current Assets ÷ Current Liabilities — indicates short-term liquidity.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ROE = Net Income ÷ Shareholders’ Equity — indicates profitability relative to equity.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Debt-to-Equity = Total Debt ÷ Shareholders’ Equity — shows the relationship between debt and equity financing.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These ratios are calculated programmatically rather than being guessed by the LLM.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Ratios can then be compared across reporting years.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</a:defRPr>
            </a:pPr>
            <a:r>
              <a:t>9. Trend &amp; Red-Flag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Compare financial figures across years to identify year-over-year changes.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Highlight positive or negative movements in revenue, margins and key ratios.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Identify possible red flags such as weakening profitability, liquidity changes or increasing leverage.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Convert numerical findings into concise explanations.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Keep conclusions tied to available extracted and computed figures.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</a:defRPr>
            </a:pPr>
            <a:r>
              <a:t>10.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Python — main programming and data-processing language.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pdfplumber / Camelot — PDF table and figure extraction.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LLM API — structured-output normalization and grounded text generation.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Pandas — cleaning, organizing and processing financial data.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Public annual reports / 10-K-style filings — source documents.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</a:defRPr>
            </a:pPr>
            <a:r>
              <a:t>11. Expected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A structured table containing extracted financial figures.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Calculated financial ratios such as current ratio, ROE and debt-to-equity.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Year-over-year comparisons of important metrics.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A plain-language analyst summary explaining major trends.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A section highlighting possible red flags based on the figures.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A faster workflow for reviewing lengthy financial reports.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</a:defRPr>
            </a:pPr>
            <a:r>
              <a:t>12. Advantages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Advantages: reduces repetitive manual extraction and combines AI with programmatic financial calculations.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Advantages: produces concise, easier-to-understand summaries from lengthy documents.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Limitation: PDF layouts can vary and extraction quality affects later analysis.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Limitation: LLM-generated text still needs validation.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Limitation: the tool supports analysis and does not replace professional financial judgment.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</a:defRPr>
            </a:pPr>
            <a:r>
              <a:t>13.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Add OCR support for scanned financial reports.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Build an interactive dashboard for financial comparisons and visualizations.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Compare multiple companies and years automatically.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Add more financial ratios and industry-specific indicators.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Improve validation and confidence checks for extracted values.</a:t>
            </a:r>
          </a:p>
          <a:p>
            <a:pPr>
              <a:spcAft>
                <a:spcPts val="1200"/>
              </a:spcAft>
              <a:defRPr sz="1800">
                <a:solidFill>
                  <a:srgbClr val="2D343C"/>
                </a:solidFill>
              </a:defRPr>
            </a:pPr>
            <a:r>
              <a:t>• Allow users to export the completed analysis as a report.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</a:defRPr>
            </a:pPr>
            <a:r>
              <a:t>14.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D343C"/>
                </a:solidFill>
              </a:defRPr>
            </a:pPr>
            <a:r>
              <a:t>• The project combines PDF processing, financial analytics and LLM capabilities in one workflow.</a:t>
            </a:r>
          </a:p>
          <a:p>
            <a:pPr>
              <a:spcAft>
                <a:spcPts val="1200"/>
              </a:spcAft>
              <a:defRPr sz="1900">
                <a:solidFill>
                  <a:srgbClr val="2D343C"/>
                </a:solidFill>
              </a:defRPr>
            </a:pPr>
            <a:r>
              <a:t>• It transforms complex financial reports into structured figures, calculated ratios and understandable insights.</a:t>
            </a:r>
          </a:p>
          <a:p>
            <a:pPr>
              <a:spcAft>
                <a:spcPts val="1200"/>
              </a:spcAft>
              <a:defRPr sz="1900">
                <a:solidFill>
                  <a:srgbClr val="2D343C"/>
                </a:solidFill>
              </a:defRPr>
            </a:pPr>
            <a:r>
              <a:t>• The grounded approach keeps the generated explanation connected to extracted and computed data.</a:t>
            </a:r>
          </a:p>
          <a:p>
            <a:pPr>
              <a:spcAft>
                <a:spcPts val="1200"/>
              </a:spcAft>
              <a:defRPr sz="1900">
                <a:solidFill>
                  <a:srgbClr val="2D343C"/>
                </a:solidFill>
              </a:defRPr>
            </a:pPr>
            <a:r>
              <a:t>• Overall, the tool can make financial statement review faster, more accessible and more consistent.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