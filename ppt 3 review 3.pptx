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62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B1F3A">
              <a:alpha val="87843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592827" y="1272421"/>
            <a:ext cx="266700" cy="19050"/>
          </a:xfrm>
          <a:custGeom>
            <a:avLst/>
            <a:gdLst/>
            <a:ahLst/>
            <a:cxnLst/>
            <a:rect l="l" t="t" r="r" b="b"/>
            <a:pathLst>
              <a:path w="266700" h="19050">
                <a:moveTo>
                  <a:pt x="0" y="0"/>
                </a:moveTo>
                <a:lnTo>
                  <a:pt x="266700" y="0"/>
                </a:lnTo>
                <a:lnTo>
                  <a:pt x="2667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6" name="Shape 3"/>
          <p:cNvSpPr/>
          <p:nvPr/>
        </p:nvSpPr>
        <p:spPr>
          <a:xfrm>
            <a:off x="3936202" y="1196221"/>
            <a:ext cx="1271588" cy="171450"/>
          </a:xfrm>
          <a:custGeom>
            <a:avLst/>
            <a:gdLst/>
            <a:ahLst/>
            <a:cxnLst/>
            <a:rect l="l" t="t" r="r" b="b"/>
            <a:pathLst>
              <a:path w="1271588" h="171450">
                <a:moveTo>
                  <a:pt x="0" y="0"/>
                </a:moveTo>
                <a:lnTo>
                  <a:pt x="1271588" y="0"/>
                </a:lnTo>
                <a:lnTo>
                  <a:pt x="127158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7" name="Text 4"/>
          <p:cNvSpPr/>
          <p:nvPr/>
        </p:nvSpPr>
        <p:spPr>
          <a:xfrm>
            <a:off x="3936202" y="1196221"/>
            <a:ext cx="12715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MAJOR PROJECT- A(5)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284467" y="1272421"/>
            <a:ext cx="266700" cy="19050"/>
          </a:xfrm>
          <a:custGeom>
            <a:avLst/>
            <a:gdLst/>
            <a:ahLst/>
            <a:cxnLst/>
            <a:rect l="l" t="t" r="r" b="b"/>
            <a:pathLst>
              <a:path w="266700" h="19050">
                <a:moveTo>
                  <a:pt x="0" y="0"/>
                </a:moveTo>
                <a:lnTo>
                  <a:pt x="266700" y="0"/>
                </a:lnTo>
                <a:lnTo>
                  <a:pt x="2667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9" name="Shape 6"/>
          <p:cNvSpPr/>
          <p:nvPr/>
        </p:nvSpPr>
        <p:spPr>
          <a:xfrm>
            <a:off x="1571625" y="1511259"/>
            <a:ext cx="6000750" cy="723900"/>
          </a:xfrm>
          <a:custGeom>
            <a:avLst/>
            <a:gdLst/>
            <a:ahLst/>
            <a:cxnLst/>
            <a:rect l="l" t="t" r="r" b="b"/>
            <a:pathLst>
              <a:path w="6000750" h="723900">
                <a:moveTo>
                  <a:pt x="0" y="0"/>
                </a:moveTo>
                <a:lnTo>
                  <a:pt x="6000750" y="0"/>
                </a:lnTo>
                <a:lnTo>
                  <a:pt x="6000750" y="723900"/>
                </a:lnTo>
                <a:lnTo>
                  <a:pt x="0" y="7239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571625" y="1511259"/>
            <a:ext cx="6000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LLM-Assisted Financial Statement Analysis Tool</a:t>
            </a:r>
            <a:endParaRPr lang="en-US" sz="900" b="1" dirty="0"/>
          </a:p>
        </p:txBody>
      </p:sp>
      <p:sp>
        <p:nvSpPr>
          <p:cNvPr id="11" name="Shape 8"/>
          <p:cNvSpPr/>
          <p:nvPr/>
        </p:nvSpPr>
        <p:spPr>
          <a:xfrm>
            <a:off x="2550286" y="2368986"/>
            <a:ext cx="4043363" cy="219075"/>
          </a:xfrm>
          <a:custGeom>
            <a:avLst/>
            <a:gdLst/>
            <a:ahLst/>
            <a:cxnLst/>
            <a:rect l="l" t="t" r="r" b="b"/>
            <a:pathLst>
              <a:path w="4043363" h="219075">
                <a:moveTo>
                  <a:pt x="0" y="0"/>
                </a:moveTo>
                <a:lnTo>
                  <a:pt x="4043363" y="0"/>
                </a:lnTo>
                <a:lnTo>
                  <a:pt x="4043363" y="219075"/>
                </a:lnTo>
                <a:lnTo>
                  <a:pt x="0" y="219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20808" y="2588061"/>
            <a:ext cx="2938453" cy="428625"/>
          </a:xfrm>
          <a:custGeom>
            <a:avLst/>
            <a:gdLst/>
            <a:ahLst/>
            <a:cxnLst/>
            <a:rect l="l" t="t" r="r" b="b"/>
            <a:pathLst>
              <a:path w="2938453" h="428625">
                <a:moveTo>
                  <a:pt x="0" y="0"/>
                </a:moveTo>
                <a:lnTo>
                  <a:pt x="2938453" y="0"/>
                </a:lnTo>
                <a:lnTo>
                  <a:pt x="2938453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27117" y="3034573"/>
            <a:ext cx="2125835" cy="257397"/>
          </a:xfrm>
          <a:custGeom>
            <a:avLst/>
            <a:gdLst/>
            <a:ahLst/>
            <a:cxnLst/>
            <a:rect l="l" t="t" r="r" b="b"/>
            <a:pathLst>
              <a:path w="2125835" h="257397">
                <a:moveTo>
                  <a:pt x="0" y="0"/>
                </a:moveTo>
                <a:lnTo>
                  <a:pt x="2125835" y="0"/>
                </a:lnTo>
                <a:lnTo>
                  <a:pt x="2125835" y="257397"/>
                </a:lnTo>
                <a:lnTo>
                  <a:pt x="0" y="25739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38740" y="2683566"/>
            <a:ext cx="2125835" cy="257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Members:</a:t>
            </a:r>
            <a:endParaRPr lang="en-US" sz="16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02CC841D-2A7C-8A62-C494-DE2602666D82}"/>
              </a:ext>
            </a:extLst>
          </p:cNvPr>
          <p:cNvSpPr/>
          <p:nvPr/>
        </p:nvSpPr>
        <p:spPr>
          <a:xfrm>
            <a:off x="5428892" y="2913696"/>
            <a:ext cx="2938453" cy="428625"/>
          </a:xfrm>
          <a:custGeom>
            <a:avLst/>
            <a:gdLst/>
            <a:ahLst/>
            <a:cxnLst/>
            <a:rect l="l" t="t" r="r" b="b"/>
            <a:pathLst>
              <a:path w="2938453" h="428625">
                <a:moveTo>
                  <a:pt x="0" y="0"/>
                </a:moveTo>
                <a:lnTo>
                  <a:pt x="2938453" y="0"/>
                </a:lnTo>
                <a:lnTo>
                  <a:pt x="2938453" y="428625"/>
                </a:lnTo>
                <a:lnTo>
                  <a:pt x="0" y="428625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55AC9C95-7BDD-9137-63A6-D8CCF34B7B8C}"/>
              </a:ext>
            </a:extLst>
          </p:cNvPr>
          <p:cNvSpPr/>
          <p:nvPr/>
        </p:nvSpPr>
        <p:spPr>
          <a:xfrm>
            <a:off x="6166515" y="2956504"/>
            <a:ext cx="1880205" cy="343010"/>
          </a:xfrm>
          <a:custGeom>
            <a:avLst/>
            <a:gdLst/>
            <a:ahLst/>
            <a:cxnLst/>
            <a:rect l="l" t="t" r="r" b="b"/>
            <a:pathLst>
              <a:path w="2125835" h="257397">
                <a:moveTo>
                  <a:pt x="0" y="0"/>
                </a:moveTo>
                <a:lnTo>
                  <a:pt x="2125835" y="0"/>
                </a:lnTo>
                <a:lnTo>
                  <a:pt x="2125835" y="257397"/>
                </a:lnTo>
                <a:lnTo>
                  <a:pt x="0" y="25739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r>
              <a:rPr lang="en-IN" sz="1600" dirty="0">
                <a:solidFill>
                  <a:schemeClr val="bg1"/>
                </a:solidFill>
              </a:rPr>
              <a:t>Team Guide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F72825-9B91-C375-EA86-9E6A78121B73}"/>
              </a:ext>
            </a:extLst>
          </p:cNvPr>
          <p:cNvSpPr txBox="1"/>
          <p:nvPr/>
        </p:nvSpPr>
        <p:spPr>
          <a:xfrm>
            <a:off x="938740" y="3163106"/>
            <a:ext cx="2061975" cy="1288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6957"/>
              </a:lnSpc>
              <a:spcBef>
                <a:spcPts val="281"/>
              </a:spcBef>
            </a:pPr>
            <a:r>
              <a:rPr lang="en-US" sz="1500" dirty="0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R. </a:t>
            </a:r>
            <a:r>
              <a:rPr lang="en-US" sz="1500" dirty="0" err="1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Lalithasahasra</a:t>
            </a:r>
            <a:r>
              <a:rPr lang="en-US" sz="1500" dirty="0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– 6642</a:t>
            </a: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86957"/>
              </a:lnSpc>
              <a:spcBef>
                <a:spcPts val="281"/>
              </a:spcBef>
            </a:pPr>
            <a:r>
              <a:rPr lang="en-US" sz="1500" dirty="0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Md. Maaz – 6646</a:t>
            </a: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86957"/>
              </a:lnSpc>
              <a:spcBef>
                <a:spcPts val="281"/>
              </a:spcBef>
            </a:pPr>
            <a:r>
              <a:rPr lang="en-US" sz="1500" dirty="0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G. Nikhil – 6663</a:t>
            </a:r>
            <a:endParaRPr lang="en-US" sz="1500" dirty="0">
              <a:solidFill>
                <a:schemeClr val="bg1"/>
              </a:solidFill>
            </a:endParaRPr>
          </a:p>
          <a:p>
            <a:pPr>
              <a:lnSpc>
                <a:spcPct val="86957"/>
              </a:lnSpc>
              <a:spcBef>
                <a:spcPts val="281"/>
              </a:spcBef>
            </a:pPr>
            <a:r>
              <a:rPr lang="en-US" sz="1500" dirty="0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K. Praveen - 6674</a:t>
            </a:r>
            <a:endParaRPr lang="en-US" sz="15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038F4F-578C-3179-1592-0261A63E697A}"/>
              </a:ext>
            </a:extLst>
          </p:cNvPr>
          <p:cNvSpPr txBox="1"/>
          <p:nvPr/>
        </p:nvSpPr>
        <p:spPr>
          <a:xfrm>
            <a:off x="6166515" y="3398555"/>
            <a:ext cx="1573527" cy="40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181" dirty="0" err="1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Dr.M.Chalapathi</a:t>
            </a:r>
            <a:r>
              <a:rPr lang="en-US" sz="1181" dirty="0">
                <a:solidFill>
                  <a:schemeClr val="bg1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OVERVIEW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6351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6351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financial document to grounded insight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2207"/>
            <a:ext cx="8229600" cy="204787"/>
          </a:xfrm>
          <a:custGeom>
            <a:avLst/>
            <a:gdLst/>
            <a:ahLst/>
            <a:cxnLst/>
            <a:rect l="l" t="t" r="r" b="b"/>
            <a:pathLst>
              <a:path w="8229600" h="204787">
                <a:moveTo>
                  <a:pt x="0" y="0"/>
                </a:moveTo>
                <a:lnTo>
                  <a:pt x="8229600" y="0"/>
                </a:lnTo>
                <a:lnTo>
                  <a:pt x="82296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92207"/>
            <a:ext cx="82296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transparent workflow turns uploaded PDFs into structured, explainable outputs.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865768"/>
            <a:ext cx="2362200" cy="2014538"/>
          </a:xfrm>
          <a:custGeom>
            <a:avLst/>
            <a:gdLst/>
            <a:ahLst/>
            <a:cxnLst/>
            <a:rect l="l" t="t" r="r" b="b"/>
            <a:pathLst>
              <a:path w="2362200" h="2014538">
                <a:moveTo>
                  <a:pt x="47563" y="0"/>
                </a:moveTo>
                <a:lnTo>
                  <a:pt x="2314637" y="0"/>
                </a:lnTo>
                <a:quadBezTo>
                  <a:pt x="2362200" y="0"/>
                  <a:pt x="2362200" y="47563"/>
                </a:quadBezTo>
                <a:lnTo>
                  <a:pt x="2362200" y="1966974"/>
                </a:lnTo>
                <a:quadBezTo>
                  <a:pt x="2362200" y="2014538"/>
                  <a:pt x="2314637" y="2014538"/>
                </a:quadBezTo>
                <a:lnTo>
                  <a:pt x="47563" y="2014538"/>
                </a:lnTo>
                <a:quadBezTo>
                  <a:pt x="0" y="2014538"/>
                  <a:pt x="0" y="1966974"/>
                </a:quadBezTo>
                <a:lnTo>
                  <a:pt x="0" y="47563"/>
                </a:lnTo>
                <a:quadBezTo>
                  <a:pt x="0" y="0"/>
                  <a:pt x="47563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225" y="2064841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8" y="2145803"/>
            <a:ext cx="161925" cy="16192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508703" y="2148185"/>
            <a:ext cx="109537" cy="157163"/>
          </a:xfrm>
          <a:custGeom>
            <a:avLst/>
            <a:gdLst/>
            <a:ahLst/>
            <a:cxnLst/>
            <a:rect l="l" t="t" r="r" b="b"/>
            <a:pathLst>
              <a:path w="109537" h="157163">
                <a:moveTo>
                  <a:pt x="0" y="0"/>
                </a:moveTo>
                <a:lnTo>
                  <a:pt x="109537" y="0"/>
                </a:lnTo>
                <a:lnTo>
                  <a:pt x="109537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2508703" y="2148185"/>
            <a:ext cx="1095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57225" y="2512755"/>
            <a:ext cx="1962150" cy="185738"/>
          </a:xfrm>
          <a:custGeom>
            <a:avLst/>
            <a:gdLst/>
            <a:ahLst/>
            <a:cxnLst/>
            <a:rect l="l" t="t" r="r" b="b"/>
            <a:pathLst>
              <a:path w="1962150" h="185738">
                <a:moveTo>
                  <a:pt x="0" y="0"/>
                </a:moveTo>
                <a:lnTo>
                  <a:pt x="1962150" y="0"/>
                </a:lnTo>
                <a:lnTo>
                  <a:pt x="19621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57225" y="2512755"/>
            <a:ext cx="1962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the PDF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7225" y="2756831"/>
            <a:ext cx="1962150" cy="538163"/>
          </a:xfrm>
          <a:custGeom>
            <a:avLst/>
            <a:gdLst/>
            <a:ahLst/>
            <a:cxnLst/>
            <a:rect l="l" t="t" r="r" b="b"/>
            <a:pathLst>
              <a:path w="1962150" h="538163">
                <a:moveTo>
                  <a:pt x="0" y="0"/>
                </a:moveTo>
                <a:lnTo>
                  <a:pt x="1962150" y="0"/>
                </a:lnTo>
                <a:lnTo>
                  <a:pt x="1962150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7225" y="2756831"/>
            <a:ext cx="1962150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application workflow begins with the source financial document.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900" y="2777788"/>
            <a:ext cx="190500" cy="1905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3390900" y="1865768"/>
            <a:ext cx="2362200" cy="2014538"/>
          </a:xfrm>
          <a:custGeom>
            <a:avLst/>
            <a:gdLst/>
            <a:ahLst/>
            <a:cxnLst/>
            <a:rect l="l" t="t" r="r" b="b"/>
            <a:pathLst>
              <a:path w="2362200" h="2014538">
                <a:moveTo>
                  <a:pt x="47563" y="0"/>
                </a:moveTo>
                <a:lnTo>
                  <a:pt x="2314637" y="0"/>
                </a:lnTo>
                <a:quadBezTo>
                  <a:pt x="2362200" y="0"/>
                  <a:pt x="2362200" y="47563"/>
                </a:quadBezTo>
                <a:lnTo>
                  <a:pt x="2362200" y="1966974"/>
                </a:lnTo>
                <a:quadBezTo>
                  <a:pt x="2362200" y="2014538"/>
                  <a:pt x="2314637" y="2014538"/>
                </a:quadBezTo>
                <a:lnTo>
                  <a:pt x="47563" y="2014538"/>
                </a:lnTo>
                <a:quadBezTo>
                  <a:pt x="0" y="2014538"/>
                  <a:pt x="0" y="1966974"/>
                </a:quadBezTo>
                <a:lnTo>
                  <a:pt x="0" y="47563"/>
                </a:lnTo>
                <a:quadBezTo>
                  <a:pt x="0" y="0"/>
                  <a:pt x="47563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1F3A">
                <a:alpha val="7843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90925" y="2064841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888" y="2145803"/>
            <a:ext cx="161925" cy="16192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5420110" y="2148185"/>
            <a:ext cx="133350" cy="157163"/>
          </a:xfrm>
          <a:custGeom>
            <a:avLst/>
            <a:gdLst/>
            <a:ahLst/>
            <a:cxnLst/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5420110" y="2148185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590925" y="2512993"/>
            <a:ext cx="1962150" cy="371475"/>
          </a:xfrm>
          <a:custGeom>
            <a:avLst/>
            <a:gdLst/>
            <a:ahLst/>
            <a:cxnLst/>
            <a:rect l="l" t="t" r="r" b="b"/>
            <a:pathLst>
              <a:path w="1962150" h="371475">
                <a:moveTo>
                  <a:pt x="0" y="0"/>
                </a:moveTo>
                <a:lnTo>
                  <a:pt x="1962150" y="0"/>
                </a:lnTo>
                <a:lnTo>
                  <a:pt x="1962150" y="371475"/>
                </a:lnTo>
                <a:lnTo>
                  <a:pt x="0" y="3714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3590925" y="2512993"/>
            <a:ext cx="19621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and compute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590925" y="2942571"/>
            <a:ext cx="1962150" cy="719137"/>
          </a:xfrm>
          <a:custGeom>
            <a:avLst/>
            <a:gdLst/>
            <a:ahLst/>
            <a:cxnLst/>
            <a:rect l="l" t="t" r="r" b="b"/>
            <a:pathLst>
              <a:path w="1962150" h="719137">
                <a:moveTo>
                  <a:pt x="0" y="0"/>
                </a:moveTo>
                <a:lnTo>
                  <a:pt x="1962150" y="0"/>
                </a:lnTo>
                <a:lnTo>
                  <a:pt x="1962150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3590925" y="2942571"/>
            <a:ext cx="1962150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information is structured, then calculations and trends run programmatically.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777788"/>
            <a:ext cx="190500" cy="19050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324600" y="1865768"/>
            <a:ext cx="2362200" cy="2014538"/>
          </a:xfrm>
          <a:custGeom>
            <a:avLst/>
            <a:gdLst/>
            <a:ahLst/>
            <a:cxnLst/>
            <a:rect l="l" t="t" r="r" b="b"/>
            <a:pathLst>
              <a:path w="2362200" h="2014538">
                <a:moveTo>
                  <a:pt x="47563" y="0"/>
                </a:moveTo>
                <a:lnTo>
                  <a:pt x="2314637" y="0"/>
                </a:lnTo>
                <a:quadBezTo>
                  <a:pt x="2362200" y="0"/>
                  <a:pt x="2362200" y="47563"/>
                </a:quadBezTo>
                <a:lnTo>
                  <a:pt x="2362200" y="1966974"/>
                </a:lnTo>
                <a:quadBezTo>
                  <a:pt x="2362200" y="2014538"/>
                  <a:pt x="2314637" y="2014538"/>
                </a:quadBezTo>
                <a:lnTo>
                  <a:pt x="47563" y="2014538"/>
                </a:lnTo>
                <a:quadBezTo>
                  <a:pt x="0" y="2014538"/>
                  <a:pt x="0" y="1966974"/>
                </a:quadBezTo>
                <a:lnTo>
                  <a:pt x="0" y="47563"/>
                </a:lnTo>
                <a:quadBezTo>
                  <a:pt x="0" y="0"/>
                  <a:pt x="47563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blurRad="161925" dist="66675" dir="2700000" algn="bl" rotWithShape="0">
              <a:srgbClr val="0B1F3A">
                <a:alpha val="16078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524625" y="2064841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588" y="2145803"/>
            <a:ext cx="161925" cy="16192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8354021" y="2148185"/>
            <a:ext cx="133350" cy="157163"/>
          </a:xfrm>
          <a:custGeom>
            <a:avLst/>
            <a:gdLst/>
            <a:ahLst/>
            <a:cxnLst/>
            <a:rect l="l" t="t" r="r" b="b"/>
            <a:pathLst>
              <a:path w="133350" h="157163">
                <a:moveTo>
                  <a:pt x="0" y="0"/>
                </a:moveTo>
                <a:lnTo>
                  <a:pt x="133350" y="0"/>
                </a:lnTo>
                <a:lnTo>
                  <a:pt x="13335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8354021" y="2148185"/>
            <a:ext cx="1333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DE0E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524625" y="2512755"/>
            <a:ext cx="1962150" cy="185738"/>
          </a:xfrm>
          <a:custGeom>
            <a:avLst/>
            <a:gdLst/>
            <a:ahLst/>
            <a:cxnLst/>
            <a:rect l="l" t="t" r="r" b="b"/>
            <a:pathLst>
              <a:path w="1962150" h="185738">
                <a:moveTo>
                  <a:pt x="0" y="0"/>
                </a:moveTo>
                <a:lnTo>
                  <a:pt x="1962150" y="0"/>
                </a:lnTo>
                <a:lnTo>
                  <a:pt x="19621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6524625" y="2512755"/>
            <a:ext cx="19621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Explain the result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6524625" y="2756831"/>
            <a:ext cx="1962150" cy="538163"/>
          </a:xfrm>
          <a:custGeom>
            <a:avLst/>
            <a:gdLst/>
            <a:ahLst/>
            <a:cxnLst/>
            <a:rect l="l" t="t" r="r" b="b"/>
            <a:pathLst>
              <a:path w="1962150" h="538163">
                <a:moveTo>
                  <a:pt x="0" y="0"/>
                </a:moveTo>
                <a:lnTo>
                  <a:pt x="1962150" y="0"/>
                </a:lnTo>
                <a:lnTo>
                  <a:pt x="1962150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6524625" y="2756831"/>
            <a:ext cx="1962150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LLM generates a grounded explanation for clear, useful display.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1762125" y="4109620"/>
            <a:ext cx="5619750" cy="595313"/>
          </a:xfrm>
          <a:custGeom>
            <a:avLst/>
            <a:gdLst/>
            <a:ahLst/>
            <a:cxnLst/>
            <a:rect l="l" t="t" r="r" b="b"/>
            <a:pathLst>
              <a:path w="5619750" h="595313">
                <a:moveTo>
                  <a:pt x="87785" y="0"/>
                </a:moveTo>
                <a:lnTo>
                  <a:pt x="5531965" y="0"/>
                </a:lnTo>
                <a:quadBezTo>
                  <a:pt x="5619750" y="0"/>
                  <a:pt x="5619750" y="87785"/>
                </a:quadBezTo>
                <a:lnTo>
                  <a:pt x="5619750" y="507528"/>
                </a:lnTo>
                <a:quadBezTo>
                  <a:pt x="5619750" y="595313"/>
                  <a:pt x="5531965" y="595313"/>
                </a:quadBezTo>
                <a:lnTo>
                  <a:pt x="87785" y="595313"/>
                </a:lnTo>
                <a:quadBezTo>
                  <a:pt x="0" y="595313"/>
                  <a:pt x="0" y="507528"/>
                </a:quadBezTo>
                <a:lnTo>
                  <a:pt x="0" y="87785"/>
                </a:lnTo>
                <a:quadBezTo>
                  <a:pt x="0" y="0"/>
                  <a:pt x="8778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1675" y="4335840"/>
            <a:ext cx="142875" cy="142875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2219325" y="4233445"/>
            <a:ext cx="4991100" cy="347663"/>
          </a:xfrm>
          <a:custGeom>
            <a:avLst/>
            <a:gdLst/>
            <a:ahLst/>
            <a:cxnLst/>
            <a:rect l="l" t="t" r="r" b="b"/>
            <a:pathLst>
              <a:path w="4991100" h="347663">
                <a:moveTo>
                  <a:pt x="0" y="0"/>
                </a:moveTo>
                <a:lnTo>
                  <a:pt x="4991100" y="0"/>
                </a:lnTo>
                <a:lnTo>
                  <a:pt x="49911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4"/>
          <p:cNvSpPr/>
          <p:nvPr/>
        </p:nvSpPr>
        <p:spPr>
          <a:xfrm>
            <a:off x="2219325" y="4233445"/>
            <a:ext cx="49911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13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analytical layer stays programmatic; the language layer stays grounded in computed results.</a:t>
            </a:r>
            <a:endParaRPr lang="en-US" sz="9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2125" y="4109620"/>
            <a:ext cx="5619750" cy="5953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99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FOUNDATION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75577"/>
            <a:ext cx="8267700" cy="328613"/>
          </a:xfrm>
          <a:custGeom>
            <a:avLst/>
            <a:gdLst/>
            <a:ahLst/>
            <a:cxnLst/>
            <a:rect l="l" t="t" r="r" b="b"/>
            <a:pathLst>
              <a:path w="8267700" h="328613">
                <a:moveTo>
                  <a:pt x="0" y="0"/>
                </a:moveTo>
                <a:lnTo>
                  <a:pt x="8267700" y="0"/>
                </a:lnTo>
                <a:lnTo>
                  <a:pt x="826770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75577"/>
            <a:ext cx="82677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Environment &amp; Project Structure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969943"/>
            <a:ext cx="8267700" cy="195263"/>
          </a:xfrm>
          <a:custGeom>
            <a:avLst/>
            <a:gdLst/>
            <a:ahLst/>
            <a:cxnLst/>
            <a:rect l="l" t="t" r="r" b="b"/>
            <a:pathLst>
              <a:path w="8267700" h="195263">
                <a:moveTo>
                  <a:pt x="0" y="0"/>
                </a:moveTo>
                <a:lnTo>
                  <a:pt x="8267700" y="0"/>
                </a:lnTo>
                <a:lnTo>
                  <a:pt x="82677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969943"/>
            <a:ext cx="82677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practical stack connects document extraction, model intelligence, and a clear user-facing workflow.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923" y="1734533"/>
            <a:ext cx="2614613" cy="3067050"/>
          </a:xfrm>
          <a:custGeom>
            <a:avLst/>
            <a:gdLst/>
            <a:ahLst/>
            <a:cxnLst/>
            <a:rect l="l" t="t" r="r" b="b"/>
            <a:pathLst>
              <a:path w="2614613" h="3067050">
                <a:moveTo>
                  <a:pt x="39977" y="0"/>
                </a:moveTo>
                <a:lnTo>
                  <a:pt x="2574635" y="0"/>
                </a:lnTo>
                <a:quadBezTo>
                  <a:pt x="2614613" y="0"/>
                  <a:pt x="2614613" y="39977"/>
                </a:quadBezTo>
                <a:lnTo>
                  <a:pt x="2614613" y="3027073"/>
                </a:lnTo>
                <a:quadBezTo>
                  <a:pt x="2614613" y="3067050"/>
                  <a:pt x="2574635" y="3067050"/>
                </a:quadBezTo>
                <a:lnTo>
                  <a:pt x="39977" y="3067050"/>
                </a:lnTo>
                <a:quadBezTo>
                  <a:pt x="0" y="3067050"/>
                  <a:pt x="0" y="3027073"/>
                </a:quadBezTo>
                <a:lnTo>
                  <a:pt x="0" y="39977"/>
                </a:lnTo>
                <a:quadBezTo>
                  <a:pt x="0" y="0"/>
                  <a:pt x="3997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638175" y="1935540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021265"/>
            <a:ext cx="1524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8948" y="2422267"/>
            <a:ext cx="2214563" cy="195263"/>
          </a:xfrm>
          <a:custGeom>
            <a:avLst/>
            <a:gdLst/>
            <a:ahLst/>
            <a:cxnLst/>
            <a:rect l="l" t="t" r="r" b="b"/>
            <a:pathLst>
              <a:path w="2214563" h="195263">
                <a:moveTo>
                  <a:pt x="0" y="0"/>
                </a:moveTo>
                <a:lnTo>
                  <a:pt x="2214563" y="0"/>
                </a:lnTo>
                <a:lnTo>
                  <a:pt x="2214563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38948" y="2422267"/>
            <a:ext cx="22145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Environment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38948" y="2694057"/>
            <a:ext cx="2214563" cy="528638"/>
          </a:xfrm>
          <a:custGeom>
            <a:avLst/>
            <a:gdLst/>
            <a:ahLst/>
            <a:cxnLst/>
            <a:rect l="l" t="t" r="r" b="b"/>
            <a:pathLst>
              <a:path w="2214563" h="528638">
                <a:moveTo>
                  <a:pt x="0" y="0"/>
                </a:moveTo>
                <a:lnTo>
                  <a:pt x="2214563" y="0"/>
                </a:lnTo>
                <a:lnTo>
                  <a:pt x="2214563" y="528638"/>
                </a:lnTo>
                <a:lnTo>
                  <a:pt x="0" y="5286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638948" y="2694057"/>
            <a:ext cx="2214563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Python-first workspace for transforming source documents into structured analytical data.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4097655"/>
            <a:ext cx="114300" cy="1143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9596" y="4088606"/>
            <a:ext cx="1985963" cy="147637"/>
          </a:xfrm>
          <a:custGeom>
            <a:avLst/>
            <a:gdLst/>
            <a:ahLst/>
            <a:cxnLst/>
            <a:rect l="l" t="t" r="r" b="b"/>
            <a:pathLst>
              <a:path w="1985963" h="147637">
                <a:moveTo>
                  <a:pt x="0" y="0"/>
                </a:moveTo>
                <a:lnTo>
                  <a:pt x="1985963" y="0"/>
                </a:lnTo>
                <a:lnTo>
                  <a:pt x="19859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819596" y="4088606"/>
            <a:ext cx="19859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+ Pandas for data handling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4331970"/>
            <a:ext cx="114300" cy="1143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9923" y="4323397"/>
            <a:ext cx="2033587" cy="295275"/>
          </a:xfrm>
          <a:custGeom>
            <a:avLst/>
            <a:gdLst/>
            <a:ahLst/>
            <a:cxnLst/>
            <a:rect l="l" t="t" r="r" b="b"/>
            <a:pathLst>
              <a:path w="2033587" h="295275">
                <a:moveTo>
                  <a:pt x="0" y="0"/>
                </a:moveTo>
                <a:lnTo>
                  <a:pt x="2033587" y="0"/>
                </a:lnTo>
                <a:lnTo>
                  <a:pt x="2033587" y="295275"/>
                </a:lnTo>
                <a:lnTo>
                  <a:pt x="0" y="295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819923" y="4323397"/>
            <a:ext cx="20335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 Code for development and debugging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64665" y="1734533"/>
            <a:ext cx="2614613" cy="3067050"/>
          </a:xfrm>
          <a:custGeom>
            <a:avLst/>
            <a:gdLst/>
            <a:ahLst/>
            <a:cxnLst/>
            <a:rect l="l" t="t" r="r" b="b"/>
            <a:pathLst>
              <a:path w="2614613" h="3067050">
                <a:moveTo>
                  <a:pt x="39977" y="0"/>
                </a:moveTo>
                <a:lnTo>
                  <a:pt x="2574635" y="0"/>
                </a:lnTo>
                <a:quadBezTo>
                  <a:pt x="2614613" y="0"/>
                  <a:pt x="2614613" y="39977"/>
                </a:quadBezTo>
                <a:lnTo>
                  <a:pt x="2614613" y="3027073"/>
                </a:lnTo>
                <a:quadBezTo>
                  <a:pt x="2614613" y="3067050"/>
                  <a:pt x="2574635" y="3067050"/>
                </a:quadBezTo>
                <a:lnTo>
                  <a:pt x="39977" y="3067050"/>
                </a:lnTo>
                <a:quadBezTo>
                  <a:pt x="0" y="3067050"/>
                  <a:pt x="0" y="3027073"/>
                </a:quadBezTo>
                <a:lnTo>
                  <a:pt x="0" y="39977"/>
                </a:lnTo>
                <a:quadBezTo>
                  <a:pt x="0" y="0"/>
                  <a:pt x="39977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blurRad="161925" dist="85725" dir="2700000" algn="bl" rotWithShape="0">
              <a:srgbClr val="0B1F3A">
                <a:alpha val="16078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82936" y="1964115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8661" y="2049840"/>
            <a:ext cx="152400" cy="1524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483740" y="2450842"/>
            <a:ext cx="2176462" cy="195263"/>
          </a:xfrm>
          <a:custGeom>
            <a:avLst/>
            <a:gdLst/>
            <a:ahLst/>
            <a:cxnLst/>
            <a:rect l="l" t="t" r="r" b="b"/>
            <a:pathLst>
              <a:path w="2176462" h="195263">
                <a:moveTo>
                  <a:pt x="0" y="0"/>
                </a:moveTo>
                <a:lnTo>
                  <a:pt x="2176462" y="0"/>
                </a:lnTo>
                <a:lnTo>
                  <a:pt x="2176462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3483740" y="2450842"/>
            <a:ext cx="217646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Interface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3483740" y="2722632"/>
            <a:ext cx="2176462" cy="528638"/>
          </a:xfrm>
          <a:custGeom>
            <a:avLst/>
            <a:gdLst/>
            <a:ahLst/>
            <a:cxnLst/>
            <a:rect l="l" t="t" r="r" b="b"/>
            <a:pathLst>
              <a:path w="2176462" h="528638">
                <a:moveTo>
                  <a:pt x="0" y="0"/>
                </a:moveTo>
                <a:lnTo>
                  <a:pt x="2176462" y="0"/>
                </a:lnTo>
                <a:lnTo>
                  <a:pt x="2176462" y="528638"/>
                </a:lnTo>
                <a:lnTo>
                  <a:pt x="0" y="5286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3483740" y="2722632"/>
            <a:ext cx="2176462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Streamlit or web interface turns the processing pipeline into an accessible user workflow.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936" y="3930014"/>
            <a:ext cx="114300" cy="1143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3664715" y="3921441"/>
            <a:ext cx="1995487" cy="295275"/>
          </a:xfrm>
          <a:custGeom>
            <a:avLst/>
            <a:gdLst/>
            <a:ahLst/>
            <a:cxnLst/>
            <a:rect l="l" t="t" r="r" b="b"/>
            <a:pathLst>
              <a:path w="1995487" h="295275">
                <a:moveTo>
                  <a:pt x="0" y="0"/>
                </a:moveTo>
                <a:lnTo>
                  <a:pt x="1995487" y="0"/>
                </a:lnTo>
                <a:lnTo>
                  <a:pt x="1995487" y="295275"/>
                </a:lnTo>
                <a:lnTo>
                  <a:pt x="0" y="295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5"/>
          <p:cNvSpPr/>
          <p:nvPr/>
        </p:nvSpPr>
        <p:spPr>
          <a:xfrm>
            <a:off x="3664715" y="3921441"/>
            <a:ext cx="19954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Upload, inspect, and interact with results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936" y="4312920"/>
            <a:ext cx="114300" cy="11430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3664715" y="4304348"/>
            <a:ext cx="1995487" cy="295275"/>
          </a:xfrm>
          <a:custGeom>
            <a:avLst/>
            <a:gdLst/>
            <a:ahLst/>
            <a:cxnLst/>
            <a:rect l="l" t="t" r="r" b="b"/>
            <a:pathLst>
              <a:path w="1995487" h="295275">
                <a:moveTo>
                  <a:pt x="0" y="0"/>
                </a:moveTo>
                <a:lnTo>
                  <a:pt x="1995487" y="0"/>
                </a:lnTo>
                <a:lnTo>
                  <a:pt x="1995487" y="295275"/>
                </a:lnTo>
                <a:lnTo>
                  <a:pt x="0" y="295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7"/>
          <p:cNvSpPr/>
          <p:nvPr/>
        </p:nvSpPr>
        <p:spPr>
          <a:xfrm>
            <a:off x="3664715" y="4304348"/>
            <a:ext cx="19954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Keeps complex processing behind a simple surface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6090432" y="1734533"/>
            <a:ext cx="2614613" cy="3067050"/>
          </a:xfrm>
          <a:custGeom>
            <a:avLst/>
            <a:gdLst/>
            <a:ahLst/>
            <a:cxnLst/>
            <a:rect l="l" t="t" r="r" b="b"/>
            <a:pathLst>
              <a:path w="2614613" h="3067050">
                <a:moveTo>
                  <a:pt x="39977" y="0"/>
                </a:moveTo>
                <a:lnTo>
                  <a:pt x="2574635" y="0"/>
                </a:lnTo>
                <a:quadBezTo>
                  <a:pt x="2614613" y="0"/>
                  <a:pt x="2614613" y="39977"/>
                </a:quadBezTo>
                <a:lnTo>
                  <a:pt x="2614613" y="3027073"/>
                </a:lnTo>
                <a:quadBezTo>
                  <a:pt x="2614613" y="3067050"/>
                  <a:pt x="2574635" y="3067050"/>
                </a:quadBezTo>
                <a:lnTo>
                  <a:pt x="39977" y="3067050"/>
                </a:lnTo>
                <a:quadBezTo>
                  <a:pt x="0" y="3067050"/>
                  <a:pt x="0" y="3027073"/>
                </a:quadBezTo>
                <a:lnTo>
                  <a:pt x="0" y="39977"/>
                </a:lnTo>
                <a:quadBezTo>
                  <a:pt x="0" y="0"/>
                  <a:pt x="39977" y="0"/>
                </a:quadBezTo>
                <a:close/>
              </a:path>
            </a:pathLst>
          </a:custGeom>
          <a:solidFill>
            <a:srgbClr val="FFFFFF"/>
          </a:solidFill>
          <a:ln w="7644">
            <a:solidFill>
              <a:srgbClr val="D5E5EC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297276" y="1943158"/>
            <a:ext cx="323850" cy="323850"/>
          </a:xfrm>
          <a:custGeom>
            <a:avLst/>
            <a:gdLst/>
            <a:ahLst/>
            <a:cxnLst/>
            <a:rect l="l" t="t" r="r" b="b"/>
            <a:pathLst>
              <a:path w="323850" h="323850">
                <a:moveTo>
                  <a:pt x="60511" y="0"/>
                </a:moveTo>
                <a:lnTo>
                  <a:pt x="263339" y="0"/>
                </a:lnTo>
                <a:quadBezTo>
                  <a:pt x="323850" y="0"/>
                  <a:pt x="323850" y="60511"/>
                </a:quadBezTo>
                <a:lnTo>
                  <a:pt x="323850" y="263339"/>
                </a:lnTo>
                <a:quadBezTo>
                  <a:pt x="323850" y="323850"/>
                  <a:pt x="263339" y="323850"/>
                </a:quadBezTo>
                <a:lnTo>
                  <a:pt x="60511" y="323850"/>
                </a:lnTo>
                <a:quadBezTo>
                  <a:pt x="0" y="323850"/>
                  <a:pt x="0" y="263339"/>
                </a:quadBezTo>
                <a:lnTo>
                  <a:pt x="0" y="60511"/>
                </a:lnTo>
                <a:quadBezTo>
                  <a:pt x="0" y="0"/>
                  <a:pt x="60511" y="0"/>
                </a:quadBezTo>
                <a:close/>
              </a:path>
            </a:pathLst>
          </a:custGeom>
          <a:solidFill>
            <a:srgbClr val="DDF4F5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001" y="2028883"/>
            <a:ext cx="152400" cy="152400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6297604" y="2429886"/>
            <a:ext cx="2200275" cy="195263"/>
          </a:xfrm>
          <a:custGeom>
            <a:avLst/>
            <a:gdLst/>
            <a:ahLst/>
            <a:cxnLst/>
            <a:rect l="l" t="t" r="r" b="b"/>
            <a:pathLst>
              <a:path w="2200275" h="195263">
                <a:moveTo>
                  <a:pt x="0" y="0"/>
                </a:moveTo>
                <a:lnTo>
                  <a:pt x="2200275" y="0"/>
                </a:lnTo>
                <a:lnTo>
                  <a:pt x="22002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6297604" y="2429886"/>
            <a:ext cx="22002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Code Structure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6297604" y="2701677"/>
            <a:ext cx="2200275" cy="528638"/>
          </a:xfrm>
          <a:custGeom>
            <a:avLst/>
            <a:gdLst/>
            <a:ahLst/>
            <a:cxnLst/>
            <a:rect l="l" t="t" r="r" b="b"/>
            <a:pathLst>
              <a:path w="2200275" h="528638">
                <a:moveTo>
                  <a:pt x="0" y="0"/>
                </a:moveTo>
                <a:lnTo>
                  <a:pt x="2200275" y="0"/>
                </a:lnTo>
                <a:lnTo>
                  <a:pt x="2200275" y="528638"/>
                </a:lnTo>
                <a:lnTo>
                  <a:pt x="0" y="5286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3"/>
          <p:cNvSpPr/>
          <p:nvPr/>
        </p:nvSpPr>
        <p:spPr>
          <a:xfrm>
            <a:off x="6297604" y="2701677"/>
            <a:ext cx="220027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91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Separate modules keep extraction, analysis, interface, and shared utilities easy to maintain.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297604" y="3353514"/>
            <a:ext cx="2200275" cy="1042988"/>
          </a:xfrm>
          <a:custGeom>
            <a:avLst/>
            <a:gdLst/>
            <a:ahLst/>
            <a:cxnLst/>
            <a:rect l="l" t="t" r="r" b="b"/>
            <a:pathLst>
              <a:path w="2200275" h="1042988">
                <a:moveTo>
                  <a:pt x="58459" y="0"/>
                </a:moveTo>
                <a:lnTo>
                  <a:pt x="2141816" y="0"/>
                </a:lnTo>
                <a:quadBezTo>
                  <a:pt x="2200275" y="0"/>
                  <a:pt x="2200275" y="58459"/>
                </a:quadBezTo>
                <a:lnTo>
                  <a:pt x="2200275" y="984528"/>
                </a:lnTo>
                <a:quadBezTo>
                  <a:pt x="2200275" y="1042988"/>
                  <a:pt x="2141816" y="1042988"/>
                </a:quadBezTo>
                <a:lnTo>
                  <a:pt x="58459" y="1042988"/>
                </a:lnTo>
                <a:quadBezTo>
                  <a:pt x="0" y="1042988"/>
                  <a:pt x="0" y="984528"/>
                </a:quadBezTo>
                <a:lnTo>
                  <a:pt x="0" y="58459"/>
                </a:lnTo>
                <a:quadBezTo>
                  <a:pt x="0" y="0"/>
                  <a:pt x="58459" y="0"/>
                </a:quadBez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45" name="Shape 35"/>
          <p:cNvSpPr/>
          <p:nvPr/>
        </p:nvSpPr>
        <p:spPr>
          <a:xfrm>
            <a:off x="6411904" y="3457336"/>
            <a:ext cx="1971675" cy="138113"/>
          </a:xfrm>
          <a:custGeom>
            <a:avLst/>
            <a:gdLst/>
            <a:ahLst/>
            <a:cxnLst/>
            <a:rect l="l" t="t" r="r" b="b"/>
            <a:pathLst>
              <a:path w="1971675" h="138113">
                <a:moveTo>
                  <a:pt x="0" y="0"/>
                </a:moveTo>
                <a:lnTo>
                  <a:pt x="1971675" y="0"/>
                </a:lnTo>
                <a:lnTo>
                  <a:pt x="19716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6"/>
          <p:cNvSpPr/>
          <p:nvPr/>
        </p:nvSpPr>
        <p:spPr>
          <a:xfrm>
            <a:off x="6411904" y="3457336"/>
            <a:ext cx="19716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0B1F3A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project/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6411904" y="3631644"/>
            <a:ext cx="1971675" cy="138113"/>
          </a:xfrm>
          <a:custGeom>
            <a:avLst/>
            <a:gdLst/>
            <a:ahLst/>
            <a:cxnLst/>
            <a:rect l="l" t="t" r="r" b="b"/>
            <a:pathLst>
              <a:path w="1971675" h="138113">
                <a:moveTo>
                  <a:pt x="0" y="0"/>
                </a:moveTo>
                <a:lnTo>
                  <a:pt x="1971675" y="0"/>
                </a:lnTo>
                <a:lnTo>
                  <a:pt x="19716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38"/>
          <p:cNvSpPr/>
          <p:nvPr/>
        </p:nvSpPr>
        <p:spPr>
          <a:xfrm>
            <a:off x="6411904" y="3631644"/>
            <a:ext cx="19716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2563E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├── extractors/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411904" y="3805953"/>
            <a:ext cx="1971675" cy="138113"/>
          </a:xfrm>
          <a:custGeom>
            <a:avLst/>
            <a:gdLst/>
            <a:ahLst/>
            <a:cxnLst/>
            <a:rect l="l" t="t" r="r" b="b"/>
            <a:pathLst>
              <a:path w="1971675" h="138113">
                <a:moveTo>
                  <a:pt x="0" y="0"/>
                </a:moveTo>
                <a:lnTo>
                  <a:pt x="1971675" y="0"/>
                </a:lnTo>
                <a:lnTo>
                  <a:pt x="19716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0"/>
          <p:cNvSpPr/>
          <p:nvPr/>
        </p:nvSpPr>
        <p:spPr>
          <a:xfrm>
            <a:off x="6411904" y="3805953"/>
            <a:ext cx="19716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2563E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├── analysis/</a:t>
            </a:r>
            <a:endParaRPr lang="en-US" sz="900" dirty="0"/>
          </a:p>
        </p:txBody>
      </p:sp>
      <p:sp>
        <p:nvSpPr>
          <p:cNvPr id="51" name="Shape 41"/>
          <p:cNvSpPr/>
          <p:nvPr/>
        </p:nvSpPr>
        <p:spPr>
          <a:xfrm>
            <a:off x="6411904" y="3980257"/>
            <a:ext cx="1971675" cy="138113"/>
          </a:xfrm>
          <a:custGeom>
            <a:avLst/>
            <a:gdLst/>
            <a:ahLst/>
            <a:cxnLst/>
            <a:rect l="l" t="t" r="r" b="b"/>
            <a:pathLst>
              <a:path w="1971675" h="138113">
                <a:moveTo>
                  <a:pt x="0" y="0"/>
                </a:moveTo>
                <a:lnTo>
                  <a:pt x="1971675" y="0"/>
                </a:lnTo>
                <a:lnTo>
                  <a:pt x="19716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2"/>
          <p:cNvSpPr/>
          <p:nvPr/>
        </p:nvSpPr>
        <p:spPr>
          <a:xfrm>
            <a:off x="6411904" y="3980257"/>
            <a:ext cx="19716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2563E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├── app/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411904" y="4154566"/>
            <a:ext cx="1971675" cy="138113"/>
          </a:xfrm>
          <a:custGeom>
            <a:avLst/>
            <a:gdLst/>
            <a:ahLst/>
            <a:cxnLst/>
            <a:rect l="l" t="t" r="r" b="b"/>
            <a:pathLst>
              <a:path w="1971675" h="138113">
                <a:moveTo>
                  <a:pt x="0" y="0"/>
                </a:moveTo>
                <a:lnTo>
                  <a:pt x="1971675" y="0"/>
                </a:lnTo>
                <a:lnTo>
                  <a:pt x="19716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4"/>
          <p:cNvSpPr/>
          <p:nvPr/>
        </p:nvSpPr>
        <p:spPr>
          <a:xfrm>
            <a:off x="6411904" y="4154566"/>
            <a:ext cx="19716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2563EB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└── utils/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6297604" y="4395549"/>
            <a:ext cx="2200275" cy="242888"/>
          </a:xfrm>
          <a:custGeom>
            <a:avLst/>
            <a:gdLst/>
            <a:ahLst/>
            <a:cxnLst/>
            <a:rect l="l" t="t" r="r" b="b"/>
            <a:pathLst>
              <a:path w="2200275" h="242888">
                <a:moveTo>
                  <a:pt x="0" y="0"/>
                </a:moveTo>
                <a:lnTo>
                  <a:pt x="2200275" y="0"/>
                </a:lnTo>
                <a:lnTo>
                  <a:pt x="2200275" y="242888"/>
                </a:lnTo>
                <a:lnTo>
                  <a:pt x="0" y="242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Text 46"/>
          <p:cNvSpPr/>
          <p:nvPr/>
        </p:nvSpPr>
        <p:spPr>
          <a:xfrm>
            <a:off x="6297604" y="4395549"/>
            <a:ext cx="22002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responsibility per module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70999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70999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WORKFLOW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76351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76351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Processing Implementation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1020782"/>
            <a:ext cx="5334000" cy="204787"/>
          </a:xfrm>
          <a:custGeom>
            <a:avLst/>
            <a:gdLst/>
            <a:ahLst/>
            <a:cxnLst/>
            <a:rect l="l" t="t" r="r" b="b"/>
            <a:pathLst>
              <a:path w="5334000" h="204787">
                <a:moveTo>
                  <a:pt x="0" y="0"/>
                </a:moveTo>
                <a:lnTo>
                  <a:pt x="5334000" y="0"/>
                </a:lnTo>
                <a:lnTo>
                  <a:pt x="53340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1020782"/>
            <a:ext cx="53340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an uploaded report into structured, reviewable data.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8150" y="1758404"/>
            <a:ext cx="4876800" cy="3043238"/>
          </a:xfrm>
          <a:custGeom>
            <a:avLst/>
            <a:gdLst/>
            <a:ahLst/>
            <a:cxnLst/>
            <a:rect l="l" t="t" r="r" b="b"/>
            <a:pathLst>
              <a:path w="4876800" h="3043238">
                <a:moveTo>
                  <a:pt x="40079" y="0"/>
                </a:moveTo>
                <a:lnTo>
                  <a:pt x="4836721" y="0"/>
                </a:lnTo>
                <a:quadBezTo>
                  <a:pt x="4876800" y="0"/>
                  <a:pt x="4876800" y="40079"/>
                </a:quadBezTo>
                <a:lnTo>
                  <a:pt x="4876800" y="3003158"/>
                </a:lnTo>
                <a:quadBezTo>
                  <a:pt x="4876800" y="3043238"/>
                  <a:pt x="4836721" y="3043238"/>
                </a:quadBezTo>
                <a:lnTo>
                  <a:pt x="40079" y="3043238"/>
                </a:lnTo>
                <a:quadBezTo>
                  <a:pt x="0" y="3043238"/>
                  <a:pt x="0" y="3003158"/>
                </a:quadBezTo>
                <a:lnTo>
                  <a:pt x="0" y="40079"/>
                </a:lnTo>
                <a:quadBezTo>
                  <a:pt x="0" y="0"/>
                  <a:pt x="40079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196536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965364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085850" y="1965841"/>
            <a:ext cx="3095625" cy="176212"/>
          </a:xfrm>
          <a:custGeom>
            <a:avLst/>
            <a:gdLst/>
            <a:ahLst/>
            <a:cxnLst/>
            <a:rect l="l" t="t" r="r" b="b"/>
            <a:pathLst>
              <a:path w="3095625" h="176212">
                <a:moveTo>
                  <a:pt x="0" y="0"/>
                </a:moveTo>
                <a:lnTo>
                  <a:pt x="3095625" y="0"/>
                </a:lnTo>
                <a:lnTo>
                  <a:pt x="309562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085850" y="1965841"/>
            <a:ext cx="309562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the source PDF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85850" y="2188964"/>
            <a:ext cx="3095625" cy="323850"/>
          </a:xfrm>
          <a:custGeom>
            <a:avLst/>
            <a:gdLst/>
            <a:ahLst/>
            <a:cxnLst/>
            <a:rect l="l" t="t" r="r" b="b"/>
            <a:pathLst>
              <a:path w="3095625" h="323850">
                <a:moveTo>
                  <a:pt x="0" y="0"/>
                </a:moveTo>
                <a:lnTo>
                  <a:pt x="3095625" y="0"/>
                </a:lnTo>
                <a:lnTo>
                  <a:pt x="3095625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85850" y="2188964"/>
            <a:ext cx="3095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application receives the report through a guided upload interface.</a:t>
            </a:r>
            <a:endParaRPr lang="en-US" sz="9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92598"/>
            <a:ext cx="133350" cy="13335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85800" y="3006923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" y="3006923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85850" y="3007399"/>
            <a:ext cx="3095625" cy="176212"/>
          </a:xfrm>
          <a:custGeom>
            <a:avLst/>
            <a:gdLst/>
            <a:ahLst/>
            <a:cxnLst/>
            <a:rect l="l" t="t" r="r" b="b"/>
            <a:pathLst>
              <a:path w="3095625" h="176212">
                <a:moveTo>
                  <a:pt x="0" y="0"/>
                </a:moveTo>
                <a:lnTo>
                  <a:pt x="3095625" y="0"/>
                </a:lnTo>
                <a:lnTo>
                  <a:pt x="309562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1085850" y="3007399"/>
            <a:ext cx="309562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pages and extract content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1085850" y="3230521"/>
            <a:ext cx="3095625" cy="323850"/>
          </a:xfrm>
          <a:custGeom>
            <a:avLst/>
            <a:gdLst/>
            <a:ahLst/>
            <a:cxnLst/>
            <a:rect l="l" t="t" r="r" b="b"/>
            <a:pathLst>
              <a:path w="3095625" h="323850">
                <a:moveTo>
                  <a:pt x="0" y="0"/>
                </a:moveTo>
                <a:lnTo>
                  <a:pt x="3095625" y="0"/>
                </a:lnTo>
                <a:lnTo>
                  <a:pt x="3095625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1085850" y="3230521"/>
            <a:ext cx="3095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page structure to capture tables, text, and their surrounding context.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734156"/>
            <a:ext cx="133350" cy="13335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85800" y="4048481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0" y="138113"/>
                </a:moveTo>
                <a:cubicBezTo>
                  <a:pt x="0" y="214390"/>
                  <a:pt x="61835" y="276225"/>
                  <a:pt x="138113" y="276225"/>
                </a:cubicBezTo>
                <a:cubicBezTo>
                  <a:pt x="214390" y="276225"/>
                  <a:pt x="276225" y="214390"/>
                  <a:pt x="276225" y="138113"/>
                </a:cubicBezTo>
                <a:cubicBezTo>
                  <a:pt x="276225" y="61835"/>
                  <a:pt x="214390" y="0"/>
                  <a:pt x="138113" y="0"/>
                </a:cubicBezTo>
                <a:cubicBezTo>
                  <a:pt x="61835" y="0"/>
                  <a:pt x="0" y="61835"/>
                  <a:pt x="0" y="138112"/>
                </a:cubicBez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" y="4048481"/>
            <a:ext cx="2762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085850" y="4048957"/>
            <a:ext cx="3095625" cy="176212"/>
          </a:xfrm>
          <a:custGeom>
            <a:avLst/>
            <a:gdLst/>
            <a:ahLst/>
            <a:cxnLst/>
            <a:rect l="l" t="t" r="r" b="b"/>
            <a:pathLst>
              <a:path w="3095625" h="176212">
                <a:moveTo>
                  <a:pt x="0" y="0"/>
                </a:moveTo>
                <a:lnTo>
                  <a:pt x="3095625" y="0"/>
                </a:lnTo>
                <a:lnTo>
                  <a:pt x="309562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1085850" y="4048957"/>
            <a:ext cx="309562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435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fields and resolve gaps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085850" y="4272081"/>
            <a:ext cx="3095625" cy="323850"/>
          </a:xfrm>
          <a:custGeom>
            <a:avLst/>
            <a:gdLst/>
            <a:ahLst/>
            <a:cxnLst/>
            <a:rect l="l" t="t" r="r" b="b"/>
            <a:pathLst>
              <a:path w="3095625" h="323850">
                <a:moveTo>
                  <a:pt x="0" y="0"/>
                </a:moveTo>
                <a:lnTo>
                  <a:pt x="3095625" y="0"/>
                </a:lnTo>
                <a:lnTo>
                  <a:pt x="3095625" y="323850"/>
                </a:lnTo>
                <a:lnTo>
                  <a:pt x="0" y="3238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1085850" y="4272081"/>
            <a:ext cx="30956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 labels, values, and reporting years; flag incomplete tables for review.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657850" y="1758404"/>
            <a:ext cx="3048000" cy="3043238"/>
          </a:xfrm>
          <a:custGeom>
            <a:avLst/>
            <a:gdLst/>
            <a:ahLst/>
            <a:cxnLst/>
            <a:rect l="l" t="t" r="r" b="b"/>
            <a:pathLst>
              <a:path w="3048000" h="3043238">
                <a:moveTo>
                  <a:pt x="40079" y="0"/>
                </a:moveTo>
                <a:lnTo>
                  <a:pt x="3007921" y="0"/>
                </a:lnTo>
                <a:quadBezTo>
                  <a:pt x="3048000" y="0"/>
                  <a:pt x="3048000" y="40079"/>
                </a:quadBezTo>
                <a:lnTo>
                  <a:pt x="3048000" y="3003158"/>
                </a:lnTo>
                <a:quadBezTo>
                  <a:pt x="3048000" y="3043238"/>
                  <a:pt x="3007921" y="3043238"/>
                </a:quadBezTo>
                <a:lnTo>
                  <a:pt x="40079" y="3043238"/>
                </a:lnTo>
                <a:quadBezTo>
                  <a:pt x="0" y="3043238"/>
                  <a:pt x="0" y="3003158"/>
                </a:quadBezTo>
                <a:lnTo>
                  <a:pt x="0" y="40079"/>
                </a:lnTo>
                <a:quadBezTo>
                  <a:pt x="0" y="0"/>
                  <a:pt x="40079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963280"/>
            <a:ext cx="152400" cy="1524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086088" y="1958519"/>
            <a:ext cx="1271588" cy="161925"/>
          </a:xfrm>
          <a:custGeom>
            <a:avLst/>
            <a:gdLst/>
            <a:ahLst/>
            <a:cxnLst/>
            <a:rect l="l" t="t" r="r" b="b"/>
            <a:pathLst>
              <a:path w="1271588" h="161925">
                <a:moveTo>
                  <a:pt x="0" y="0"/>
                </a:moveTo>
                <a:lnTo>
                  <a:pt x="1271588" y="0"/>
                </a:lnTo>
                <a:lnTo>
                  <a:pt x="127158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086088" y="1958519"/>
            <a:ext cx="12715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output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857875" y="2177594"/>
            <a:ext cx="2647950" cy="280987"/>
          </a:xfrm>
          <a:custGeom>
            <a:avLst/>
            <a:gdLst/>
            <a:ahLst/>
            <a:cxnLst/>
            <a:rect l="l" t="t" r="r" b="b"/>
            <a:pathLst>
              <a:path w="2647950" h="280987">
                <a:moveTo>
                  <a:pt x="0" y="0"/>
                </a:moveTo>
                <a:lnTo>
                  <a:pt x="2647950" y="0"/>
                </a:lnTo>
                <a:lnTo>
                  <a:pt x="2647950" y="280987"/>
                </a:lnTo>
                <a:lnTo>
                  <a:pt x="0" y="280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5857875" y="2177594"/>
            <a:ext cx="2647950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B9D3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transparent extraction layer makes each result traceable.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857875" y="2620863"/>
            <a:ext cx="2647950" cy="1728788"/>
          </a:xfrm>
          <a:custGeom>
            <a:avLst/>
            <a:gdLst/>
            <a:ahLst/>
            <a:cxnLst/>
            <a:rect l="l" t="t" r="r" b="b"/>
            <a:pathLst>
              <a:path w="2647950" h="1728788">
                <a:moveTo>
                  <a:pt x="45346" y="0"/>
                </a:moveTo>
                <a:lnTo>
                  <a:pt x="2602604" y="0"/>
                </a:lnTo>
                <a:quadBezTo>
                  <a:pt x="2647950" y="0"/>
                  <a:pt x="2647950" y="45346"/>
                </a:quadBezTo>
                <a:lnTo>
                  <a:pt x="2647950" y="1683441"/>
                </a:lnTo>
                <a:quadBezTo>
                  <a:pt x="2647950" y="1728788"/>
                  <a:pt x="2602604" y="1728788"/>
                </a:quadBezTo>
                <a:lnTo>
                  <a:pt x="45346" y="1728788"/>
                </a:lnTo>
                <a:quadBezTo>
                  <a:pt x="0" y="1728788"/>
                  <a:pt x="0" y="1683441"/>
                </a:quadBezTo>
                <a:lnTo>
                  <a:pt x="0" y="45346"/>
                </a:lnTo>
                <a:quadBezTo>
                  <a:pt x="0" y="0"/>
                  <a:pt x="4534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Shape 33"/>
          <p:cNvSpPr/>
          <p:nvPr/>
        </p:nvSpPr>
        <p:spPr>
          <a:xfrm>
            <a:off x="6000631" y="2754809"/>
            <a:ext cx="962025" cy="114300"/>
          </a:xfrm>
          <a:custGeom>
            <a:avLst/>
            <a:gdLst/>
            <a:ahLst/>
            <a:cxnLst/>
            <a:rect l="l" t="t" r="r" b="b"/>
            <a:pathLst>
              <a:path w="962025" h="114300">
                <a:moveTo>
                  <a:pt x="0" y="0"/>
                </a:moveTo>
                <a:lnTo>
                  <a:pt x="962025" y="0"/>
                </a:lnTo>
                <a:lnTo>
                  <a:pt x="962025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6000631" y="2754809"/>
            <a:ext cx="962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LABEL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000631" y="2907803"/>
            <a:ext cx="962025" cy="171450"/>
          </a:xfrm>
          <a:custGeom>
            <a:avLst/>
            <a:gdLst/>
            <a:ahLst/>
            <a:cxnLst/>
            <a:rect l="l" t="t" r="r" b="b"/>
            <a:pathLst>
              <a:path w="962025" h="171450">
                <a:moveTo>
                  <a:pt x="0" y="0"/>
                </a:moveTo>
                <a:lnTo>
                  <a:pt x="962025" y="0"/>
                </a:lnTo>
                <a:lnTo>
                  <a:pt x="9620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6000631" y="2907803"/>
            <a:ext cx="962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revenue</a:t>
            </a:r>
            <a:endParaRPr lang="en-US" sz="9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754809"/>
            <a:ext cx="133350" cy="13335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6000750" y="3198912"/>
            <a:ext cx="2362200" cy="4763"/>
          </a:xfrm>
          <a:custGeom>
            <a:avLst/>
            <a:gdLst/>
            <a:ahLst/>
            <a:cxnLst/>
            <a:rect l="l" t="t" r="r" b="b"/>
            <a:pathLst>
              <a:path w="2362200" h="4763">
                <a:moveTo>
                  <a:pt x="0" y="0"/>
                </a:moveTo>
                <a:lnTo>
                  <a:pt x="2362200" y="0"/>
                </a:lnTo>
                <a:lnTo>
                  <a:pt x="23622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9E5EC"/>
          </a:solidFill>
          <a:ln/>
        </p:spPr>
      </p:sp>
      <p:sp>
        <p:nvSpPr>
          <p:cNvPr id="45" name="Shape 38"/>
          <p:cNvSpPr/>
          <p:nvPr/>
        </p:nvSpPr>
        <p:spPr>
          <a:xfrm>
            <a:off x="6000601" y="3322737"/>
            <a:ext cx="1462088" cy="114300"/>
          </a:xfrm>
          <a:custGeom>
            <a:avLst/>
            <a:gdLst/>
            <a:ahLst/>
            <a:cxnLst/>
            <a:rect l="l" t="t" r="r" b="b"/>
            <a:pathLst>
              <a:path w="1462088" h="114300">
                <a:moveTo>
                  <a:pt x="0" y="0"/>
                </a:moveTo>
                <a:lnTo>
                  <a:pt x="1462088" y="0"/>
                </a:lnTo>
                <a:lnTo>
                  <a:pt x="146208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6000601" y="3322737"/>
            <a:ext cx="14620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000601" y="3475732"/>
            <a:ext cx="1462088" cy="171450"/>
          </a:xfrm>
          <a:custGeom>
            <a:avLst/>
            <a:gdLst/>
            <a:ahLst/>
            <a:cxnLst/>
            <a:rect l="l" t="t" r="r" b="b"/>
            <a:pathLst>
              <a:path w="1462088" h="171450">
                <a:moveTo>
                  <a:pt x="0" y="0"/>
                </a:moveTo>
                <a:lnTo>
                  <a:pt x="1462088" y="0"/>
                </a:lnTo>
                <a:lnTo>
                  <a:pt x="1462088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6000601" y="3475732"/>
            <a:ext cx="14620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Extracted from table</a:t>
            </a:r>
            <a:endParaRPr lang="en-US" sz="9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322737"/>
            <a:ext cx="133350" cy="133350"/>
          </a:xfrm>
          <a:prstGeom prst="rect">
            <a:avLst/>
          </a:prstGeom>
        </p:spPr>
      </p:pic>
      <p:sp>
        <p:nvSpPr>
          <p:cNvPr id="50" name="Shape 42"/>
          <p:cNvSpPr/>
          <p:nvPr/>
        </p:nvSpPr>
        <p:spPr>
          <a:xfrm>
            <a:off x="6000750" y="3766840"/>
            <a:ext cx="2362200" cy="4763"/>
          </a:xfrm>
          <a:custGeom>
            <a:avLst/>
            <a:gdLst/>
            <a:ahLst/>
            <a:cxnLst/>
            <a:rect l="l" t="t" r="r" b="b"/>
            <a:pathLst>
              <a:path w="2362200" h="4763">
                <a:moveTo>
                  <a:pt x="0" y="0"/>
                </a:moveTo>
                <a:lnTo>
                  <a:pt x="2362200" y="0"/>
                </a:lnTo>
                <a:lnTo>
                  <a:pt x="2362200" y="4763"/>
                </a:lnTo>
                <a:lnTo>
                  <a:pt x="0" y="4763"/>
                </a:lnTo>
                <a:close/>
              </a:path>
            </a:pathLst>
          </a:custGeom>
          <a:solidFill>
            <a:srgbClr val="D9E5EC"/>
          </a:solidFill>
          <a:ln/>
        </p:spPr>
      </p:sp>
      <p:sp>
        <p:nvSpPr>
          <p:cNvPr id="51" name="Shape 43"/>
          <p:cNvSpPr/>
          <p:nvPr/>
        </p:nvSpPr>
        <p:spPr>
          <a:xfrm>
            <a:off x="5999768" y="3890665"/>
            <a:ext cx="1724025" cy="114300"/>
          </a:xfrm>
          <a:custGeom>
            <a:avLst/>
            <a:gdLst/>
            <a:ahLst/>
            <a:cxnLst/>
            <a:rect l="l" t="t" r="r" b="b"/>
            <a:pathLst>
              <a:path w="1724025" h="114300">
                <a:moveTo>
                  <a:pt x="0" y="0"/>
                </a:moveTo>
                <a:lnTo>
                  <a:pt x="1724025" y="0"/>
                </a:lnTo>
                <a:lnTo>
                  <a:pt x="1724025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4"/>
          <p:cNvSpPr/>
          <p:nvPr/>
        </p:nvSpPr>
        <p:spPr>
          <a:xfrm>
            <a:off x="5999768" y="3890665"/>
            <a:ext cx="1724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YEAR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5999768" y="4043660"/>
            <a:ext cx="1724025" cy="171450"/>
          </a:xfrm>
          <a:custGeom>
            <a:avLst/>
            <a:gdLst/>
            <a:ahLst/>
            <a:cxnLst/>
            <a:rect l="l" t="t" r="r" b="b"/>
            <a:pathLst>
              <a:path w="1724025" h="171450">
                <a:moveTo>
                  <a:pt x="0" y="0"/>
                </a:moveTo>
                <a:lnTo>
                  <a:pt x="1724025" y="0"/>
                </a:lnTo>
                <a:lnTo>
                  <a:pt x="17240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6"/>
          <p:cNvSpPr/>
          <p:nvPr/>
        </p:nvSpPr>
        <p:spPr>
          <a:xfrm>
            <a:off x="5999768" y="4043660"/>
            <a:ext cx="1724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Matched to source page</a:t>
            </a:r>
            <a:endParaRPr lang="en-US" sz="9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890665"/>
            <a:ext cx="133350" cy="133350"/>
          </a:xfrm>
          <a:prstGeom prst="rect">
            <a:avLst/>
          </a:prstGeom>
        </p:spPr>
      </p:pic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875" y="4482405"/>
            <a:ext cx="128588" cy="128588"/>
          </a:xfrm>
          <a:prstGeom prst="rect">
            <a:avLst/>
          </a:prstGeom>
        </p:spPr>
      </p:pic>
      <p:sp>
        <p:nvSpPr>
          <p:cNvPr id="57" name="Shape 47"/>
          <p:cNvSpPr/>
          <p:nvPr/>
        </p:nvSpPr>
        <p:spPr>
          <a:xfrm>
            <a:off x="6053137" y="4483358"/>
            <a:ext cx="2452688" cy="280987"/>
          </a:xfrm>
          <a:custGeom>
            <a:avLst/>
            <a:gdLst/>
            <a:ahLst/>
            <a:cxnLst/>
            <a:rect l="l" t="t" r="r" b="b"/>
            <a:pathLst>
              <a:path w="2452688" h="280987">
                <a:moveTo>
                  <a:pt x="0" y="0"/>
                </a:moveTo>
                <a:lnTo>
                  <a:pt x="2452688" y="0"/>
                </a:lnTo>
                <a:lnTo>
                  <a:pt x="2452688" y="280987"/>
                </a:lnTo>
                <a:lnTo>
                  <a:pt x="0" y="280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8" name="Text 48"/>
          <p:cNvSpPr/>
          <p:nvPr/>
        </p:nvSpPr>
        <p:spPr>
          <a:xfrm>
            <a:off x="6053137" y="4483358"/>
            <a:ext cx="2452688" cy="280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Exceptions stay visible instead of silently disappearing.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514350" y="361474"/>
            <a:ext cx="8115300" cy="138113"/>
          </a:xfrm>
          <a:custGeom>
            <a:avLst/>
            <a:gdLst/>
            <a:ahLst/>
            <a:cxnLst/>
            <a:rect l="l" t="t" r="r" b="b"/>
            <a:pathLst>
              <a:path w="8115300" h="138113">
                <a:moveTo>
                  <a:pt x="0" y="0"/>
                </a:moveTo>
                <a:lnTo>
                  <a:pt x="8115300" y="0"/>
                </a:lnTo>
                <a:lnTo>
                  <a:pt x="81153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14350" y="361474"/>
            <a:ext cx="81153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FOUNDATION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14350" y="576351"/>
            <a:ext cx="8115300" cy="347663"/>
          </a:xfrm>
          <a:custGeom>
            <a:avLst/>
            <a:gdLst/>
            <a:ahLst/>
            <a:cxnLst/>
            <a:rect l="l" t="t" r="r" b="b"/>
            <a:pathLst>
              <a:path w="8115300" h="347663">
                <a:moveTo>
                  <a:pt x="0" y="0"/>
                </a:moveTo>
                <a:lnTo>
                  <a:pt x="8115300" y="0"/>
                </a:lnTo>
                <a:lnTo>
                  <a:pt x="81153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14350" y="576351"/>
            <a:ext cx="81153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Financial Data Schema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4350" y="1002208"/>
            <a:ext cx="5619750" cy="409575"/>
          </a:xfrm>
          <a:custGeom>
            <a:avLst/>
            <a:gdLst/>
            <a:ahLst/>
            <a:cxnLst/>
            <a:rect l="l" t="t" r="r" b="b"/>
            <a:pathLst>
              <a:path w="5619750" h="409575">
                <a:moveTo>
                  <a:pt x="0" y="0"/>
                </a:moveTo>
                <a:lnTo>
                  <a:pt x="5619750" y="0"/>
                </a:lnTo>
                <a:lnTo>
                  <a:pt x="5619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14350" y="1002208"/>
            <a:ext cx="5619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records keep financial values consistent, traceable, and safe to process across every report.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4350" y="2526742"/>
            <a:ext cx="419100" cy="38100"/>
          </a:xfrm>
          <a:custGeom>
            <a:avLst/>
            <a:gdLst/>
            <a:ahLst/>
            <a:cxnLst/>
            <a:rect l="l" t="t" r="r" b="b"/>
            <a:pathLst>
              <a:path w="419100" h="38100">
                <a:moveTo>
                  <a:pt x="0" y="0"/>
                </a:moveTo>
                <a:lnTo>
                  <a:pt x="419100" y="0"/>
                </a:lnTo>
                <a:lnTo>
                  <a:pt x="4191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12" name="Shape 9"/>
          <p:cNvSpPr/>
          <p:nvPr/>
        </p:nvSpPr>
        <p:spPr>
          <a:xfrm>
            <a:off x="514350" y="2764928"/>
            <a:ext cx="4572000" cy="709613"/>
          </a:xfrm>
          <a:custGeom>
            <a:avLst/>
            <a:gdLst/>
            <a:ahLst/>
            <a:cxnLst/>
            <a:rect l="l" t="t" r="r" b="b"/>
            <a:pathLst>
              <a:path w="4572000" h="709613">
                <a:moveTo>
                  <a:pt x="0" y="0"/>
                </a:moveTo>
                <a:lnTo>
                  <a:pt x="4572000" y="0"/>
                </a:lnTo>
                <a:lnTo>
                  <a:pt x="4572000" y="709613"/>
                </a:lnTo>
                <a:lnTo>
                  <a:pt x="0" y="709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14350" y="2764928"/>
            <a:ext cx="45720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299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record stores year-wise financial values under stable field names, so reports can be compared without reinterpreting the underlying data.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4350" y="3635334"/>
            <a:ext cx="4429125" cy="623888"/>
          </a:xfrm>
          <a:custGeom>
            <a:avLst/>
            <a:gdLst/>
            <a:ahLst/>
            <a:cxnLst/>
            <a:rect l="l" t="t" r="r" b="b"/>
            <a:pathLst>
              <a:path w="4429125" h="623888">
                <a:moveTo>
                  <a:pt x="0" y="0"/>
                </a:moveTo>
                <a:lnTo>
                  <a:pt x="4429125" y="0"/>
                </a:lnTo>
                <a:lnTo>
                  <a:pt x="4429125" y="623888"/>
                </a:lnTo>
                <a:lnTo>
                  <a:pt x="0" y="623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514350" y="3635334"/>
            <a:ext cx="442912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696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Units and source references travel with the values. Missing entries are handled safely during processing rather than silently changing the meaning of a report.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53150" y="1985098"/>
            <a:ext cx="2476500" cy="2814638"/>
          </a:xfrm>
          <a:custGeom>
            <a:avLst/>
            <a:gdLst/>
            <a:ahLst/>
            <a:cxnLst/>
            <a:rect l="l" t="t" r="r" b="b"/>
            <a:pathLst>
              <a:path w="2476500" h="2814638">
                <a:moveTo>
                  <a:pt x="38683" y="0"/>
                </a:moveTo>
                <a:lnTo>
                  <a:pt x="2437817" y="0"/>
                </a:lnTo>
                <a:quadBezTo>
                  <a:pt x="2476500" y="0"/>
                  <a:pt x="2476500" y="38683"/>
                </a:quadBezTo>
                <a:lnTo>
                  <a:pt x="2476500" y="2775955"/>
                </a:lnTo>
                <a:quadBezTo>
                  <a:pt x="2476500" y="2814638"/>
                  <a:pt x="2437817" y="2814638"/>
                </a:quadBezTo>
                <a:lnTo>
                  <a:pt x="38683" y="2814638"/>
                </a:lnTo>
                <a:quadBezTo>
                  <a:pt x="0" y="2814638"/>
                  <a:pt x="0" y="2775955"/>
                </a:quadBezTo>
                <a:lnTo>
                  <a:pt x="0" y="38683"/>
                </a:lnTo>
                <a:quadBezTo>
                  <a:pt x="0" y="0"/>
                  <a:pt x="38683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175" y="2851131"/>
            <a:ext cx="161925" cy="16192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91805" y="2841605"/>
            <a:ext cx="1357313" cy="180975"/>
          </a:xfrm>
          <a:custGeom>
            <a:avLst/>
            <a:gdLst/>
            <a:ahLst/>
            <a:cxnLst/>
            <a:rect l="l" t="t" r="r" b="b"/>
            <a:pathLst>
              <a:path w="1357313" h="180975">
                <a:moveTo>
                  <a:pt x="0" y="0"/>
                </a:moveTo>
                <a:lnTo>
                  <a:pt x="1357313" y="0"/>
                </a:lnTo>
                <a:lnTo>
                  <a:pt x="135731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91805" y="2841605"/>
            <a:ext cx="1357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 contract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3199743"/>
            <a:ext cx="123825" cy="12382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553587" y="3185695"/>
            <a:ext cx="1433513" cy="166688"/>
          </a:xfrm>
          <a:custGeom>
            <a:avLst/>
            <a:gdLst/>
            <a:ahLst/>
            <a:cxnLst/>
            <a:rect l="l" t="t" r="r" b="b"/>
            <a:pathLst>
              <a:path w="1433513" h="166688">
                <a:moveTo>
                  <a:pt x="0" y="0"/>
                </a:moveTo>
                <a:lnTo>
                  <a:pt x="1433513" y="0"/>
                </a:lnTo>
                <a:lnTo>
                  <a:pt x="1433513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553587" y="3185695"/>
            <a:ext cx="1433513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 field names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3490733"/>
            <a:ext cx="123825" cy="123825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553319" y="3476683"/>
            <a:ext cx="1781175" cy="166688"/>
          </a:xfrm>
          <a:custGeom>
            <a:avLst/>
            <a:gdLst/>
            <a:ahLst/>
            <a:cxnLst/>
            <a:rect l="l" t="t" r="r" b="b"/>
            <a:pathLst>
              <a:path w="1781175" h="166688">
                <a:moveTo>
                  <a:pt x="0" y="0"/>
                </a:moveTo>
                <a:lnTo>
                  <a:pt x="1781175" y="0"/>
                </a:lnTo>
                <a:lnTo>
                  <a:pt x="17811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6553319" y="3476683"/>
            <a:ext cx="17811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Units and sources preserved</a:t>
            </a:r>
            <a:endParaRPr lang="en-US" sz="9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3781723"/>
            <a:ext cx="123825" cy="123825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553498" y="3767673"/>
            <a:ext cx="1857375" cy="166688"/>
          </a:xfrm>
          <a:custGeom>
            <a:avLst/>
            <a:gdLst/>
            <a:ahLst/>
            <a:cxnLst/>
            <a:rect l="l" t="t" r="r" b="b"/>
            <a:pathLst>
              <a:path w="1857375" h="166688">
                <a:moveTo>
                  <a:pt x="0" y="0"/>
                </a:moveTo>
                <a:lnTo>
                  <a:pt x="1857375" y="0"/>
                </a:lnTo>
                <a:lnTo>
                  <a:pt x="18573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6553498" y="3767673"/>
            <a:ext cx="18573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 handled safely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8150" y="361474"/>
            <a:ext cx="8267700" cy="138113"/>
          </a:xfrm>
          <a:custGeom>
            <a:avLst/>
            <a:gdLst/>
            <a:ahLst/>
            <a:cxnLst/>
            <a:rect l="l" t="t" r="r" b="b"/>
            <a:pathLst>
              <a:path w="8267700" h="138113">
                <a:moveTo>
                  <a:pt x="0" y="0"/>
                </a:moveTo>
                <a:lnTo>
                  <a:pt x="8267700" y="0"/>
                </a:lnTo>
                <a:lnTo>
                  <a:pt x="82677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8150" y="361474"/>
            <a:ext cx="82677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 LAYER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150" y="566826"/>
            <a:ext cx="8267700" cy="347663"/>
          </a:xfrm>
          <a:custGeom>
            <a:avLst/>
            <a:gdLst/>
            <a:ahLst/>
            <a:cxnLst/>
            <a:rect l="l" t="t" r="r" b="b"/>
            <a:pathLst>
              <a:path w="8267700" h="347663">
                <a:moveTo>
                  <a:pt x="0" y="0"/>
                </a:moveTo>
                <a:lnTo>
                  <a:pt x="8267700" y="0"/>
                </a:lnTo>
                <a:lnTo>
                  <a:pt x="82677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8150" y="566826"/>
            <a:ext cx="82677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Programmatic Financial Calculation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150" y="983158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8150" y="983158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computes ratios from validated inputs — the LLM does not perform the arithmetic.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9311" y="1937473"/>
            <a:ext cx="5524500" cy="2881313"/>
          </a:xfrm>
          <a:custGeom>
            <a:avLst/>
            <a:gdLst/>
            <a:ahLst/>
            <a:cxnLst/>
            <a:rect l="l" t="t" r="r" b="b"/>
            <a:pathLst>
              <a:path w="5524500" h="2881313">
                <a:moveTo>
                  <a:pt x="39301" y="0"/>
                </a:moveTo>
                <a:lnTo>
                  <a:pt x="5485199" y="0"/>
                </a:lnTo>
                <a:quadBezTo>
                  <a:pt x="5524500" y="0"/>
                  <a:pt x="5524500" y="39301"/>
                </a:quadBezTo>
                <a:lnTo>
                  <a:pt x="5524500" y="2842011"/>
                </a:lnTo>
                <a:quadBezTo>
                  <a:pt x="5524500" y="2881313"/>
                  <a:pt x="5485199" y="2881313"/>
                </a:quadBezTo>
                <a:lnTo>
                  <a:pt x="39301" y="2881313"/>
                </a:lnTo>
                <a:quadBezTo>
                  <a:pt x="0" y="2881313"/>
                  <a:pt x="0" y="2842011"/>
                </a:quadBezTo>
                <a:lnTo>
                  <a:pt x="0" y="39301"/>
                </a:lnTo>
                <a:quadBezTo>
                  <a:pt x="0" y="0"/>
                  <a:pt x="39301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12" name="Shape 9"/>
          <p:cNvSpPr/>
          <p:nvPr/>
        </p:nvSpPr>
        <p:spPr>
          <a:xfrm>
            <a:off x="715387" y="2194171"/>
            <a:ext cx="1809750" cy="104775"/>
          </a:xfrm>
          <a:custGeom>
            <a:avLst/>
            <a:gdLst/>
            <a:ahLst/>
            <a:cxnLst/>
            <a:rect l="l" t="t" r="r" b="b"/>
            <a:pathLst>
              <a:path w="1809750" h="104775">
                <a:moveTo>
                  <a:pt x="0" y="0"/>
                </a:moveTo>
                <a:lnTo>
                  <a:pt x="1809750" y="0"/>
                </a:lnTo>
                <a:lnTo>
                  <a:pt x="180975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15387" y="2194171"/>
            <a:ext cx="1809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 FORMULAS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15387" y="2374492"/>
            <a:ext cx="1809750" cy="195263"/>
          </a:xfrm>
          <a:custGeom>
            <a:avLst/>
            <a:gdLst/>
            <a:ahLst/>
            <a:cxnLst/>
            <a:rect l="l" t="t" r="r" b="b"/>
            <a:pathLst>
              <a:path w="1809750" h="195263">
                <a:moveTo>
                  <a:pt x="0" y="0"/>
                </a:moveTo>
                <a:lnTo>
                  <a:pt x="1809750" y="0"/>
                </a:lnTo>
                <a:lnTo>
                  <a:pt x="18097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15387" y="2374492"/>
            <a:ext cx="18097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Inputs in. Ratios out.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722" y="2193785"/>
            <a:ext cx="200025" cy="20002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5536" y="2768738"/>
            <a:ext cx="4972050" cy="457200"/>
          </a:xfrm>
          <a:custGeom>
            <a:avLst/>
            <a:gdLst/>
            <a:ahLst/>
            <a:cxnLst/>
            <a:rect l="l" t="t" r="r" b="b"/>
            <a:pathLst>
              <a:path w="4972050" h="457200">
                <a:moveTo>
                  <a:pt x="38098" y="0"/>
                </a:moveTo>
                <a:lnTo>
                  <a:pt x="4933952" y="0"/>
                </a:lnTo>
                <a:quadBezTo>
                  <a:pt x="4972050" y="0"/>
                  <a:pt x="4972050" y="38098"/>
                </a:quadBezTo>
                <a:lnTo>
                  <a:pt x="4972050" y="419102"/>
                </a:lnTo>
                <a:quadBezTo>
                  <a:pt x="4972050" y="457200"/>
                  <a:pt x="4933952" y="457200"/>
                </a:quadBezTo>
                <a:lnTo>
                  <a:pt x="38098" y="457200"/>
                </a:lnTo>
                <a:quadBezTo>
                  <a:pt x="0" y="457200"/>
                  <a:pt x="0" y="419102"/>
                </a:quadBezTo>
                <a:lnTo>
                  <a:pt x="0" y="38098"/>
                </a:lnTo>
                <a:quadBezTo>
                  <a:pt x="0" y="0"/>
                  <a:pt x="38098" y="0"/>
                </a:quadBezTo>
                <a:close/>
              </a:path>
            </a:pathLst>
          </a:custGeom>
          <a:solidFill>
            <a:srgbClr val="173454"/>
          </a:solidFill>
          <a:ln/>
        </p:spPr>
      </p:sp>
      <p:sp>
        <p:nvSpPr>
          <p:cNvPr id="18" name="Shape 14"/>
          <p:cNvSpPr/>
          <p:nvPr/>
        </p:nvSpPr>
        <p:spPr>
          <a:xfrm>
            <a:off x="866775" y="2930663"/>
            <a:ext cx="1000125" cy="133350"/>
          </a:xfrm>
          <a:custGeom>
            <a:avLst/>
            <a:gdLst/>
            <a:ahLst/>
            <a:cxnLst/>
            <a:rect l="l" t="t" r="r" b="b"/>
            <a:pathLst>
              <a:path w="1000125" h="133350">
                <a:moveTo>
                  <a:pt x="0" y="0"/>
                </a:moveTo>
                <a:lnTo>
                  <a:pt x="1000125" y="0"/>
                </a:lnTo>
                <a:lnTo>
                  <a:pt x="10001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866775" y="2930663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Ratio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009775" y="2897327"/>
            <a:ext cx="9525" cy="200025"/>
          </a:xfrm>
          <a:custGeom>
            <a:avLst/>
            <a:gdLst/>
            <a:ahLst/>
            <a:cxnLst/>
            <a:rect l="l" t="t" r="r" b="b"/>
            <a:pathLst>
              <a:path w="9525" h="200025">
                <a:moveTo>
                  <a:pt x="0" y="0"/>
                </a:moveTo>
                <a:lnTo>
                  <a:pt x="9525" y="0"/>
                </a:lnTo>
                <a:lnTo>
                  <a:pt x="9525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21" name="Shape 17"/>
          <p:cNvSpPr/>
          <p:nvPr/>
        </p:nvSpPr>
        <p:spPr>
          <a:xfrm>
            <a:off x="2161877" y="2913995"/>
            <a:ext cx="2419350" cy="166688"/>
          </a:xfrm>
          <a:custGeom>
            <a:avLst/>
            <a:gdLst/>
            <a:ahLst/>
            <a:cxnLst/>
            <a:rect l="l" t="t" r="r" b="b"/>
            <a:pathLst>
              <a:path w="2419350" h="166688">
                <a:moveTo>
                  <a:pt x="0" y="0"/>
                </a:moveTo>
                <a:lnTo>
                  <a:pt x="2419350" y="0"/>
                </a:lnTo>
                <a:lnTo>
                  <a:pt x="241935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2161877" y="2913995"/>
            <a:ext cx="24193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Assets </a:t>
            </a: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÷</a:t>
            </a:r>
            <a:r>
              <a:rPr lang="en-US" sz="1001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Current Liabilities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715536" y="3340238"/>
            <a:ext cx="4972050" cy="457200"/>
          </a:xfrm>
          <a:custGeom>
            <a:avLst/>
            <a:gdLst/>
            <a:ahLst/>
            <a:cxnLst/>
            <a:rect l="l" t="t" r="r" b="b"/>
            <a:pathLst>
              <a:path w="4972050" h="457200">
                <a:moveTo>
                  <a:pt x="38098" y="0"/>
                </a:moveTo>
                <a:lnTo>
                  <a:pt x="4933952" y="0"/>
                </a:lnTo>
                <a:quadBezTo>
                  <a:pt x="4972050" y="0"/>
                  <a:pt x="4972050" y="38098"/>
                </a:quadBezTo>
                <a:lnTo>
                  <a:pt x="4972050" y="419102"/>
                </a:lnTo>
                <a:quadBezTo>
                  <a:pt x="4972050" y="457200"/>
                  <a:pt x="4933952" y="457200"/>
                </a:quadBezTo>
                <a:lnTo>
                  <a:pt x="38098" y="457200"/>
                </a:lnTo>
                <a:quadBezTo>
                  <a:pt x="0" y="457200"/>
                  <a:pt x="0" y="419102"/>
                </a:quadBezTo>
                <a:lnTo>
                  <a:pt x="0" y="38098"/>
                </a:lnTo>
                <a:quadBezTo>
                  <a:pt x="0" y="0"/>
                  <a:pt x="38098" y="0"/>
                </a:quadBezTo>
                <a:close/>
              </a:path>
            </a:pathLst>
          </a:custGeom>
          <a:solidFill>
            <a:srgbClr val="173454"/>
          </a:solidFill>
          <a:ln/>
        </p:spPr>
      </p:sp>
      <p:sp>
        <p:nvSpPr>
          <p:cNvPr id="24" name="Shape 20"/>
          <p:cNvSpPr/>
          <p:nvPr/>
        </p:nvSpPr>
        <p:spPr>
          <a:xfrm>
            <a:off x="866775" y="3502163"/>
            <a:ext cx="1000125" cy="133350"/>
          </a:xfrm>
          <a:custGeom>
            <a:avLst/>
            <a:gdLst/>
            <a:ahLst/>
            <a:cxnLst/>
            <a:rect l="l" t="t" r="r" b="b"/>
            <a:pathLst>
              <a:path w="1000125" h="133350">
                <a:moveTo>
                  <a:pt x="0" y="0"/>
                </a:moveTo>
                <a:lnTo>
                  <a:pt x="1000125" y="0"/>
                </a:lnTo>
                <a:lnTo>
                  <a:pt x="10001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866775" y="3502163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009775" y="3468827"/>
            <a:ext cx="9525" cy="200025"/>
          </a:xfrm>
          <a:custGeom>
            <a:avLst/>
            <a:gdLst/>
            <a:ahLst/>
            <a:cxnLst/>
            <a:rect l="l" t="t" r="r" b="b"/>
            <a:pathLst>
              <a:path w="9525" h="200025">
                <a:moveTo>
                  <a:pt x="0" y="0"/>
                </a:moveTo>
                <a:lnTo>
                  <a:pt x="9525" y="0"/>
                </a:lnTo>
                <a:lnTo>
                  <a:pt x="9525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27" name="Shape 23"/>
          <p:cNvSpPr/>
          <p:nvPr/>
        </p:nvSpPr>
        <p:spPr>
          <a:xfrm>
            <a:off x="2161431" y="3485495"/>
            <a:ext cx="2419350" cy="166688"/>
          </a:xfrm>
          <a:custGeom>
            <a:avLst/>
            <a:gdLst/>
            <a:ahLst/>
            <a:cxnLst/>
            <a:rect l="l" t="t" r="r" b="b"/>
            <a:pathLst>
              <a:path w="2419350" h="166688">
                <a:moveTo>
                  <a:pt x="0" y="0"/>
                </a:moveTo>
                <a:lnTo>
                  <a:pt x="2419350" y="0"/>
                </a:lnTo>
                <a:lnTo>
                  <a:pt x="241935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2161431" y="3485495"/>
            <a:ext cx="24193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 Income </a:t>
            </a: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÷</a:t>
            </a:r>
            <a:r>
              <a:rPr lang="en-US" sz="1001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Shareholders’ Equity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715536" y="3911738"/>
            <a:ext cx="4972050" cy="457200"/>
          </a:xfrm>
          <a:custGeom>
            <a:avLst/>
            <a:gdLst/>
            <a:ahLst/>
            <a:cxnLst/>
            <a:rect l="l" t="t" r="r" b="b"/>
            <a:pathLst>
              <a:path w="4972050" h="457200">
                <a:moveTo>
                  <a:pt x="38098" y="0"/>
                </a:moveTo>
                <a:lnTo>
                  <a:pt x="4933952" y="0"/>
                </a:lnTo>
                <a:quadBezTo>
                  <a:pt x="4972050" y="0"/>
                  <a:pt x="4972050" y="38098"/>
                </a:quadBezTo>
                <a:lnTo>
                  <a:pt x="4972050" y="419102"/>
                </a:lnTo>
                <a:quadBezTo>
                  <a:pt x="4972050" y="457200"/>
                  <a:pt x="4933952" y="457200"/>
                </a:quadBezTo>
                <a:lnTo>
                  <a:pt x="38098" y="457200"/>
                </a:lnTo>
                <a:quadBezTo>
                  <a:pt x="0" y="457200"/>
                  <a:pt x="0" y="419102"/>
                </a:quadBezTo>
                <a:lnTo>
                  <a:pt x="0" y="38098"/>
                </a:lnTo>
                <a:quadBezTo>
                  <a:pt x="0" y="0"/>
                  <a:pt x="38098" y="0"/>
                </a:quadBezTo>
                <a:close/>
              </a:path>
            </a:pathLst>
          </a:custGeom>
          <a:solidFill>
            <a:srgbClr val="173454"/>
          </a:solidFill>
          <a:ln/>
        </p:spPr>
      </p:sp>
      <p:sp>
        <p:nvSpPr>
          <p:cNvPr id="30" name="Shape 26"/>
          <p:cNvSpPr/>
          <p:nvPr/>
        </p:nvSpPr>
        <p:spPr>
          <a:xfrm>
            <a:off x="866775" y="4073663"/>
            <a:ext cx="1000125" cy="133350"/>
          </a:xfrm>
          <a:custGeom>
            <a:avLst/>
            <a:gdLst/>
            <a:ahLst/>
            <a:cxnLst/>
            <a:rect l="l" t="t" r="r" b="b"/>
            <a:pathLst>
              <a:path w="1000125" h="133350">
                <a:moveTo>
                  <a:pt x="0" y="0"/>
                </a:moveTo>
                <a:lnTo>
                  <a:pt x="1000125" y="0"/>
                </a:lnTo>
                <a:lnTo>
                  <a:pt x="1000125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866775" y="4073663"/>
            <a:ext cx="100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Debt-to-Equity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009775" y="4040327"/>
            <a:ext cx="9525" cy="200025"/>
          </a:xfrm>
          <a:custGeom>
            <a:avLst/>
            <a:gdLst/>
            <a:ahLst/>
            <a:cxnLst/>
            <a:rect l="l" t="t" r="r" b="b"/>
            <a:pathLst>
              <a:path w="9525" h="200025">
                <a:moveTo>
                  <a:pt x="0" y="0"/>
                </a:moveTo>
                <a:lnTo>
                  <a:pt x="9525" y="0"/>
                </a:lnTo>
                <a:lnTo>
                  <a:pt x="9525" y="200025"/>
                </a:lnTo>
                <a:lnTo>
                  <a:pt x="0" y="200025"/>
                </a:ln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33" name="Shape 29"/>
          <p:cNvSpPr/>
          <p:nvPr/>
        </p:nvSpPr>
        <p:spPr>
          <a:xfrm>
            <a:off x="2161074" y="4056995"/>
            <a:ext cx="2324100" cy="166688"/>
          </a:xfrm>
          <a:custGeom>
            <a:avLst/>
            <a:gdLst/>
            <a:ahLst/>
            <a:cxnLst/>
            <a:rect l="l" t="t" r="r" b="b"/>
            <a:pathLst>
              <a:path w="2324100" h="166688">
                <a:moveTo>
                  <a:pt x="0" y="0"/>
                </a:moveTo>
                <a:lnTo>
                  <a:pt x="2324100" y="0"/>
                </a:lnTo>
                <a:lnTo>
                  <a:pt x="23241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2161074" y="4056995"/>
            <a:ext cx="23241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Debt </a:t>
            </a: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÷</a:t>
            </a:r>
            <a:r>
              <a:rPr lang="en-US" sz="1001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Shareholders’ Equity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15536" y="4569410"/>
            <a:ext cx="4972050" cy="252412"/>
          </a:xfrm>
          <a:custGeom>
            <a:avLst/>
            <a:gdLst/>
            <a:ahLst/>
            <a:cxnLst/>
            <a:rect l="l" t="t" r="r" b="b"/>
            <a:pathLst>
              <a:path w="4972050" h="252412">
                <a:moveTo>
                  <a:pt x="0" y="0"/>
                </a:moveTo>
                <a:lnTo>
                  <a:pt x="4972050" y="0"/>
                </a:lnTo>
                <a:lnTo>
                  <a:pt x="4972050" y="252412"/>
                </a:lnTo>
                <a:lnTo>
                  <a:pt x="0" y="2524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4692729"/>
            <a:ext cx="123825" cy="123825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914876" y="4687995"/>
            <a:ext cx="2767013" cy="133350"/>
          </a:xfrm>
          <a:custGeom>
            <a:avLst/>
            <a:gdLst/>
            <a:ahLst/>
            <a:cxnLst/>
            <a:rect l="l" t="t" r="r" b="b"/>
            <a:pathLst>
              <a:path w="2767013" h="133350">
                <a:moveTo>
                  <a:pt x="0" y="0"/>
                </a:moveTo>
                <a:lnTo>
                  <a:pt x="2767013" y="0"/>
                </a:lnTo>
                <a:lnTo>
                  <a:pt x="2767013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914876" y="4687995"/>
            <a:ext cx="27670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 inputs keep each calculation reproducible.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192380" y="1937473"/>
            <a:ext cx="2514600" cy="2881313"/>
          </a:xfrm>
          <a:custGeom>
            <a:avLst/>
            <a:gdLst/>
            <a:ahLst/>
            <a:cxnLst/>
            <a:rect l="l" t="t" r="r" b="b"/>
            <a:pathLst>
              <a:path w="2514600" h="2881313">
                <a:moveTo>
                  <a:pt x="45036" y="0"/>
                </a:moveTo>
                <a:lnTo>
                  <a:pt x="2469564" y="0"/>
                </a:lnTo>
                <a:quadBezTo>
                  <a:pt x="2514600" y="0"/>
                  <a:pt x="2514600" y="45036"/>
                </a:quadBezTo>
                <a:lnTo>
                  <a:pt x="2514600" y="2836276"/>
                </a:lnTo>
                <a:quadBezTo>
                  <a:pt x="2514600" y="2881313"/>
                  <a:pt x="2469564" y="2881313"/>
                </a:quadBezTo>
                <a:lnTo>
                  <a:pt x="45036" y="2881313"/>
                </a:lnTo>
                <a:quadBezTo>
                  <a:pt x="0" y="2881313"/>
                  <a:pt x="0" y="2836276"/>
                </a:quadBezTo>
                <a:lnTo>
                  <a:pt x="0" y="45036"/>
                </a:lnTo>
                <a:quadBezTo>
                  <a:pt x="0" y="0"/>
                  <a:pt x="45036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122" y="2169972"/>
            <a:ext cx="161925" cy="161925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6642049" y="2165210"/>
            <a:ext cx="1438275" cy="171450"/>
          </a:xfrm>
          <a:custGeom>
            <a:avLst/>
            <a:gdLst/>
            <a:ahLst/>
            <a:cxnLst/>
            <a:rect l="l" t="t" r="r" b="b"/>
            <a:pathLst>
              <a:path w="1438275" h="171450">
                <a:moveTo>
                  <a:pt x="0" y="0"/>
                </a:moveTo>
                <a:lnTo>
                  <a:pt x="1438275" y="0"/>
                </a:lnTo>
                <a:lnTo>
                  <a:pt x="143827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6642049" y="2165210"/>
            <a:ext cx="1438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957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Python owns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402198" y="2470487"/>
            <a:ext cx="123825" cy="147637"/>
          </a:xfrm>
          <a:custGeom>
            <a:avLst/>
            <a:gdLst/>
            <a:ahLst/>
            <a:cxnLst/>
            <a:rect l="l" t="t" r="r" b="b"/>
            <a:pathLst>
              <a:path w="123825" h="147637">
                <a:moveTo>
                  <a:pt x="0" y="0"/>
                </a:moveTo>
                <a:lnTo>
                  <a:pt x="123825" y="0"/>
                </a:lnTo>
                <a:lnTo>
                  <a:pt x="12382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6402198" y="2470487"/>
            <a:ext cx="12382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6600377" y="2470249"/>
            <a:ext cx="1819275" cy="166688"/>
          </a:xfrm>
          <a:custGeom>
            <a:avLst/>
            <a:gdLst/>
            <a:ahLst/>
            <a:cxnLst/>
            <a:rect l="l" t="t" r="r" b="b"/>
            <a:pathLst>
              <a:path w="1819275" h="166688">
                <a:moveTo>
                  <a:pt x="0" y="0"/>
                </a:moveTo>
                <a:lnTo>
                  <a:pt x="1819275" y="0"/>
                </a:lnTo>
                <a:lnTo>
                  <a:pt x="18192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6600377" y="2470249"/>
            <a:ext cx="18192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Applies the defined formulas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6403658" y="2757190"/>
            <a:ext cx="138113" cy="295275"/>
          </a:xfrm>
          <a:custGeom>
            <a:avLst/>
            <a:gdLst/>
            <a:ahLst/>
            <a:cxnLst/>
            <a:rect l="l" t="t" r="r" b="b"/>
            <a:pathLst>
              <a:path w="138113" h="295275">
                <a:moveTo>
                  <a:pt x="0" y="0"/>
                </a:moveTo>
                <a:lnTo>
                  <a:pt x="138113" y="0"/>
                </a:lnTo>
                <a:lnTo>
                  <a:pt x="138113" y="295275"/>
                </a:lnTo>
                <a:lnTo>
                  <a:pt x="0" y="295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6403658" y="2757190"/>
            <a:ext cx="138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619157" y="2756714"/>
            <a:ext cx="1876425" cy="333375"/>
          </a:xfrm>
          <a:custGeom>
            <a:avLst/>
            <a:gdLst/>
            <a:ahLst/>
            <a:cxnLst/>
            <a:rect l="l" t="t" r="r" b="b"/>
            <a:pathLst>
              <a:path w="1876425" h="333375">
                <a:moveTo>
                  <a:pt x="0" y="0"/>
                </a:moveTo>
                <a:lnTo>
                  <a:pt x="1876425" y="0"/>
                </a:lnTo>
                <a:lnTo>
                  <a:pt x="187642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6619157" y="2756714"/>
            <a:ext cx="1876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Returns consistent ratio results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6403359" y="3210580"/>
            <a:ext cx="138113" cy="295275"/>
          </a:xfrm>
          <a:custGeom>
            <a:avLst/>
            <a:gdLst/>
            <a:ahLst/>
            <a:cxnLst/>
            <a:rect l="l" t="t" r="r" b="b"/>
            <a:pathLst>
              <a:path w="138113" h="295275">
                <a:moveTo>
                  <a:pt x="0" y="0"/>
                </a:moveTo>
                <a:lnTo>
                  <a:pt x="138113" y="0"/>
                </a:lnTo>
                <a:lnTo>
                  <a:pt x="138113" y="295275"/>
                </a:lnTo>
                <a:lnTo>
                  <a:pt x="0" y="295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6"/>
          <p:cNvSpPr/>
          <p:nvPr/>
        </p:nvSpPr>
        <p:spPr>
          <a:xfrm>
            <a:off x="6403359" y="3210580"/>
            <a:ext cx="13811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6618860" y="3210104"/>
            <a:ext cx="1876425" cy="333375"/>
          </a:xfrm>
          <a:custGeom>
            <a:avLst/>
            <a:gdLst/>
            <a:ahLst/>
            <a:cxnLst/>
            <a:rect l="l" t="t" r="r" b="b"/>
            <a:pathLst>
              <a:path w="1876425" h="333375">
                <a:moveTo>
                  <a:pt x="0" y="0"/>
                </a:moveTo>
                <a:lnTo>
                  <a:pt x="1876425" y="0"/>
                </a:lnTo>
                <a:lnTo>
                  <a:pt x="187642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8"/>
          <p:cNvSpPr/>
          <p:nvPr/>
        </p:nvSpPr>
        <p:spPr>
          <a:xfrm>
            <a:off x="6618860" y="3210104"/>
            <a:ext cx="1876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Stores results for trend analysis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401930" y="3620452"/>
            <a:ext cx="2095500" cy="971550"/>
          </a:xfrm>
          <a:custGeom>
            <a:avLst/>
            <a:gdLst/>
            <a:ahLst/>
            <a:cxnLst/>
            <a:rect l="l" t="t" r="r" b="b"/>
            <a:pathLst>
              <a:path w="2095500" h="971550">
                <a:moveTo>
                  <a:pt x="80678" y="0"/>
                </a:moveTo>
                <a:lnTo>
                  <a:pt x="2014822" y="0"/>
                </a:lnTo>
                <a:quadBezTo>
                  <a:pt x="2095500" y="0"/>
                  <a:pt x="2095500" y="80678"/>
                </a:quadBezTo>
                <a:lnTo>
                  <a:pt x="2095500" y="890872"/>
                </a:lnTo>
                <a:quadBezTo>
                  <a:pt x="2095500" y="971550"/>
                  <a:pt x="2014822" y="971550"/>
                </a:quadBezTo>
                <a:lnTo>
                  <a:pt x="80678" y="971550"/>
                </a:lnTo>
                <a:quadBezTo>
                  <a:pt x="0" y="971550"/>
                  <a:pt x="0" y="890872"/>
                </a:quadBezTo>
                <a:lnTo>
                  <a:pt x="0" y="80678"/>
                </a:lnTo>
                <a:quadBezTo>
                  <a:pt x="0" y="0"/>
                  <a:pt x="80678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Shape 50"/>
          <p:cNvSpPr/>
          <p:nvPr/>
        </p:nvSpPr>
        <p:spPr>
          <a:xfrm>
            <a:off x="6544805" y="3755708"/>
            <a:ext cx="1809750" cy="123825"/>
          </a:xfrm>
          <a:custGeom>
            <a:avLst/>
            <a:gdLst/>
            <a:ahLst/>
            <a:cxnLst/>
            <a:rect l="l" t="t" r="r" b="b"/>
            <a:pathLst>
              <a:path w="1809750" h="123825">
                <a:moveTo>
                  <a:pt x="0" y="0"/>
                </a:moveTo>
                <a:lnTo>
                  <a:pt x="1809750" y="0"/>
                </a:lnTo>
                <a:lnTo>
                  <a:pt x="1809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7" name="Text 51"/>
          <p:cNvSpPr/>
          <p:nvPr/>
        </p:nvSpPr>
        <p:spPr>
          <a:xfrm>
            <a:off x="6544805" y="3755708"/>
            <a:ext cx="1809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SEPARATION OF ROLES</a:t>
            </a:r>
            <a:endParaRPr lang="en-US" sz="900" dirty="0"/>
          </a:p>
        </p:txBody>
      </p:sp>
      <p:sp>
        <p:nvSpPr>
          <p:cNvPr id="58" name="Shape 52"/>
          <p:cNvSpPr/>
          <p:nvPr/>
        </p:nvSpPr>
        <p:spPr>
          <a:xfrm>
            <a:off x="6544805" y="3938111"/>
            <a:ext cx="1809750" cy="519112"/>
          </a:xfrm>
          <a:custGeom>
            <a:avLst/>
            <a:gdLst/>
            <a:ahLst/>
            <a:cxnLst/>
            <a:rect l="l" t="t" r="r" b="b"/>
            <a:pathLst>
              <a:path w="1809750" h="519112">
                <a:moveTo>
                  <a:pt x="0" y="0"/>
                </a:moveTo>
                <a:lnTo>
                  <a:pt x="1809750" y="0"/>
                </a:lnTo>
                <a:lnTo>
                  <a:pt x="1809750" y="519112"/>
                </a:lnTo>
                <a:lnTo>
                  <a:pt x="0" y="5191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9" name="Text 53"/>
          <p:cNvSpPr/>
          <p:nvPr/>
        </p:nvSpPr>
        <p:spPr>
          <a:xfrm>
            <a:off x="6544805" y="3938111"/>
            <a:ext cx="1809750" cy="51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LLM explains the result. Python calculates it.</a:t>
            </a:r>
            <a:endParaRPr lang="en-US" sz="90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36" y="4569410"/>
            <a:ext cx="4972050" cy="252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598" y="378143"/>
            <a:ext cx="123825" cy="1238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26098" y="367665"/>
            <a:ext cx="1282302" cy="140970"/>
          </a:xfrm>
          <a:custGeom>
            <a:avLst/>
            <a:gdLst/>
            <a:ahLst/>
            <a:cxnLst/>
            <a:rect l="l" t="t" r="r" b="b"/>
            <a:pathLst>
              <a:path w="1282302" h="140970">
                <a:moveTo>
                  <a:pt x="0" y="0"/>
                </a:moveTo>
                <a:lnTo>
                  <a:pt x="1282302" y="0"/>
                </a:lnTo>
                <a:lnTo>
                  <a:pt x="1282302" y="140970"/>
                </a:lnTo>
                <a:lnTo>
                  <a:pt x="0" y="14097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026098" y="367665"/>
            <a:ext cx="1282302" cy="14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Grounding rule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040733" y="595313"/>
            <a:ext cx="5062538" cy="333375"/>
          </a:xfrm>
          <a:custGeom>
            <a:avLst/>
            <a:gdLst/>
            <a:ahLst/>
            <a:cxnLst/>
            <a:rect l="l" t="t" r="r" b="b"/>
            <a:pathLst>
              <a:path w="5062538" h="333375">
                <a:moveTo>
                  <a:pt x="0" y="0"/>
                </a:moveTo>
                <a:lnTo>
                  <a:pt x="5062538" y="0"/>
                </a:lnTo>
                <a:lnTo>
                  <a:pt x="506253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2040733" y="595313"/>
            <a:ext cx="506253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284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Prompt Design &amp; Grounding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352925" y="2035612"/>
            <a:ext cx="438150" cy="33337"/>
          </a:xfrm>
          <a:custGeom>
            <a:avLst/>
            <a:gdLst/>
            <a:ahLst/>
            <a:cxnLst/>
            <a:rect l="l" t="t" r="r" b="b"/>
            <a:pathLst>
              <a:path w="438150" h="33337">
                <a:moveTo>
                  <a:pt x="16669" y="0"/>
                </a:moveTo>
                <a:lnTo>
                  <a:pt x="421481" y="0"/>
                </a:lnTo>
                <a:quadBezTo>
                  <a:pt x="438150" y="0"/>
                  <a:pt x="438150" y="16669"/>
                </a:quadBezTo>
                <a:lnTo>
                  <a:pt x="438150" y="16669"/>
                </a:lnTo>
                <a:quadBezTo>
                  <a:pt x="438150" y="33337"/>
                  <a:pt x="421481" y="33337"/>
                </a:quadBezTo>
                <a:lnTo>
                  <a:pt x="16669" y="33337"/>
                </a:lnTo>
                <a:quadBezTo>
                  <a:pt x="0" y="33337"/>
                  <a:pt x="0" y="16669"/>
                </a:quadBezTo>
                <a:lnTo>
                  <a:pt x="0" y="16669"/>
                </a:lnTo>
                <a:quadBezTo>
                  <a:pt x="0" y="0"/>
                  <a:pt x="16669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11" name="Shape 7"/>
          <p:cNvSpPr/>
          <p:nvPr/>
        </p:nvSpPr>
        <p:spPr>
          <a:xfrm>
            <a:off x="1524000" y="2268974"/>
            <a:ext cx="6096000" cy="619125"/>
          </a:xfrm>
          <a:custGeom>
            <a:avLst/>
            <a:gdLst/>
            <a:ahLst/>
            <a:cxnLst/>
            <a:rect l="l" t="t" r="r" b="b"/>
            <a:pathLst>
              <a:path w="6096000" h="619125">
                <a:moveTo>
                  <a:pt x="0" y="0"/>
                </a:moveTo>
                <a:lnTo>
                  <a:pt x="6096000" y="0"/>
                </a:lnTo>
                <a:lnTo>
                  <a:pt x="6096000" y="619125"/>
                </a:lnTo>
                <a:lnTo>
                  <a:pt x="0" y="6191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524000" y="2268974"/>
            <a:ext cx="6096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9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“The model should summarize supplied financial facts—not invent the story around them.”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916999" y="3016091"/>
            <a:ext cx="3309938" cy="161925"/>
          </a:xfrm>
          <a:custGeom>
            <a:avLst/>
            <a:gdLst/>
            <a:ahLst/>
            <a:cxnLst/>
            <a:rect l="l" t="t" r="r" b="b"/>
            <a:pathLst>
              <a:path w="3309938" h="161925">
                <a:moveTo>
                  <a:pt x="0" y="0"/>
                </a:moveTo>
                <a:lnTo>
                  <a:pt x="3309938" y="0"/>
                </a:lnTo>
                <a:lnTo>
                  <a:pt x="330993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916999" y="3016091"/>
            <a:ext cx="33099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principle · Evidence first, interpretation second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681162" y="3490794"/>
            <a:ext cx="1857375" cy="747712"/>
          </a:xfrm>
          <a:custGeom>
            <a:avLst/>
            <a:gdLst/>
            <a:ahLst/>
            <a:cxnLst/>
            <a:rect l="l" t="t" r="r" b="b"/>
            <a:pathLst>
              <a:path w="1857375" h="747712">
                <a:moveTo>
                  <a:pt x="104837" y="0"/>
                </a:moveTo>
                <a:lnTo>
                  <a:pt x="1752538" y="0"/>
                </a:lnTo>
                <a:quadBezTo>
                  <a:pt x="1857375" y="0"/>
                  <a:pt x="1857375" y="104837"/>
                </a:quadBezTo>
                <a:lnTo>
                  <a:pt x="1857375" y="642876"/>
                </a:lnTo>
                <a:quadBezTo>
                  <a:pt x="1857375" y="747712"/>
                  <a:pt x="1752538" y="747712"/>
                </a:quadBezTo>
                <a:lnTo>
                  <a:pt x="104837" y="747712"/>
                </a:lnTo>
                <a:quadBezTo>
                  <a:pt x="0" y="747712"/>
                  <a:pt x="0" y="642876"/>
                </a:quadBezTo>
                <a:lnTo>
                  <a:pt x="0" y="104837"/>
                </a:lnTo>
                <a:quadBezTo>
                  <a:pt x="0" y="0"/>
                  <a:pt x="1048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37" y="3634144"/>
            <a:ext cx="119062" cy="11906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005012" y="3621286"/>
            <a:ext cx="878147" cy="140969"/>
          </a:xfrm>
          <a:custGeom>
            <a:avLst/>
            <a:gdLst/>
            <a:ahLst/>
            <a:cxnLst/>
            <a:rect l="l" t="t" r="r" b="b"/>
            <a:pathLst>
              <a:path w="878147" h="140969">
                <a:moveTo>
                  <a:pt x="0" y="0"/>
                </a:moveTo>
                <a:lnTo>
                  <a:pt x="878147" y="0"/>
                </a:lnTo>
                <a:lnTo>
                  <a:pt x="878147" y="140969"/>
                </a:lnTo>
                <a:lnTo>
                  <a:pt x="0" y="14096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3"/>
          <p:cNvSpPr/>
          <p:nvPr/>
        </p:nvSpPr>
        <p:spPr>
          <a:xfrm>
            <a:off x="2005012" y="3621286"/>
            <a:ext cx="878147" cy="14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889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inputs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1824037" y="3818929"/>
            <a:ext cx="1571625" cy="285750"/>
          </a:xfrm>
          <a:custGeom>
            <a:avLst/>
            <a:gdLst/>
            <a:ahLst/>
            <a:cxnLst/>
            <a:rect l="l" t="t" r="r" b="b"/>
            <a:pathLst>
              <a:path w="1571625" h="285750">
                <a:moveTo>
                  <a:pt x="0" y="0"/>
                </a:moveTo>
                <a:lnTo>
                  <a:pt x="1571625" y="0"/>
                </a:lnTo>
                <a:lnTo>
                  <a:pt x="1571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1824037" y="3818929"/>
            <a:ext cx="1571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data and calculated metrics.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43313" y="3490794"/>
            <a:ext cx="1857375" cy="747712"/>
          </a:xfrm>
          <a:custGeom>
            <a:avLst/>
            <a:gdLst/>
            <a:ahLst/>
            <a:cxnLst/>
            <a:rect l="l" t="t" r="r" b="b"/>
            <a:pathLst>
              <a:path w="1857375" h="747712">
                <a:moveTo>
                  <a:pt x="104837" y="0"/>
                </a:moveTo>
                <a:lnTo>
                  <a:pt x="1752538" y="0"/>
                </a:lnTo>
                <a:quadBezTo>
                  <a:pt x="1857375" y="0"/>
                  <a:pt x="1857375" y="104837"/>
                </a:quadBezTo>
                <a:lnTo>
                  <a:pt x="1857375" y="642876"/>
                </a:lnTo>
                <a:quadBezTo>
                  <a:pt x="1857375" y="747712"/>
                  <a:pt x="1752538" y="747712"/>
                </a:quadBezTo>
                <a:lnTo>
                  <a:pt x="104837" y="747712"/>
                </a:lnTo>
                <a:quadBezTo>
                  <a:pt x="0" y="747712"/>
                  <a:pt x="0" y="642876"/>
                </a:quadBezTo>
                <a:lnTo>
                  <a:pt x="0" y="104837"/>
                </a:lnTo>
                <a:quadBezTo>
                  <a:pt x="0" y="0"/>
                  <a:pt x="104837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188" y="3634144"/>
            <a:ext cx="119062" cy="11906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967162" y="3621286"/>
            <a:ext cx="1069953" cy="140969"/>
          </a:xfrm>
          <a:custGeom>
            <a:avLst/>
            <a:gdLst/>
            <a:ahLst/>
            <a:cxnLst/>
            <a:rect l="l" t="t" r="r" b="b"/>
            <a:pathLst>
              <a:path w="1069953" h="140969">
                <a:moveTo>
                  <a:pt x="0" y="0"/>
                </a:moveTo>
                <a:lnTo>
                  <a:pt x="1069953" y="0"/>
                </a:lnTo>
                <a:lnTo>
                  <a:pt x="1069953" y="140969"/>
                </a:lnTo>
                <a:lnTo>
                  <a:pt x="0" y="14096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3967162" y="3621286"/>
            <a:ext cx="1069953" cy="14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88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output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786188" y="3818929"/>
            <a:ext cx="1571625" cy="285750"/>
          </a:xfrm>
          <a:custGeom>
            <a:avLst/>
            <a:gdLst/>
            <a:ahLst/>
            <a:cxnLst/>
            <a:rect l="l" t="t" r="r" b="b"/>
            <a:pathLst>
              <a:path w="1571625" h="285750">
                <a:moveTo>
                  <a:pt x="0" y="0"/>
                </a:moveTo>
                <a:lnTo>
                  <a:pt x="1571625" y="0"/>
                </a:lnTo>
                <a:lnTo>
                  <a:pt x="1571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3786188" y="3818929"/>
            <a:ext cx="1571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Request concise analyst-style language.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605463" y="3490794"/>
            <a:ext cx="1857375" cy="747712"/>
          </a:xfrm>
          <a:custGeom>
            <a:avLst/>
            <a:gdLst/>
            <a:ahLst/>
            <a:cxnLst/>
            <a:rect l="l" t="t" r="r" b="b"/>
            <a:pathLst>
              <a:path w="1857375" h="747712">
                <a:moveTo>
                  <a:pt x="104837" y="0"/>
                </a:moveTo>
                <a:lnTo>
                  <a:pt x="1752538" y="0"/>
                </a:lnTo>
                <a:quadBezTo>
                  <a:pt x="1857375" y="0"/>
                  <a:pt x="1857375" y="104837"/>
                </a:quadBezTo>
                <a:lnTo>
                  <a:pt x="1857375" y="642876"/>
                </a:lnTo>
                <a:quadBezTo>
                  <a:pt x="1857375" y="747712"/>
                  <a:pt x="1752538" y="747712"/>
                </a:quadBezTo>
                <a:lnTo>
                  <a:pt x="104837" y="747712"/>
                </a:lnTo>
                <a:quadBezTo>
                  <a:pt x="0" y="747712"/>
                  <a:pt x="0" y="642876"/>
                </a:quadBezTo>
                <a:lnTo>
                  <a:pt x="0" y="104837"/>
                </a:lnTo>
                <a:quadBezTo>
                  <a:pt x="0" y="0"/>
                  <a:pt x="1048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338" y="3634144"/>
            <a:ext cx="119062" cy="119062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5929313" y="3621286"/>
            <a:ext cx="951309" cy="140969"/>
          </a:xfrm>
          <a:custGeom>
            <a:avLst/>
            <a:gdLst/>
            <a:ahLst/>
            <a:cxnLst/>
            <a:rect l="l" t="t" r="r" b="b"/>
            <a:pathLst>
              <a:path w="951309" h="140969">
                <a:moveTo>
                  <a:pt x="0" y="0"/>
                </a:moveTo>
                <a:lnTo>
                  <a:pt x="951309" y="0"/>
                </a:lnTo>
                <a:lnTo>
                  <a:pt x="951309" y="140969"/>
                </a:lnTo>
                <a:lnTo>
                  <a:pt x="0" y="140969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5929313" y="3621286"/>
            <a:ext cx="951309" cy="140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tether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48338" y="3818929"/>
            <a:ext cx="1571625" cy="285750"/>
          </a:xfrm>
          <a:custGeom>
            <a:avLst/>
            <a:gdLst/>
            <a:ahLst/>
            <a:cxnLst/>
            <a:rect l="l" t="t" r="r" b="b"/>
            <a:pathLst>
              <a:path w="1571625" h="285750">
                <a:moveTo>
                  <a:pt x="0" y="0"/>
                </a:moveTo>
                <a:lnTo>
                  <a:pt x="1571625" y="0"/>
                </a:lnTo>
                <a:lnTo>
                  <a:pt x="1571625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5748338" y="3818929"/>
            <a:ext cx="1571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every conclusion tied to financial evidence.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61474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61474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GATE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66826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66826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 Handling &amp; Validation Checks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83159"/>
            <a:ext cx="6000750" cy="409575"/>
          </a:xfrm>
          <a:custGeom>
            <a:avLst/>
            <a:gdLst/>
            <a:ahLst/>
            <a:cxnLst/>
            <a:rect l="l" t="t" r="r" b="b"/>
            <a:pathLst>
              <a:path w="6000750" h="409575">
                <a:moveTo>
                  <a:pt x="0" y="0"/>
                </a:moveTo>
                <a:lnTo>
                  <a:pt x="6000750" y="0"/>
                </a:lnTo>
                <a:lnTo>
                  <a:pt x="600075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83159"/>
            <a:ext cx="6000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outputs begin with a deliberate stop before bad inputs become bad decisions.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004149"/>
            <a:ext cx="4000500" cy="2219325"/>
          </a:xfrm>
          <a:custGeom>
            <a:avLst/>
            <a:gdLst/>
            <a:ahLst/>
            <a:cxnLst/>
            <a:rect l="l" t="t" r="r" b="b"/>
            <a:pathLst>
              <a:path w="4000500" h="2219325">
                <a:moveTo>
                  <a:pt x="47094" y="0"/>
                </a:moveTo>
                <a:lnTo>
                  <a:pt x="3953406" y="0"/>
                </a:lnTo>
                <a:quadBezTo>
                  <a:pt x="4000500" y="0"/>
                  <a:pt x="4000500" y="47094"/>
                </a:quadBezTo>
                <a:lnTo>
                  <a:pt x="4000500" y="2172231"/>
                </a:lnTo>
                <a:quadBezTo>
                  <a:pt x="4000500" y="2219325"/>
                  <a:pt x="3953406" y="2219325"/>
                </a:quadBezTo>
                <a:lnTo>
                  <a:pt x="47094" y="2219325"/>
                </a:lnTo>
                <a:quadBezTo>
                  <a:pt x="0" y="2219325"/>
                  <a:pt x="0" y="2172231"/>
                </a:quadBezTo>
                <a:lnTo>
                  <a:pt x="0" y="47094"/>
                </a:lnTo>
                <a:quadBezTo>
                  <a:pt x="0" y="0"/>
                  <a:pt x="4709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254270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" y="2316182"/>
            <a:ext cx="1524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46917" y="2204263"/>
            <a:ext cx="2028825" cy="195263"/>
          </a:xfrm>
          <a:custGeom>
            <a:avLst/>
            <a:gdLst/>
            <a:ahLst/>
            <a:cxnLst/>
            <a:rect l="l" t="t" r="r" b="b"/>
            <a:pathLst>
              <a:path w="2028825" h="195263">
                <a:moveTo>
                  <a:pt x="0" y="0"/>
                </a:moveTo>
                <a:lnTo>
                  <a:pt x="2028825" y="0"/>
                </a:lnTo>
                <a:lnTo>
                  <a:pt x="202882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46917" y="2204263"/>
            <a:ext cx="202882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checks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1046917" y="2438578"/>
            <a:ext cx="2028825" cy="142875"/>
          </a:xfrm>
          <a:custGeom>
            <a:avLst/>
            <a:gdLst/>
            <a:ahLst/>
            <a:cxnLst/>
            <a:rect l="l" t="t" r="r" b="b"/>
            <a:pathLst>
              <a:path w="2028825" h="142875">
                <a:moveTo>
                  <a:pt x="0" y="0"/>
                </a:moveTo>
                <a:lnTo>
                  <a:pt x="2028825" y="0"/>
                </a:lnTo>
                <a:lnTo>
                  <a:pt x="202882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046917" y="2438578"/>
            <a:ext cx="2028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Catch issues at the input boundary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57667"/>
            <a:ext cx="133350" cy="1333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13209" y="2742902"/>
            <a:ext cx="2695575" cy="166688"/>
          </a:xfrm>
          <a:custGeom>
            <a:avLst/>
            <a:gdLst/>
            <a:ahLst/>
            <a:cxnLst/>
            <a:rect l="l" t="t" r="r" b="b"/>
            <a:pathLst>
              <a:path w="2695575" h="166688">
                <a:moveTo>
                  <a:pt x="0" y="0"/>
                </a:moveTo>
                <a:lnTo>
                  <a:pt x="2695575" y="0"/>
                </a:lnTo>
                <a:lnTo>
                  <a:pt x="26955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913209" y="2742902"/>
            <a:ext cx="26955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Required fields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913209" y="2941856"/>
            <a:ext cx="2695575" cy="161925"/>
          </a:xfrm>
          <a:custGeom>
            <a:avLst/>
            <a:gdLst/>
            <a:ahLst/>
            <a:cxnLst/>
            <a:rect l="l" t="t" r="r" b="b"/>
            <a:pathLst>
              <a:path w="2695575" h="161925">
                <a:moveTo>
                  <a:pt x="0" y="0"/>
                </a:moveTo>
                <a:lnTo>
                  <a:pt x="2695575" y="0"/>
                </a:lnTo>
                <a:lnTo>
                  <a:pt x="269557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913209" y="2941856"/>
            <a:ext cx="26955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values are flagged before processing.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260348"/>
            <a:ext cx="133350" cy="13335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14102" y="3245584"/>
            <a:ext cx="2776537" cy="166688"/>
          </a:xfrm>
          <a:custGeom>
            <a:avLst/>
            <a:gdLst/>
            <a:ahLst/>
            <a:cxnLst/>
            <a:rect l="l" t="t" r="r" b="b"/>
            <a:pathLst>
              <a:path w="2776537" h="166688">
                <a:moveTo>
                  <a:pt x="0" y="0"/>
                </a:moveTo>
                <a:lnTo>
                  <a:pt x="2776537" y="0"/>
                </a:lnTo>
                <a:lnTo>
                  <a:pt x="277653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914102" y="3245584"/>
            <a:ext cx="277653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 values and units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914102" y="3444537"/>
            <a:ext cx="2776537" cy="161925"/>
          </a:xfrm>
          <a:custGeom>
            <a:avLst/>
            <a:gdLst/>
            <a:ahLst/>
            <a:cxnLst/>
            <a:rect l="l" t="t" r="r" b="b"/>
            <a:pathLst>
              <a:path w="2776537" h="161925">
                <a:moveTo>
                  <a:pt x="0" y="0"/>
                </a:moveTo>
                <a:lnTo>
                  <a:pt x="2776537" y="0"/>
                </a:lnTo>
                <a:lnTo>
                  <a:pt x="277653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914102" y="3444537"/>
            <a:ext cx="27765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Malformed entries and bad units stop the flow.</a:t>
            </a:r>
            <a:endParaRPr lang="en-US" sz="9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63030"/>
            <a:ext cx="133350" cy="13335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15085" y="3748267"/>
            <a:ext cx="3262312" cy="166688"/>
          </a:xfrm>
          <a:custGeom>
            <a:avLst/>
            <a:gdLst/>
            <a:ahLst/>
            <a:cxnLst/>
            <a:rect l="l" t="t" r="r" b="b"/>
            <a:pathLst>
              <a:path w="3262312" h="166688">
                <a:moveTo>
                  <a:pt x="0" y="0"/>
                </a:moveTo>
                <a:lnTo>
                  <a:pt x="3262312" y="0"/>
                </a:lnTo>
                <a:lnTo>
                  <a:pt x="3262312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915085" y="3748267"/>
            <a:ext cx="326231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completeness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915085" y="3947220"/>
            <a:ext cx="3262312" cy="161925"/>
          </a:xfrm>
          <a:custGeom>
            <a:avLst/>
            <a:gdLst/>
            <a:ahLst/>
            <a:cxnLst/>
            <a:rect l="l" t="t" r="r" b="b"/>
            <a:pathLst>
              <a:path w="3262312" h="161925">
                <a:moveTo>
                  <a:pt x="0" y="0"/>
                </a:moveTo>
                <a:lnTo>
                  <a:pt x="3262312" y="0"/>
                </a:lnTo>
                <a:lnTo>
                  <a:pt x="3262312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915085" y="3947220"/>
            <a:ext cx="32623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Empty PDFs and incomplete tables are identified early.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686300" y="2004149"/>
            <a:ext cx="4000500" cy="2219325"/>
          </a:xfrm>
          <a:custGeom>
            <a:avLst/>
            <a:gdLst/>
            <a:ahLst/>
            <a:cxnLst/>
            <a:rect l="l" t="t" r="r" b="b"/>
            <a:pathLst>
              <a:path w="4000500" h="2219325">
                <a:moveTo>
                  <a:pt x="47094" y="0"/>
                </a:moveTo>
                <a:lnTo>
                  <a:pt x="3953406" y="0"/>
                </a:lnTo>
                <a:quadBezTo>
                  <a:pt x="4000500" y="0"/>
                  <a:pt x="4000500" y="47094"/>
                </a:quadBezTo>
                <a:lnTo>
                  <a:pt x="4000500" y="2172231"/>
                </a:lnTo>
                <a:quadBezTo>
                  <a:pt x="4000500" y="2219325"/>
                  <a:pt x="3953406" y="2219325"/>
                </a:quadBezTo>
                <a:lnTo>
                  <a:pt x="47094" y="2219325"/>
                </a:lnTo>
                <a:quadBezTo>
                  <a:pt x="0" y="2219325"/>
                  <a:pt x="0" y="2172231"/>
                </a:quadBezTo>
                <a:lnTo>
                  <a:pt x="0" y="47094"/>
                </a:lnTo>
                <a:quadBezTo>
                  <a:pt x="0" y="0"/>
                  <a:pt x="47094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34" name="Shape 27"/>
          <p:cNvSpPr/>
          <p:nvPr/>
        </p:nvSpPr>
        <p:spPr>
          <a:xfrm>
            <a:off x="4914900" y="2254270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63062" y="0"/>
                </a:moveTo>
                <a:lnTo>
                  <a:pt x="213163" y="0"/>
                </a:lnTo>
                <a:quadBezTo>
                  <a:pt x="276225" y="0"/>
                  <a:pt x="276225" y="63062"/>
                </a:quadBezTo>
                <a:lnTo>
                  <a:pt x="276225" y="213163"/>
                </a:lnTo>
                <a:quadBezTo>
                  <a:pt x="276225" y="276225"/>
                  <a:pt x="213163" y="276225"/>
                </a:quadBezTo>
                <a:lnTo>
                  <a:pt x="63062" y="276225"/>
                </a:lnTo>
                <a:quadBezTo>
                  <a:pt x="0" y="276225"/>
                  <a:pt x="0" y="213163"/>
                </a:quadBezTo>
                <a:lnTo>
                  <a:pt x="0" y="63062"/>
                </a:lnTo>
                <a:quadBezTo>
                  <a:pt x="0" y="0"/>
                  <a:pt x="63062" y="0"/>
                </a:quadBezTo>
                <a:close/>
              </a:path>
            </a:pathLst>
          </a:custGeom>
          <a:solidFill>
            <a:srgbClr val="F59E0B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813" y="2316182"/>
            <a:ext cx="152400" cy="1524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5277891" y="2204263"/>
            <a:ext cx="2400300" cy="195263"/>
          </a:xfrm>
          <a:custGeom>
            <a:avLst/>
            <a:gdLst/>
            <a:ahLst/>
            <a:cxnLst/>
            <a:rect l="l" t="t" r="r" b="b"/>
            <a:pathLst>
              <a:path w="2400300" h="195263">
                <a:moveTo>
                  <a:pt x="0" y="0"/>
                </a:moveTo>
                <a:lnTo>
                  <a:pt x="2400300" y="0"/>
                </a:lnTo>
                <a:lnTo>
                  <a:pt x="24003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5277891" y="2204263"/>
            <a:ext cx="24003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478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Failure prevention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5277891" y="2438578"/>
            <a:ext cx="2400300" cy="142875"/>
          </a:xfrm>
          <a:custGeom>
            <a:avLst/>
            <a:gdLst/>
            <a:ahLst/>
            <a:cxnLst/>
            <a:rect l="l" t="t" r="r" b="b"/>
            <a:pathLst>
              <a:path w="2400300" h="142875">
                <a:moveTo>
                  <a:pt x="0" y="0"/>
                </a:moveTo>
                <a:lnTo>
                  <a:pt x="2400300" y="0"/>
                </a:lnTo>
                <a:lnTo>
                  <a:pt x="2400300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5277891" y="2438578"/>
            <a:ext cx="24003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Stop unreliable outputs from progressing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2757667"/>
            <a:ext cx="133350" cy="13335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142934" y="2742902"/>
            <a:ext cx="2633662" cy="166688"/>
          </a:xfrm>
          <a:custGeom>
            <a:avLst/>
            <a:gdLst/>
            <a:ahLst/>
            <a:cxnLst/>
            <a:rect l="l" t="t" r="r" b="b"/>
            <a:pathLst>
              <a:path w="2633662" h="166688">
                <a:moveTo>
                  <a:pt x="0" y="0"/>
                </a:moveTo>
                <a:lnTo>
                  <a:pt x="2633662" y="0"/>
                </a:lnTo>
                <a:lnTo>
                  <a:pt x="2633662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3"/>
          <p:cNvSpPr/>
          <p:nvPr/>
        </p:nvSpPr>
        <p:spPr>
          <a:xfrm>
            <a:off x="5142934" y="2742902"/>
            <a:ext cx="263366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 calculations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5142934" y="2941856"/>
            <a:ext cx="2633662" cy="161925"/>
          </a:xfrm>
          <a:custGeom>
            <a:avLst/>
            <a:gdLst/>
            <a:ahLst/>
            <a:cxnLst/>
            <a:rect l="l" t="t" r="r" b="b"/>
            <a:pathLst>
              <a:path w="2633662" h="161925">
                <a:moveTo>
                  <a:pt x="0" y="0"/>
                </a:moveTo>
                <a:lnTo>
                  <a:pt x="2633662" y="0"/>
                </a:lnTo>
                <a:lnTo>
                  <a:pt x="2633662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5"/>
          <p:cNvSpPr/>
          <p:nvPr/>
        </p:nvSpPr>
        <p:spPr>
          <a:xfrm>
            <a:off x="5142934" y="2941856"/>
            <a:ext cx="263366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Division-by-zero cases are handled explicitly.</a:t>
            </a:r>
            <a:endParaRPr lang="en-US" sz="900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4900" y="3260348"/>
            <a:ext cx="133350" cy="13335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5143560" y="3245584"/>
            <a:ext cx="3290887" cy="166688"/>
          </a:xfrm>
          <a:custGeom>
            <a:avLst/>
            <a:gdLst/>
            <a:ahLst/>
            <a:cxnLst/>
            <a:rect l="l" t="t" r="r" b="b"/>
            <a:pathLst>
              <a:path w="3290887" h="166688">
                <a:moveTo>
                  <a:pt x="0" y="0"/>
                </a:moveTo>
                <a:lnTo>
                  <a:pt x="3290887" y="0"/>
                </a:lnTo>
                <a:lnTo>
                  <a:pt x="3290887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37"/>
          <p:cNvSpPr/>
          <p:nvPr/>
        </p:nvSpPr>
        <p:spPr>
          <a:xfrm>
            <a:off x="5143560" y="3245584"/>
            <a:ext cx="3290887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integrity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5143560" y="3444537"/>
            <a:ext cx="3290887" cy="161925"/>
          </a:xfrm>
          <a:custGeom>
            <a:avLst/>
            <a:gdLst/>
            <a:ahLst/>
            <a:cxnLst/>
            <a:rect l="l" t="t" r="r" b="b"/>
            <a:pathLst>
              <a:path w="3290887" h="161925">
                <a:moveTo>
                  <a:pt x="0" y="0"/>
                </a:moveTo>
                <a:lnTo>
                  <a:pt x="3290887" y="0"/>
                </a:lnTo>
                <a:lnTo>
                  <a:pt x="3290887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9"/>
          <p:cNvSpPr/>
          <p:nvPr/>
        </p:nvSpPr>
        <p:spPr>
          <a:xfrm>
            <a:off x="5143560" y="3444537"/>
            <a:ext cx="32908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Unexpected response formats trigger a controlled stop.</a:t>
            </a:r>
            <a:endParaRPr lang="en-US" sz="9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4900" y="3763030"/>
            <a:ext cx="133350" cy="133350"/>
          </a:xfrm>
          <a:prstGeom prst="rect">
            <a:avLst/>
          </a:prstGeom>
        </p:spPr>
      </p:pic>
      <p:sp>
        <p:nvSpPr>
          <p:cNvPr id="51" name="Shape 40"/>
          <p:cNvSpPr/>
          <p:nvPr/>
        </p:nvSpPr>
        <p:spPr>
          <a:xfrm>
            <a:off x="5142934" y="3748267"/>
            <a:ext cx="2738438" cy="166688"/>
          </a:xfrm>
          <a:custGeom>
            <a:avLst/>
            <a:gdLst/>
            <a:ahLst/>
            <a:cxnLst/>
            <a:rect l="l" t="t" r="r" b="b"/>
            <a:pathLst>
              <a:path w="2738438" h="166688">
                <a:moveTo>
                  <a:pt x="0" y="0"/>
                </a:moveTo>
                <a:lnTo>
                  <a:pt x="2738438" y="0"/>
                </a:lnTo>
                <a:lnTo>
                  <a:pt x="273843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1"/>
          <p:cNvSpPr/>
          <p:nvPr/>
        </p:nvSpPr>
        <p:spPr>
          <a:xfrm>
            <a:off x="5142934" y="3748267"/>
            <a:ext cx="273843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silent failures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5142934" y="3947220"/>
            <a:ext cx="2738438" cy="161925"/>
          </a:xfrm>
          <a:custGeom>
            <a:avLst/>
            <a:gdLst/>
            <a:ahLst/>
            <a:cxnLst/>
            <a:rect l="l" t="t" r="r" b="b"/>
            <a:pathLst>
              <a:path w="2738438" h="161925">
                <a:moveTo>
                  <a:pt x="0" y="0"/>
                </a:moveTo>
                <a:lnTo>
                  <a:pt x="2738438" y="0"/>
                </a:lnTo>
                <a:lnTo>
                  <a:pt x="2738438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3"/>
          <p:cNvSpPr/>
          <p:nvPr/>
        </p:nvSpPr>
        <p:spPr>
          <a:xfrm>
            <a:off x="5142934" y="3947220"/>
            <a:ext cx="27384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Unreliable outputs never enter the next stage.</a:t>
            </a:r>
            <a:endParaRPr lang="en-US" sz="900" dirty="0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24362"/>
            <a:ext cx="8229600" cy="395287"/>
          </a:xfrm>
          <a:prstGeom prst="rect">
            <a:avLst/>
          </a:prstGeom>
        </p:spPr>
      </p:pic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7225" y="4550569"/>
            <a:ext cx="142875" cy="142875"/>
          </a:xfrm>
          <a:prstGeom prst="rect">
            <a:avLst/>
          </a:prstGeom>
        </p:spPr>
      </p:pic>
      <p:sp>
        <p:nvSpPr>
          <p:cNvPr id="57" name="Shape 44"/>
          <p:cNvSpPr/>
          <p:nvPr/>
        </p:nvSpPr>
        <p:spPr>
          <a:xfrm>
            <a:off x="885021" y="4538662"/>
            <a:ext cx="4938712" cy="166688"/>
          </a:xfrm>
          <a:custGeom>
            <a:avLst/>
            <a:gdLst/>
            <a:ahLst/>
            <a:cxnLst/>
            <a:rect l="l" t="t" r="r" b="b"/>
            <a:pathLst>
              <a:path w="4938712" h="166688">
                <a:moveTo>
                  <a:pt x="0" y="0"/>
                </a:moveTo>
                <a:lnTo>
                  <a:pt x="4938712" y="0"/>
                </a:lnTo>
                <a:lnTo>
                  <a:pt x="4938712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8" name="Text 45"/>
          <p:cNvSpPr/>
          <p:nvPr/>
        </p:nvSpPr>
        <p:spPr>
          <a:xfrm>
            <a:off x="885021" y="4538662"/>
            <a:ext cx="493871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913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Guidance: validate first, calculate second, release only trusted outputs.</a:t>
            </a:r>
            <a:endParaRPr lang="en-US" sz="90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424362"/>
            <a:ext cx="8229600" cy="3952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37495" y="342900"/>
            <a:ext cx="5329238" cy="114300"/>
          </a:xfrm>
          <a:custGeom>
            <a:avLst/>
            <a:gdLst/>
            <a:ahLst/>
            <a:cxnLst/>
            <a:rect l="l" t="t" r="r" b="b"/>
            <a:pathLst>
              <a:path w="5329238" h="114300">
                <a:moveTo>
                  <a:pt x="0" y="0"/>
                </a:moveTo>
                <a:lnTo>
                  <a:pt x="5329238" y="0"/>
                </a:lnTo>
                <a:lnTo>
                  <a:pt x="5329238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37495" y="342900"/>
            <a:ext cx="53292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EXPERIENCE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7495" y="524828"/>
            <a:ext cx="5329238" cy="338137"/>
          </a:xfrm>
          <a:custGeom>
            <a:avLst/>
            <a:gdLst/>
            <a:ahLst/>
            <a:cxnLst/>
            <a:rect l="l" t="t" r="r" b="b"/>
            <a:pathLst>
              <a:path w="5329238" h="338137">
                <a:moveTo>
                  <a:pt x="0" y="0"/>
                </a:moveTo>
                <a:lnTo>
                  <a:pt x="5329238" y="0"/>
                </a:lnTo>
                <a:lnTo>
                  <a:pt x="5329238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37495" y="524828"/>
            <a:ext cx="5329238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Interface Design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7495" y="929403"/>
            <a:ext cx="5329238" cy="180975"/>
          </a:xfrm>
          <a:custGeom>
            <a:avLst/>
            <a:gdLst/>
            <a:ahLst/>
            <a:cxnLst/>
            <a:rect l="l" t="t" r="r" b="b"/>
            <a:pathLst>
              <a:path w="5329238" h="180975">
                <a:moveTo>
                  <a:pt x="0" y="0"/>
                </a:moveTo>
                <a:lnTo>
                  <a:pt x="5329238" y="0"/>
                </a:lnTo>
                <a:lnTo>
                  <a:pt x="5329238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37495" y="929403"/>
            <a:ext cx="53292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clear path from upload to insight — built for confident student decisions.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101242" y="799624"/>
            <a:ext cx="1604963" cy="309562"/>
          </a:xfrm>
          <a:custGeom>
            <a:avLst/>
            <a:gdLst/>
            <a:ahLst/>
            <a:cxnLst/>
            <a:rect l="l" t="t" r="r" b="b"/>
            <a:pathLst>
              <a:path w="1604963" h="309562">
                <a:moveTo>
                  <a:pt x="49236" y="0"/>
                </a:moveTo>
                <a:lnTo>
                  <a:pt x="1555727" y="0"/>
                </a:lnTo>
                <a:quadBezTo>
                  <a:pt x="1604963" y="0"/>
                  <a:pt x="1604963" y="49236"/>
                </a:quadBezTo>
                <a:lnTo>
                  <a:pt x="1604963" y="260327"/>
                </a:lnTo>
                <a:quadBezTo>
                  <a:pt x="1604963" y="309562"/>
                  <a:pt x="1555727" y="309562"/>
                </a:quadBezTo>
                <a:lnTo>
                  <a:pt x="49236" y="309562"/>
                </a:lnTo>
                <a:quadBezTo>
                  <a:pt x="0" y="309562"/>
                  <a:pt x="0" y="260327"/>
                </a:quadBezTo>
                <a:lnTo>
                  <a:pt x="0" y="49236"/>
                </a:lnTo>
                <a:quadBezTo>
                  <a:pt x="0" y="0"/>
                  <a:pt x="49236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74" y="892493"/>
            <a:ext cx="123825" cy="1238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396517" y="875824"/>
            <a:ext cx="1204913" cy="157163"/>
          </a:xfrm>
          <a:custGeom>
            <a:avLst/>
            <a:gdLst/>
            <a:ahLst/>
            <a:cxnLst/>
            <a:rect l="l" t="t" r="r" b="b"/>
            <a:pathLst>
              <a:path w="1204913" h="157163">
                <a:moveTo>
                  <a:pt x="0" y="0"/>
                </a:moveTo>
                <a:lnTo>
                  <a:pt x="1204913" y="0"/>
                </a:lnTo>
                <a:lnTo>
                  <a:pt x="1204913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7396517" y="875824"/>
            <a:ext cx="12049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4783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Transparent by design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38150" y="1604724"/>
            <a:ext cx="8267700" cy="2309813"/>
          </a:xfrm>
          <a:custGeom>
            <a:avLst/>
            <a:gdLst/>
            <a:ahLst/>
            <a:cxnLst/>
            <a:rect l="l" t="t" r="r" b="b"/>
            <a:pathLst>
              <a:path w="8267700" h="2309813">
                <a:moveTo>
                  <a:pt x="45249" y="0"/>
                </a:moveTo>
                <a:lnTo>
                  <a:pt x="8222451" y="0"/>
                </a:lnTo>
                <a:quadBezTo>
                  <a:pt x="8267700" y="0"/>
                  <a:pt x="8267700" y="45249"/>
                </a:quadBezTo>
                <a:lnTo>
                  <a:pt x="8267700" y="2264563"/>
                </a:lnTo>
                <a:quadBezTo>
                  <a:pt x="8267700" y="2309813"/>
                  <a:pt x="8222451" y="2309813"/>
                </a:quadBezTo>
                <a:lnTo>
                  <a:pt x="45249" y="2309813"/>
                </a:lnTo>
                <a:quadBezTo>
                  <a:pt x="0" y="2309813"/>
                  <a:pt x="0" y="2264563"/>
                </a:quadBezTo>
                <a:lnTo>
                  <a:pt x="0" y="45249"/>
                </a:lnTo>
                <a:quadBezTo>
                  <a:pt x="0" y="0"/>
                  <a:pt x="45249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blurRad="152400" dist="66675" dir="2700000" algn="bl" rotWithShape="0">
              <a:srgbClr val="0B1F3A">
                <a:alpha val="12157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0075" y="177831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6676" y="0"/>
                </a:moveTo>
                <a:lnTo>
                  <a:pt x="161924" y="0"/>
                </a:lnTo>
                <a:quadBezTo>
                  <a:pt x="228600" y="0"/>
                  <a:pt x="228600" y="66676"/>
                </a:quadBezTo>
                <a:lnTo>
                  <a:pt x="228600" y="161924"/>
                </a:lnTo>
                <a:quadBezTo>
                  <a:pt x="228600" y="228600"/>
                  <a:pt x="161924" y="228600"/>
                </a:quadBezTo>
                <a:lnTo>
                  <a:pt x="66676" y="228600"/>
                </a:lnTo>
                <a:quadBezTo>
                  <a:pt x="0" y="228600"/>
                  <a:pt x="0" y="161924"/>
                </a:quadBezTo>
                <a:lnTo>
                  <a:pt x="0" y="66676"/>
                </a:lnTo>
                <a:quadBezTo>
                  <a:pt x="0" y="0"/>
                  <a:pt x="66676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1828324"/>
            <a:ext cx="128588" cy="12858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04042" y="1747361"/>
            <a:ext cx="2538413" cy="157163"/>
          </a:xfrm>
          <a:custGeom>
            <a:avLst/>
            <a:gdLst/>
            <a:ahLst/>
            <a:cxnLst/>
            <a:rect l="l" t="t" r="r" b="b"/>
            <a:pathLst>
              <a:path w="2538413" h="157163">
                <a:moveTo>
                  <a:pt x="0" y="0"/>
                </a:moveTo>
                <a:lnTo>
                  <a:pt x="2538413" y="0"/>
                </a:lnTo>
                <a:lnTo>
                  <a:pt x="2538413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904042" y="1747361"/>
            <a:ext cx="25384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Academic insight dashboard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904042" y="1923574"/>
            <a:ext cx="2538413" cy="114300"/>
          </a:xfrm>
          <a:custGeom>
            <a:avLst/>
            <a:gdLst/>
            <a:ahLst/>
            <a:cxnLst/>
            <a:rect l="l" t="t" r="r" b="b"/>
            <a:pathLst>
              <a:path w="2538413" h="114300">
                <a:moveTo>
                  <a:pt x="0" y="0"/>
                </a:moveTo>
                <a:lnTo>
                  <a:pt x="2538413" y="0"/>
                </a:lnTo>
                <a:lnTo>
                  <a:pt x="2538413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904042" y="1923574"/>
            <a:ext cx="25384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workspace for evidence, patterns, and next steps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892592" y="1821180"/>
            <a:ext cx="652463" cy="142875"/>
          </a:xfrm>
          <a:custGeom>
            <a:avLst/>
            <a:gdLst/>
            <a:ahLst/>
            <a:cxnLst/>
            <a:rect l="l" t="t" r="r" b="b"/>
            <a:pathLst>
              <a:path w="652463" h="142875">
                <a:moveTo>
                  <a:pt x="0" y="0"/>
                </a:moveTo>
                <a:lnTo>
                  <a:pt x="652463" y="0"/>
                </a:lnTo>
                <a:lnTo>
                  <a:pt x="65246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892592" y="1821180"/>
            <a:ext cx="6524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view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0194" y="2161938"/>
            <a:ext cx="4695825" cy="1600200"/>
          </a:xfrm>
          <a:custGeom>
            <a:avLst/>
            <a:gdLst/>
            <a:ahLst/>
            <a:cxnLst/>
            <a:rect l="l" t="t" r="r" b="b"/>
            <a:pathLst>
              <a:path w="4695825" h="1600200">
                <a:moveTo>
                  <a:pt x="48982" y="0"/>
                </a:moveTo>
                <a:lnTo>
                  <a:pt x="4646843" y="0"/>
                </a:lnTo>
                <a:quadBezTo>
                  <a:pt x="4695825" y="0"/>
                  <a:pt x="4695825" y="48982"/>
                </a:quadBezTo>
                <a:lnTo>
                  <a:pt x="4695825" y="1551218"/>
                </a:lnTo>
                <a:quadBezTo>
                  <a:pt x="4695825" y="1600200"/>
                  <a:pt x="4646843" y="1600200"/>
                </a:quadBezTo>
                <a:lnTo>
                  <a:pt x="48982" y="1600200"/>
                </a:lnTo>
                <a:quadBezTo>
                  <a:pt x="0" y="1600200"/>
                  <a:pt x="0" y="1551218"/>
                </a:quadBezTo>
                <a:lnTo>
                  <a:pt x="0" y="48982"/>
                </a:lnTo>
                <a:quadBezTo>
                  <a:pt x="0" y="0"/>
                  <a:pt x="4898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5" name="Shape 20"/>
          <p:cNvSpPr/>
          <p:nvPr/>
        </p:nvSpPr>
        <p:spPr>
          <a:xfrm>
            <a:off x="733544" y="2295049"/>
            <a:ext cx="4429125" cy="185738"/>
          </a:xfrm>
          <a:custGeom>
            <a:avLst/>
            <a:gdLst/>
            <a:ahLst/>
            <a:cxnLst/>
            <a:rect l="l" t="t" r="r" b="b"/>
            <a:pathLst>
              <a:path w="4429125" h="185738">
                <a:moveTo>
                  <a:pt x="0" y="0"/>
                </a:moveTo>
                <a:lnTo>
                  <a:pt x="4429125" y="0"/>
                </a:lnTo>
                <a:lnTo>
                  <a:pt x="442912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733544" y="2295049"/>
            <a:ext cx="442912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1739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your data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33544" y="2576274"/>
            <a:ext cx="4429125" cy="681038"/>
          </a:xfrm>
          <a:custGeom>
            <a:avLst/>
            <a:gdLst/>
            <a:ahLst/>
            <a:cxnLst/>
            <a:rect l="l" t="t" r="r" b="b"/>
            <a:pathLst>
              <a:path w="4429125" h="681038">
                <a:moveTo>
                  <a:pt x="102312" y="0"/>
                </a:moveTo>
                <a:lnTo>
                  <a:pt x="4326813" y="0"/>
                </a:lnTo>
                <a:quadBezTo>
                  <a:pt x="4429125" y="0"/>
                  <a:pt x="4429125" y="102312"/>
                </a:quadBezTo>
                <a:lnTo>
                  <a:pt x="4429125" y="578725"/>
                </a:lnTo>
                <a:quadBezTo>
                  <a:pt x="4429125" y="681038"/>
                  <a:pt x="4326813" y="681038"/>
                </a:quadBezTo>
                <a:lnTo>
                  <a:pt x="102312" y="681038"/>
                </a:lnTo>
                <a:quadBezTo>
                  <a:pt x="0" y="681038"/>
                  <a:pt x="0" y="578725"/>
                </a:quadBezTo>
                <a:lnTo>
                  <a:pt x="0" y="102312"/>
                </a:lnTo>
                <a:quadBezTo>
                  <a:pt x="0" y="0"/>
                  <a:pt x="102312" y="0"/>
                </a:quadBezTo>
                <a:close/>
              </a:path>
            </a:pathLst>
          </a:custGeom>
          <a:solidFill>
            <a:srgbClr val="F7FAFC"/>
          </a:solidFill>
          <a:ln w="7644">
            <a:solidFill>
              <a:srgbClr val="0FA3B1"/>
            </a:solidFill>
            <a:prstDash val="dash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616" y="2606040"/>
            <a:ext cx="180975" cy="1809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2581365" y="2853690"/>
            <a:ext cx="733425" cy="171450"/>
          </a:xfrm>
          <a:custGeom>
            <a:avLst/>
            <a:gdLst/>
            <a:ahLst/>
            <a:cxnLst/>
            <a:rect l="l" t="t" r="r" b="b"/>
            <a:pathLst>
              <a:path w="733425" h="171450">
                <a:moveTo>
                  <a:pt x="0" y="0"/>
                </a:moveTo>
                <a:lnTo>
                  <a:pt x="733425" y="0"/>
                </a:lnTo>
                <a:lnTo>
                  <a:pt x="7334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2581365" y="2853690"/>
            <a:ext cx="7334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87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a file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448014" y="3090624"/>
            <a:ext cx="1000125" cy="138113"/>
          </a:xfrm>
          <a:custGeom>
            <a:avLst/>
            <a:gdLst/>
            <a:ahLst/>
            <a:cxnLst/>
            <a:rect l="l" t="t" r="r" b="b"/>
            <a:pathLst>
              <a:path w="1000125" h="138113">
                <a:moveTo>
                  <a:pt x="0" y="0"/>
                </a:moveTo>
                <a:lnTo>
                  <a:pt x="1000125" y="0"/>
                </a:lnTo>
                <a:lnTo>
                  <a:pt x="10001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2448014" y="3090624"/>
            <a:ext cx="10001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43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 CSV or PDF here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33544" y="3352800"/>
            <a:ext cx="4429125" cy="276225"/>
          </a:xfrm>
          <a:custGeom>
            <a:avLst/>
            <a:gdLst/>
            <a:ahLst/>
            <a:cxnLst/>
            <a:rect l="l" t="t" r="r" b="b"/>
            <a:pathLst>
              <a:path w="4429125" h="276225">
                <a:moveTo>
                  <a:pt x="47295" y="0"/>
                </a:moveTo>
                <a:lnTo>
                  <a:pt x="4381830" y="0"/>
                </a:lnTo>
                <a:quadBezTo>
                  <a:pt x="4429125" y="0"/>
                  <a:pt x="4429125" y="47295"/>
                </a:quadBezTo>
                <a:lnTo>
                  <a:pt x="4429125" y="228930"/>
                </a:lnTo>
                <a:quadBezTo>
                  <a:pt x="4429125" y="276225"/>
                  <a:pt x="4381830" y="276225"/>
                </a:quadBezTo>
                <a:lnTo>
                  <a:pt x="47295" y="276225"/>
                </a:lnTo>
                <a:quadBezTo>
                  <a:pt x="0" y="276225"/>
                  <a:pt x="0" y="228930"/>
                </a:quadBezTo>
                <a:lnTo>
                  <a:pt x="0" y="47295"/>
                </a:lnTo>
                <a:quadBezTo>
                  <a:pt x="0" y="0"/>
                  <a:pt x="47295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4717" y="3436144"/>
            <a:ext cx="109537" cy="109537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2662358" y="3407569"/>
            <a:ext cx="738188" cy="166688"/>
          </a:xfrm>
          <a:custGeom>
            <a:avLst/>
            <a:gdLst/>
            <a:ahLst/>
            <a:cxnLst/>
            <a:rect l="l" t="t" r="r" b="b"/>
            <a:pathLst>
              <a:path w="738188" h="166688">
                <a:moveTo>
                  <a:pt x="0" y="0"/>
                </a:moveTo>
                <a:lnTo>
                  <a:pt x="738188" y="0"/>
                </a:lnTo>
                <a:lnTo>
                  <a:pt x="73818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2662358" y="3407569"/>
            <a:ext cx="7381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 data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410378" y="2160507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121918" y="0"/>
                </a:moveTo>
                <a:lnTo>
                  <a:pt x="1402082" y="0"/>
                </a:lnTo>
                <a:quadBezTo>
                  <a:pt x="1524000" y="0"/>
                  <a:pt x="1524000" y="121918"/>
                </a:quadBezTo>
                <a:lnTo>
                  <a:pt x="1524000" y="449582"/>
                </a:lnTo>
                <a:quadBezTo>
                  <a:pt x="1524000" y="571500"/>
                  <a:pt x="1402082" y="571500"/>
                </a:quadBezTo>
                <a:lnTo>
                  <a:pt x="121918" y="571500"/>
                </a:lnTo>
                <a:quadBezTo>
                  <a:pt x="0" y="571500"/>
                  <a:pt x="0" y="449582"/>
                </a:quadBezTo>
                <a:lnTo>
                  <a:pt x="0" y="121918"/>
                </a:lnTo>
                <a:quadBezTo>
                  <a:pt x="0" y="0"/>
                  <a:pt x="121918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1"/>
          <p:cNvSpPr/>
          <p:nvPr/>
        </p:nvSpPr>
        <p:spPr>
          <a:xfrm>
            <a:off x="5524678" y="2266474"/>
            <a:ext cx="1295400" cy="128588"/>
          </a:xfrm>
          <a:custGeom>
            <a:avLst/>
            <a:gdLst/>
            <a:ahLst/>
            <a:cxnLst/>
            <a:rect l="l" t="t" r="r" b="b"/>
            <a:pathLst>
              <a:path w="1295400" h="128588">
                <a:moveTo>
                  <a:pt x="0" y="0"/>
                </a:moveTo>
                <a:lnTo>
                  <a:pt x="1295400" y="0"/>
                </a:lnTo>
                <a:lnTo>
                  <a:pt x="1295400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5524678" y="2266474"/>
            <a:ext cx="1295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EXTRACTED DATA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524678" y="2431970"/>
            <a:ext cx="1295400" cy="195263"/>
          </a:xfrm>
          <a:custGeom>
            <a:avLst/>
            <a:gdLst/>
            <a:ahLst/>
            <a:cxnLst/>
            <a:rect l="l" t="t" r="r" b="b"/>
            <a:pathLst>
              <a:path w="1295400" h="195263">
                <a:moveTo>
                  <a:pt x="0" y="0"/>
                </a:moveTo>
                <a:lnTo>
                  <a:pt x="1295400" y="0"/>
                </a:lnTo>
                <a:lnTo>
                  <a:pt x="12954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5524678" y="2431970"/>
            <a:ext cx="12954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review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019982" y="2160507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121918" y="0"/>
                </a:moveTo>
                <a:lnTo>
                  <a:pt x="1402082" y="0"/>
                </a:lnTo>
                <a:quadBezTo>
                  <a:pt x="1524000" y="0"/>
                  <a:pt x="1524000" y="121918"/>
                </a:quadBezTo>
                <a:lnTo>
                  <a:pt x="1524000" y="449582"/>
                </a:lnTo>
                <a:quadBezTo>
                  <a:pt x="1524000" y="571500"/>
                  <a:pt x="1402082" y="571500"/>
                </a:quadBezTo>
                <a:lnTo>
                  <a:pt x="121918" y="571500"/>
                </a:lnTo>
                <a:quadBezTo>
                  <a:pt x="0" y="571500"/>
                  <a:pt x="0" y="449582"/>
                </a:quadBezTo>
                <a:lnTo>
                  <a:pt x="0" y="121918"/>
                </a:lnTo>
                <a:quadBezTo>
                  <a:pt x="0" y="0"/>
                  <a:pt x="121918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36"/>
          <p:cNvSpPr/>
          <p:nvPr/>
        </p:nvSpPr>
        <p:spPr>
          <a:xfrm>
            <a:off x="7134282" y="2266474"/>
            <a:ext cx="1295400" cy="128588"/>
          </a:xfrm>
          <a:custGeom>
            <a:avLst/>
            <a:gdLst/>
            <a:ahLst/>
            <a:cxnLst/>
            <a:rect l="l" t="t" r="r" b="b"/>
            <a:pathLst>
              <a:path w="1295400" h="128588">
                <a:moveTo>
                  <a:pt x="0" y="0"/>
                </a:moveTo>
                <a:lnTo>
                  <a:pt x="1295400" y="0"/>
                </a:lnTo>
                <a:lnTo>
                  <a:pt x="1295400" y="128588"/>
                </a:lnTo>
                <a:lnTo>
                  <a:pt x="0" y="1285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7"/>
          <p:cNvSpPr/>
          <p:nvPr/>
        </p:nvSpPr>
        <p:spPr>
          <a:xfrm>
            <a:off x="7134282" y="2266474"/>
            <a:ext cx="12954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6957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RATIOS &amp; TRENDS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7134282" y="2431970"/>
            <a:ext cx="1295400" cy="195263"/>
          </a:xfrm>
          <a:custGeom>
            <a:avLst/>
            <a:gdLst/>
            <a:ahLst/>
            <a:cxnLst/>
            <a:rect l="l" t="t" r="r" b="b"/>
            <a:pathLst>
              <a:path w="1295400" h="195263">
                <a:moveTo>
                  <a:pt x="0" y="0"/>
                </a:moveTo>
                <a:lnTo>
                  <a:pt x="1295400" y="0"/>
                </a:lnTo>
                <a:lnTo>
                  <a:pt x="129540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7134282" y="2431970"/>
            <a:ext cx="129540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174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Patterns surfaced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5410318" y="2815590"/>
            <a:ext cx="3133725" cy="947737"/>
          </a:xfrm>
          <a:custGeom>
            <a:avLst/>
            <a:gdLst/>
            <a:ahLst/>
            <a:cxnLst/>
            <a:rect l="l" t="t" r="r" b="b"/>
            <a:pathLst>
              <a:path w="3133725" h="947737">
                <a:moveTo>
                  <a:pt x="73516" y="0"/>
                </a:moveTo>
                <a:lnTo>
                  <a:pt x="3060209" y="0"/>
                </a:lnTo>
                <a:quadBezTo>
                  <a:pt x="3133725" y="0"/>
                  <a:pt x="3133725" y="73516"/>
                </a:quadBezTo>
                <a:lnTo>
                  <a:pt x="3133725" y="874222"/>
                </a:lnTo>
                <a:quadBezTo>
                  <a:pt x="3133725" y="947737"/>
                  <a:pt x="3060209" y="947737"/>
                </a:quadBezTo>
                <a:lnTo>
                  <a:pt x="73516" y="947737"/>
                </a:lnTo>
                <a:quadBezTo>
                  <a:pt x="0" y="947737"/>
                  <a:pt x="0" y="874222"/>
                </a:quadBezTo>
                <a:lnTo>
                  <a:pt x="0" y="73516"/>
                </a:lnTo>
                <a:quadBezTo>
                  <a:pt x="0" y="0"/>
                  <a:pt x="7351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Shape 41"/>
          <p:cNvSpPr/>
          <p:nvPr/>
        </p:nvSpPr>
        <p:spPr>
          <a:xfrm>
            <a:off x="5523814" y="2932032"/>
            <a:ext cx="919162" cy="185738"/>
          </a:xfrm>
          <a:custGeom>
            <a:avLst/>
            <a:gdLst/>
            <a:ahLst/>
            <a:cxnLst/>
            <a:rect l="l" t="t" r="r" b="b"/>
            <a:pathLst>
              <a:path w="919162" h="185738">
                <a:moveTo>
                  <a:pt x="0" y="0"/>
                </a:moveTo>
                <a:lnTo>
                  <a:pt x="919162" y="0"/>
                </a:lnTo>
                <a:lnTo>
                  <a:pt x="919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2"/>
          <p:cNvSpPr/>
          <p:nvPr/>
        </p:nvSpPr>
        <p:spPr>
          <a:xfrm>
            <a:off x="5523814" y="2932032"/>
            <a:ext cx="919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1739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summary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7552221" y="2929653"/>
            <a:ext cx="876300" cy="190500"/>
          </a:xfrm>
          <a:custGeom>
            <a:avLst/>
            <a:gdLst/>
            <a:ahLst/>
            <a:cxnLst/>
            <a:rect l="l" t="t" r="r" b="b"/>
            <a:pathLst>
              <a:path w="876300" h="190500">
                <a:moveTo>
                  <a:pt x="51435" y="0"/>
                </a:moveTo>
                <a:lnTo>
                  <a:pt x="824865" y="0"/>
                </a:lnTo>
                <a:quadBezTo>
                  <a:pt x="876300" y="0"/>
                  <a:pt x="876300" y="51435"/>
                </a:quadBezTo>
                <a:lnTo>
                  <a:pt x="876300" y="139065"/>
                </a:lnTo>
                <a:quadBezTo>
                  <a:pt x="876300" y="190500"/>
                  <a:pt x="824865" y="190500"/>
                </a:quadBezTo>
                <a:lnTo>
                  <a:pt x="51435" y="190500"/>
                </a:lnTo>
                <a:quadBezTo>
                  <a:pt x="0" y="190500"/>
                  <a:pt x="0" y="139065"/>
                </a:quadBezTo>
                <a:lnTo>
                  <a:pt x="0" y="51435"/>
                </a:lnTo>
                <a:quadBezTo>
                  <a:pt x="0" y="0"/>
                  <a:pt x="5143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1" name="Text 44"/>
          <p:cNvSpPr/>
          <p:nvPr/>
        </p:nvSpPr>
        <p:spPr>
          <a:xfrm>
            <a:off x="7552221" y="2929653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8261"/>
              </a:lnSpc>
              <a:spcBef>
                <a:spcPts val="281"/>
              </a:spcBef>
              <a:buNone/>
            </a:pPr>
            <a:r>
              <a:rPr lang="en-US" sz="602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PLAIN LANGUAGE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5525094" y="3195638"/>
            <a:ext cx="2381250" cy="28575"/>
          </a:xfrm>
          <a:custGeom>
            <a:avLst/>
            <a:gdLst/>
            <a:ahLst/>
            <a:cxnLst/>
            <a:rect l="l" t="t" r="r" b="b"/>
            <a:pathLst>
              <a:path w="2381250" h="28575">
                <a:moveTo>
                  <a:pt x="14288" y="0"/>
                </a:moveTo>
                <a:lnTo>
                  <a:pt x="2366963" y="0"/>
                </a:lnTo>
                <a:quadBezTo>
                  <a:pt x="2381250" y="0"/>
                  <a:pt x="2381250" y="14288"/>
                </a:quadBezTo>
                <a:lnTo>
                  <a:pt x="2381250" y="14288"/>
                </a:lnTo>
                <a:quadBezTo>
                  <a:pt x="2381250" y="28575"/>
                  <a:pt x="2366963" y="28575"/>
                </a:quadBezTo>
                <a:lnTo>
                  <a:pt x="14288" y="28575"/>
                </a:lnTo>
                <a:quadBezTo>
                  <a:pt x="0" y="28575"/>
                  <a:pt x="0" y="14288"/>
                </a:quadBezTo>
                <a:lnTo>
                  <a:pt x="0" y="14288"/>
                </a:lnTo>
                <a:quadBezTo>
                  <a:pt x="0" y="0"/>
                  <a:pt x="1428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3" name="Shape 46"/>
          <p:cNvSpPr/>
          <p:nvPr/>
        </p:nvSpPr>
        <p:spPr>
          <a:xfrm>
            <a:off x="5524172" y="3301365"/>
            <a:ext cx="1976437" cy="28575"/>
          </a:xfrm>
          <a:custGeom>
            <a:avLst/>
            <a:gdLst/>
            <a:ahLst/>
            <a:cxnLst/>
            <a:rect l="l" t="t" r="r" b="b"/>
            <a:pathLst>
              <a:path w="1976437" h="28575">
                <a:moveTo>
                  <a:pt x="14288" y="0"/>
                </a:moveTo>
                <a:lnTo>
                  <a:pt x="1962150" y="0"/>
                </a:lnTo>
                <a:quadBezTo>
                  <a:pt x="1976437" y="0"/>
                  <a:pt x="1976437" y="14288"/>
                </a:quadBezTo>
                <a:lnTo>
                  <a:pt x="1976437" y="14288"/>
                </a:lnTo>
                <a:quadBezTo>
                  <a:pt x="1976437" y="28575"/>
                  <a:pt x="1962150" y="28575"/>
                </a:quadBezTo>
                <a:lnTo>
                  <a:pt x="14288" y="28575"/>
                </a:lnTo>
                <a:quadBezTo>
                  <a:pt x="0" y="28575"/>
                  <a:pt x="0" y="14288"/>
                </a:quadBezTo>
                <a:lnTo>
                  <a:pt x="0" y="14288"/>
                </a:lnTo>
                <a:quadBezTo>
                  <a:pt x="0" y="0"/>
                  <a:pt x="1428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4" name="Shape 47"/>
          <p:cNvSpPr/>
          <p:nvPr/>
        </p:nvSpPr>
        <p:spPr>
          <a:xfrm>
            <a:off x="5523666" y="3407092"/>
            <a:ext cx="2209800" cy="28575"/>
          </a:xfrm>
          <a:custGeom>
            <a:avLst/>
            <a:gdLst/>
            <a:ahLst/>
            <a:cxnLst/>
            <a:rect l="l" t="t" r="r" b="b"/>
            <a:pathLst>
              <a:path w="2209800" h="28575">
                <a:moveTo>
                  <a:pt x="14288" y="0"/>
                </a:moveTo>
                <a:lnTo>
                  <a:pt x="2195513" y="0"/>
                </a:lnTo>
                <a:quadBezTo>
                  <a:pt x="2209800" y="0"/>
                  <a:pt x="2209800" y="14288"/>
                </a:quadBezTo>
                <a:lnTo>
                  <a:pt x="2209800" y="14288"/>
                </a:lnTo>
                <a:quadBezTo>
                  <a:pt x="2209800" y="28575"/>
                  <a:pt x="2195513" y="28575"/>
                </a:quadBezTo>
                <a:lnTo>
                  <a:pt x="14288" y="28575"/>
                </a:lnTo>
                <a:quadBezTo>
                  <a:pt x="0" y="28575"/>
                  <a:pt x="0" y="14288"/>
                </a:quadBezTo>
                <a:lnTo>
                  <a:pt x="0" y="14288"/>
                </a:lnTo>
                <a:quadBezTo>
                  <a:pt x="0" y="0"/>
                  <a:pt x="14288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5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4737" y="3527823"/>
            <a:ext cx="104775" cy="104775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5676393" y="3511152"/>
            <a:ext cx="2528888" cy="138113"/>
          </a:xfrm>
          <a:custGeom>
            <a:avLst/>
            <a:gdLst/>
            <a:ahLst/>
            <a:cxnLst/>
            <a:rect l="l" t="t" r="r" b="b"/>
            <a:pathLst>
              <a:path w="2528888" h="138113">
                <a:moveTo>
                  <a:pt x="0" y="0"/>
                </a:moveTo>
                <a:lnTo>
                  <a:pt x="2528888" y="0"/>
                </a:lnTo>
                <a:lnTo>
                  <a:pt x="2528888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7" name="Text 49"/>
          <p:cNvSpPr/>
          <p:nvPr/>
        </p:nvSpPr>
        <p:spPr>
          <a:xfrm>
            <a:off x="5676393" y="3511152"/>
            <a:ext cx="252888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Turns complex evidence into an understandable story.</a:t>
            </a:r>
            <a:endParaRPr lang="en-US" sz="900" dirty="0"/>
          </a:p>
        </p:txBody>
      </p:sp>
      <p:sp>
        <p:nvSpPr>
          <p:cNvPr id="58" name="Shape 50"/>
          <p:cNvSpPr/>
          <p:nvPr/>
        </p:nvSpPr>
        <p:spPr>
          <a:xfrm>
            <a:off x="438150" y="4048125"/>
            <a:ext cx="2667000" cy="790575"/>
          </a:xfrm>
          <a:custGeom>
            <a:avLst/>
            <a:gdLst/>
            <a:ahLst/>
            <a:cxnLst/>
            <a:rect l="l" t="t" r="r" b="b"/>
            <a:pathLst>
              <a:path w="2667000" h="790575">
                <a:moveTo>
                  <a:pt x="99154" y="0"/>
                </a:moveTo>
                <a:lnTo>
                  <a:pt x="2567846" y="0"/>
                </a:lnTo>
                <a:quadBezTo>
                  <a:pt x="2667000" y="0"/>
                  <a:pt x="2667000" y="99154"/>
                </a:quadBezTo>
                <a:lnTo>
                  <a:pt x="2667000" y="691421"/>
                </a:lnTo>
                <a:quadBezTo>
                  <a:pt x="2667000" y="790575"/>
                  <a:pt x="2567846" y="790575"/>
                </a:quadBezTo>
                <a:lnTo>
                  <a:pt x="99154" y="790575"/>
                </a:lnTo>
                <a:quadBezTo>
                  <a:pt x="0" y="790575"/>
                  <a:pt x="0" y="691421"/>
                </a:quadBezTo>
                <a:lnTo>
                  <a:pt x="0" y="99154"/>
                </a:lnTo>
                <a:quadBezTo>
                  <a:pt x="0" y="0"/>
                  <a:pt x="99154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Shape 51"/>
          <p:cNvSpPr/>
          <p:nvPr/>
        </p:nvSpPr>
        <p:spPr>
          <a:xfrm>
            <a:off x="571500" y="4162425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65314" y="0"/>
                </a:moveTo>
                <a:lnTo>
                  <a:pt x="134711" y="0"/>
                </a:lnTo>
                <a:quadBezTo>
                  <a:pt x="200025" y="0"/>
                  <a:pt x="200025" y="65314"/>
                </a:quadBezTo>
                <a:lnTo>
                  <a:pt x="200025" y="134711"/>
                </a:lnTo>
                <a:quadBezTo>
                  <a:pt x="200025" y="200025"/>
                  <a:pt x="134711" y="200025"/>
                </a:quadBezTo>
                <a:lnTo>
                  <a:pt x="65314" y="200025"/>
                </a:lnTo>
                <a:quadBezTo>
                  <a:pt x="0" y="200025"/>
                  <a:pt x="0" y="134711"/>
                </a:quadBezTo>
                <a:lnTo>
                  <a:pt x="0" y="65314"/>
                </a:lnTo>
                <a:quadBezTo>
                  <a:pt x="0" y="0"/>
                  <a:pt x="6531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744" y="4207669"/>
            <a:ext cx="109537" cy="109537"/>
          </a:xfrm>
          <a:prstGeom prst="rect">
            <a:avLst/>
          </a:prstGeom>
        </p:spPr>
      </p:pic>
      <p:sp>
        <p:nvSpPr>
          <p:cNvPr id="61" name="Shape 52"/>
          <p:cNvSpPr/>
          <p:nvPr/>
        </p:nvSpPr>
        <p:spPr>
          <a:xfrm>
            <a:off x="857994" y="4161234"/>
            <a:ext cx="1981200" cy="180975"/>
          </a:xfrm>
          <a:custGeom>
            <a:avLst/>
            <a:gdLst/>
            <a:ahLst/>
            <a:cxnLst/>
            <a:rect l="l" t="t" r="r" b="b"/>
            <a:pathLst>
              <a:path w="1981200" h="180975">
                <a:moveTo>
                  <a:pt x="0" y="0"/>
                </a:moveTo>
                <a:lnTo>
                  <a:pt x="1981200" y="0"/>
                </a:lnTo>
                <a:lnTo>
                  <a:pt x="198120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2" name="Text 53"/>
          <p:cNvSpPr/>
          <p:nvPr/>
        </p:nvSpPr>
        <p:spPr>
          <a:xfrm>
            <a:off x="857994" y="4161234"/>
            <a:ext cx="19812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Warnings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857994" y="4374952"/>
            <a:ext cx="1981200" cy="123825"/>
          </a:xfrm>
          <a:custGeom>
            <a:avLst/>
            <a:gdLst/>
            <a:ahLst/>
            <a:cxnLst/>
            <a:rect l="l" t="t" r="r" b="b"/>
            <a:pathLst>
              <a:path w="1981200" h="123825">
                <a:moveTo>
                  <a:pt x="0" y="0"/>
                </a:moveTo>
                <a:lnTo>
                  <a:pt x="1981200" y="0"/>
                </a:lnTo>
                <a:lnTo>
                  <a:pt x="19812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4" name="Text 55"/>
          <p:cNvSpPr/>
          <p:nvPr/>
        </p:nvSpPr>
        <p:spPr>
          <a:xfrm>
            <a:off x="857994" y="4374952"/>
            <a:ext cx="19812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Surface missing or unusual inputs early.</a:t>
            </a:r>
            <a:endParaRPr lang="en-US" sz="900" dirty="0"/>
          </a:p>
        </p:txBody>
      </p:sp>
      <p:sp>
        <p:nvSpPr>
          <p:cNvPr id="65" name="Shape 56"/>
          <p:cNvSpPr/>
          <p:nvPr/>
        </p:nvSpPr>
        <p:spPr>
          <a:xfrm>
            <a:off x="3238500" y="4048125"/>
            <a:ext cx="2667000" cy="790575"/>
          </a:xfrm>
          <a:custGeom>
            <a:avLst/>
            <a:gdLst/>
            <a:ahLst/>
            <a:cxnLst/>
            <a:rect l="l" t="t" r="r" b="b"/>
            <a:pathLst>
              <a:path w="2667000" h="790575">
                <a:moveTo>
                  <a:pt x="99154" y="0"/>
                </a:moveTo>
                <a:lnTo>
                  <a:pt x="2567846" y="0"/>
                </a:lnTo>
                <a:quadBezTo>
                  <a:pt x="2667000" y="0"/>
                  <a:pt x="2667000" y="99154"/>
                </a:quadBezTo>
                <a:lnTo>
                  <a:pt x="2667000" y="691421"/>
                </a:lnTo>
                <a:quadBezTo>
                  <a:pt x="2667000" y="790575"/>
                  <a:pt x="2567846" y="790575"/>
                </a:quadBezTo>
                <a:lnTo>
                  <a:pt x="99154" y="790575"/>
                </a:lnTo>
                <a:quadBezTo>
                  <a:pt x="0" y="790575"/>
                  <a:pt x="0" y="691421"/>
                </a:quadBezTo>
                <a:lnTo>
                  <a:pt x="0" y="99154"/>
                </a:lnTo>
                <a:quadBezTo>
                  <a:pt x="0" y="0"/>
                  <a:pt x="99154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Shape 57"/>
          <p:cNvSpPr/>
          <p:nvPr/>
        </p:nvSpPr>
        <p:spPr>
          <a:xfrm>
            <a:off x="3371850" y="4162425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65314" y="0"/>
                </a:moveTo>
                <a:lnTo>
                  <a:pt x="134711" y="0"/>
                </a:lnTo>
                <a:quadBezTo>
                  <a:pt x="200025" y="0"/>
                  <a:pt x="200025" y="65314"/>
                </a:quadBezTo>
                <a:lnTo>
                  <a:pt x="200025" y="134711"/>
                </a:lnTo>
                <a:quadBezTo>
                  <a:pt x="200025" y="200025"/>
                  <a:pt x="134711" y="200025"/>
                </a:quadBezTo>
                <a:lnTo>
                  <a:pt x="65314" y="200025"/>
                </a:lnTo>
                <a:quadBezTo>
                  <a:pt x="0" y="200025"/>
                  <a:pt x="0" y="134711"/>
                </a:quadBezTo>
                <a:lnTo>
                  <a:pt x="0" y="65314"/>
                </a:lnTo>
                <a:quadBezTo>
                  <a:pt x="0" y="0"/>
                  <a:pt x="65314" y="0"/>
                </a:quadBezTo>
                <a:close/>
              </a:path>
            </a:pathLst>
          </a:custGeom>
          <a:solidFill>
            <a:srgbClr val="FDECEC"/>
          </a:solidFill>
          <a:ln/>
        </p:spPr>
      </p:sp>
      <p:pic>
        <p:nvPicPr>
          <p:cNvPr id="6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7094" y="4207669"/>
            <a:ext cx="109537" cy="109537"/>
          </a:xfrm>
          <a:prstGeom prst="rect">
            <a:avLst/>
          </a:prstGeom>
        </p:spPr>
      </p:pic>
      <p:sp>
        <p:nvSpPr>
          <p:cNvPr id="68" name="Shape 58"/>
          <p:cNvSpPr/>
          <p:nvPr/>
        </p:nvSpPr>
        <p:spPr>
          <a:xfrm>
            <a:off x="3658404" y="4161234"/>
            <a:ext cx="1976437" cy="180975"/>
          </a:xfrm>
          <a:custGeom>
            <a:avLst/>
            <a:gdLst/>
            <a:ahLst/>
            <a:cxnLst/>
            <a:rect l="l" t="t" r="r" b="b"/>
            <a:pathLst>
              <a:path w="1976437" h="180975">
                <a:moveTo>
                  <a:pt x="0" y="0"/>
                </a:moveTo>
                <a:lnTo>
                  <a:pt x="1976437" y="0"/>
                </a:lnTo>
                <a:lnTo>
                  <a:pt x="1976437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9" name="Text 59"/>
          <p:cNvSpPr/>
          <p:nvPr/>
        </p:nvSpPr>
        <p:spPr>
          <a:xfrm>
            <a:off x="3658404" y="4161234"/>
            <a:ext cx="19764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 flags</a:t>
            </a:r>
            <a:endParaRPr lang="en-US" sz="900" dirty="0"/>
          </a:p>
        </p:txBody>
      </p:sp>
      <p:sp>
        <p:nvSpPr>
          <p:cNvPr id="70" name="Shape 60"/>
          <p:cNvSpPr/>
          <p:nvPr/>
        </p:nvSpPr>
        <p:spPr>
          <a:xfrm>
            <a:off x="3658404" y="4374952"/>
            <a:ext cx="1976437" cy="123825"/>
          </a:xfrm>
          <a:custGeom>
            <a:avLst/>
            <a:gdLst/>
            <a:ahLst/>
            <a:cxnLst/>
            <a:rect l="l" t="t" r="r" b="b"/>
            <a:pathLst>
              <a:path w="1976437" h="123825">
                <a:moveTo>
                  <a:pt x="0" y="0"/>
                </a:moveTo>
                <a:lnTo>
                  <a:pt x="1976437" y="0"/>
                </a:lnTo>
                <a:lnTo>
                  <a:pt x="197643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1" name="Text 61"/>
          <p:cNvSpPr/>
          <p:nvPr/>
        </p:nvSpPr>
        <p:spPr>
          <a:xfrm>
            <a:off x="3658404" y="4374952"/>
            <a:ext cx="19764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 critical signals impossible to miss.</a:t>
            </a:r>
            <a:endParaRPr lang="en-US" sz="900" dirty="0"/>
          </a:p>
        </p:txBody>
      </p:sp>
      <p:sp>
        <p:nvSpPr>
          <p:cNvPr id="72" name="Shape 62"/>
          <p:cNvSpPr/>
          <p:nvPr/>
        </p:nvSpPr>
        <p:spPr>
          <a:xfrm>
            <a:off x="6038850" y="4048125"/>
            <a:ext cx="2667000" cy="790575"/>
          </a:xfrm>
          <a:custGeom>
            <a:avLst/>
            <a:gdLst/>
            <a:ahLst/>
            <a:cxnLst/>
            <a:rect l="l" t="t" r="r" b="b"/>
            <a:pathLst>
              <a:path w="2667000" h="790575">
                <a:moveTo>
                  <a:pt x="99154" y="0"/>
                </a:moveTo>
                <a:lnTo>
                  <a:pt x="2567846" y="0"/>
                </a:lnTo>
                <a:quadBezTo>
                  <a:pt x="2667000" y="0"/>
                  <a:pt x="2667000" y="99154"/>
                </a:quadBezTo>
                <a:lnTo>
                  <a:pt x="2667000" y="691421"/>
                </a:lnTo>
                <a:quadBezTo>
                  <a:pt x="2667000" y="790575"/>
                  <a:pt x="2567846" y="790575"/>
                </a:quadBezTo>
                <a:lnTo>
                  <a:pt x="99154" y="790575"/>
                </a:lnTo>
                <a:quadBezTo>
                  <a:pt x="0" y="790575"/>
                  <a:pt x="0" y="691421"/>
                </a:quadBezTo>
                <a:lnTo>
                  <a:pt x="0" y="99154"/>
                </a:lnTo>
                <a:quadBezTo>
                  <a:pt x="0" y="0"/>
                  <a:pt x="9915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73" name="Shape 63"/>
          <p:cNvSpPr/>
          <p:nvPr/>
        </p:nvSpPr>
        <p:spPr>
          <a:xfrm>
            <a:off x="6172200" y="4162425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65314" y="0"/>
                </a:moveTo>
                <a:lnTo>
                  <a:pt x="134711" y="0"/>
                </a:lnTo>
                <a:quadBezTo>
                  <a:pt x="200025" y="0"/>
                  <a:pt x="200025" y="65314"/>
                </a:quadBezTo>
                <a:lnTo>
                  <a:pt x="200025" y="134711"/>
                </a:lnTo>
                <a:quadBezTo>
                  <a:pt x="200025" y="200025"/>
                  <a:pt x="134711" y="200025"/>
                </a:quadBezTo>
                <a:lnTo>
                  <a:pt x="65314" y="200025"/>
                </a:lnTo>
                <a:quadBezTo>
                  <a:pt x="0" y="200025"/>
                  <a:pt x="0" y="134711"/>
                </a:quadBezTo>
                <a:lnTo>
                  <a:pt x="0" y="65314"/>
                </a:lnTo>
                <a:quadBezTo>
                  <a:pt x="0" y="0"/>
                  <a:pt x="65314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444" y="4207669"/>
            <a:ext cx="109537" cy="109537"/>
          </a:xfrm>
          <a:prstGeom prst="rect">
            <a:avLst/>
          </a:prstGeom>
        </p:spPr>
      </p:pic>
      <p:sp>
        <p:nvSpPr>
          <p:cNvPr id="75" name="Shape 64"/>
          <p:cNvSpPr/>
          <p:nvPr/>
        </p:nvSpPr>
        <p:spPr>
          <a:xfrm>
            <a:off x="6457950" y="4161234"/>
            <a:ext cx="2114550" cy="180975"/>
          </a:xfrm>
          <a:custGeom>
            <a:avLst/>
            <a:gdLst/>
            <a:ahLst/>
            <a:cxnLst/>
            <a:rect l="l" t="t" r="r" b="b"/>
            <a:pathLst>
              <a:path w="2114550" h="180975">
                <a:moveTo>
                  <a:pt x="0" y="0"/>
                </a:moveTo>
                <a:lnTo>
                  <a:pt x="2114550" y="0"/>
                </a:lnTo>
                <a:lnTo>
                  <a:pt x="2114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6" name="Text 65"/>
          <p:cNvSpPr/>
          <p:nvPr/>
        </p:nvSpPr>
        <p:spPr>
          <a:xfrm>
            <a:off x="6457950" y="4161234"/>
            <a:ext cx="2114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Student-friendly</a:t>
            </a:r>
            <a:endParaRPr lang="en-US" sz="900" dirty="0"/>
          </a:p>
        </p:txBody>
      </p:sp>
      <p:sp>
        <p:nvSpPr>
          <p:cNvPr id="77" name="Shape 66"/>
          <p:cNvSpPr/>
          <p:nvPr/>
        </p:nvSpPr>
        <p:spPr>
          <a:xfrm>
            <a:off x="6457950" y="4373166"/>
            <a:ext cx="2114550" cy="252412"/>
          </a:xfrm>
          <a:custGeom>
            <a:avLst/>
            <a:gdLst/>
            <a:ahLst/>
            <a:cxnLst/>
            <a:rect l="l" t="t" r="r" b="b"/>
            <a:pathLst>
              <a:path w="2114550" h="252412">
                <a:moveTo>
                  <a:pt x="0" y="0"/>
                </a:moveTo>
                <a:lnTo>
                  <a:pt x="2114550" y="0"/>
                </a:lnTo>
                <a:lnTo>
                  <a:pt x="2114550" y="252412"/>
                </a:lnTo>
                <a:lnTo>
                  <a:pt x="0" y="2524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8" name="Text 67"/>
          <p:cNvSpPr/>
          <p:nvPr/>
        </p:nvSpPr>
        <p:spPr>
          <a:xfrm>
            <a:off x="6457950" y="4373166"/>
            <a:ext cx="2114550" cy="252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6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 hierarchy keeps every next step clear.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DEMO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6351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6351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Working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2207"/>
            <a:ext cx="8229600" cy="204787"/>
          </a:xfrm>
          <a:custGeom>
            <a:avLst/>
            <a:gdLst/>
            <a:ahLst/>
            <a:cxnLst/>
            <a:rect l="l" t="t" r="r" b="b"/>
            <a:pathLst>
              <a:path w="8229600" h="204787">
                <a:moveTo>
                  <a:pt x="0" y="0"/>
                </a:moveTo>
                <a:lnTo>
                  <a:pt x="8229600" y="0"/>
                </a:lnTo>
                <a:lnTo>
                  <a:pt x="8229600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92207"/>
            <a:ext cx="8229600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sample dataset moves from user upload to a grounded dashboard explanation.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39354"/>
            <a:ext cx="3648075" cy="3062287"/>
          </a:xfrm>
          <a:custGeom>
            <a:avLst/>
            <a:gdLst/>
            <a:ahLst/>
            <a:cxnLst/>
            <a:rect l="l" t="t" r="r" b="b"/>
            <a:pathLst>
              <a:path w="3648075" h="3062287">
                <a:moveTo>
                  <a:pt x="34145" y="0"/>
                </a:moveTo>
                <a:lnTo>
                  <a:pt x="3613930" y="0"/>
                </a:lnTo>
                <a:quadBezTo>
                  <a:pt x="3648075" y="0"/>
                  <a:pt x="3648075" y="34145"/>
                </a:quadBezTo>
                <a:lnTo>
                  <a:pt x="3648075" y="3028143"/>
                </a:lnTo>
                <a:quadBezTo>
                  <a:pt x="3648075" y="3062287"/>
                  <a:pt x="3613930" y="3062287"/>
                </a:quadBezTo>
                <a:lnTo>
                  <a:pt x="34145" y="3062287"/>
                </a:lnTo>
                <a:quadBezTo>
                  <a:pt x="0" y="3062287"/>
                  <a:pt x="0" y="3028143"/>
                </a:quadBezTo>
                <a:lnTo>
                  <a:pt x="0" y="34145"/>
                </a:lnTo>
                <a:quadBezTo>
                  <a:pt x="0" y="0"/>
                  <a:pt x="3414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2" name="Shape 9"/>
          <p:cNvSpPr/>
          <p:nvPr/>
        </p:nvSpPr>
        <p:spPr>
          <a:xfrm>
            <a:off x="685800" y="26149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quadBezTo>
                  <a:pt x="304800" y="0"/>
                  <a:pt x="304800" y="57150"/>
                </a:quadBezTo>
                <a:lnTo>
                  <a:pt x="304800" y="247650"/>
                </a:lnTo>
                <a:quadBezTo>
                  <a:pt x="304800" y="304800"/>
                  <a:pt x="247650" y="304800"/>
                </a:quadBezTo>
                <a:lnTo>
                  <a:pt x="57150" y="304800"/>
                </a:lnTo>
                <a:quadBezTo>
                  <a:pt x="0" y="304800"/>
                  <a:pt x="0" y="247650"/>
                </a:quadBezTo>
                <a:lnTo>
                  <a:pt x="0" y="57150"/>
                </a:lnTo>
                <a:quadBezTo>
                  <a:pt x="0" y="0"/>
                  <a:pt x="57150" y="0"/>
                </a:quadBezTo>
                <a:close/>
              </a:path>
            </a:pathLst>
          </a:custGeom>
          <a:solidFill>
            <a:srgbClr val="0B1F3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63" y="2695873"/>
            <a:ext cx="142875" cy="14287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85195" y="2662535"/>
            <a:ext cx="1081087" cy="209550"/>
          </a:xfrm>
          <a:custGeom>
            <a:avLst/>
            <a:gdLst/>
            <a:ahLst/>
            <a:cxnLst/>
            <a:rect l="l" t="t" r="r" b="b"/>
            <a:pathLst>
              <a:path w="1081087" h="209550">
                <a:moveTo>
                  <a:pt x="0" y="0"/>
                </a:moveTo>
                <a:lnTo>
                  <a:pt x="1081087" y="0"/>
                </a:lnTo>
                <a:lnTo>
                  <a:pt x="1081087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1085195" y="2662535"/>
            <a:ext cx="10810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action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85800" y="3100685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" y="3100685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42171" y="3100208"/>
            <a:ext cx="1681162" cy="180975"/>
          </a:xfrm>
          <a:custGeom>
            <a:avLst/>
            <a:gdLst/>
            <a:ahLst/>
            <a:cxnLst/>
            <a:rect l="l" t="t" r="r" b="b"/>
            <a:pathLst>
              <a:path w="1681162" h="180975">
                <a:moveTo>
                  <a:pt x="0" y="0"/>
                </a:moveTo>
                <a:lnTo>
                  <a:pt x="1681162" y="0"/>
                </a:lnTo>
                <a:lnTo>
                  <a:pt x="1681162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942171" y="3100208"/>
            <a:ext cx="16811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a sample dataset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85800" y="3423583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" y="3423583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942945" y="3423106"/>
            <a:ext cx="1819275" cy="180975"/>
          </a:xfrm>
          <a:custGeom>
            <a:avLst/>
            <a:gdLst/>
            <a:ahLst/>
            <a:cxnLst/>
            <a:rect l="l" t="t" r="r" b="b"/>
            <a:pathLst>
              <a:path w="1819275" h="180975">
                <a:moveTo>
                  <a:pt x="0" y="0"/>
                </a:moveTo>
                <a:lnTo>
                  <a:pt x="1819275" y="0"/>
                </a:lnTo>
                <a:lnTo>
                  <a:pt x="1819275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942945" y="3423106"/>
            <a:ext cx="18192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the analysis workflow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85800" y="3783866"/>
            <a:ext cx="3190875" cy="142875"/>
          </a:xfrm>
          <a:custGeom>
            <a:avLst/>
            <a:gdLst/>
            <a:ahLst/>
            <a:cxnLst/>
            <a:rect l="l" t="t" r="r" b="b"/>
            <a:pathLst>
              <a:path w="3190875" h="142875">
                <a:moveTo>
                  <a:pt x="0" y="0"/>
                </a:moveTo>
                <a:lnTo>
                  <a:pt x="3190875" y="0"/>
                </a:lnTo>
                <a:lnTo>
                  <a:pt x="3190875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" y="3783866"/>
            <a:ext cx="3190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action initiates the full pipeline.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352925" y="3051393"/>
            <a:ext cx="438150" cy="438150"/>
          </a:xfrm>
          <a:custGeom>
            <a:avLst/>
            <a:gdLst/>
            <a:ahLst/>
            <a:cxnLst/>
            <a:rect l="l" t="t" r="r" b="b"/>
            <a:pathLst>
              <a:path w="438150" h="438150">
                <a:moveTo>
                  <a:pt x="0" y="219075"/>
                </a:moveTo>
                <a:cubicBezTo>
                  <a:pt x="0" y="340067"/>
                  <a:pt x="98083" y="438150"/>
                  <a:pt x="219075" y="438150"/>
                </a:cubicBezTo>
                <a:cubicBezTo>
                  <a:pt x="340067" y="438150"/>
                  <a:pt x="438150" y="340067"/>
                  <a:pt x="438150" y="219075"/>
                </a:cubicBezTo>
                <a:cubicBezTo>
                  <a:pt x="438150" y="98083"/>
                  <a:pt x="340067" y="0"/>
                  <a:pt x="219075" y="0"/>
                </a:cubicBezTo>
                <a:cubicBezTo>
                  <a:pt x="98083" y="0"/>
                  <a:pt x="0" y="98083"/>
                  <a:pt x="0" y="219075"/>
                </a:cubic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225" y="3165693"/>
            <a:ext cx="209550" cy="20955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038725" y="1739354"/>
            <a:ext cx="3648075" cy="3062287"/>
          </a:xfrm>
          <a:custGeom>
            <a:avLst/>
            <a:gdLst/>
            <a:ahLst/>
            <a:cxnLst/>
            <a:rect l="l" t="t" r="r" b="b"/>
            <a:pathLst>
              <a:path w="3648075" h="3062287">
                <a:moveTo>
                  <a:pt x="34145" y="0"/>
                </a:moveTo>
                <a:lnTo>
                  <a:pt x="3613930" y="0"/>
                </a:lnTo>
                <a:quadBezTo>
                  <a:pt x="3648075" y="0"/>
                  <a:pt x="3648075" y="34145"/>
                </a:quadBezTo>
                <a:lnTo>
                  <a:pt x="3648075" y="3028143"/>
                </a:lnTo>
                <a:quadBezTo>
                  <a:pt x="3648075" y="3062287"/>
                  <a:pt x="3613930" y="3062287"/>
                </a:quadBezTo>
                <a:lnTo>
                  <a:pt x="34145" y="3062287"/>
                </a:lnTo>
                <a:quadBezTo>
                  <a:pt x="0" y="3062287"/>
                  <a:pt x="0" y="3028143"/>
                </a:quadBezTo>
                <a:lnTo>
                  <a:pt x="0" y="34145"/>
                </a:lnTo>
                <a:quadBezTo>
                  <a:pt x="0" y="0"/>
                  <a:pt x="34145" y="0"/>
                </a:quadBezTo>
                <a:close/>
              </a:path>
            </a:pathLst>
          </a:custGeom>
          <a:solidFill>
            <a:srgbClr val="FFFFFF"/>
          </a:solidFill>
          <a:ln w="11430">
            <a:solidFill>
              <a:srgbClr val="0FA3B1"/>
            </a:solidFill>
            <a:prstDash val="solid"/>
          </a:ln>
          <a:effectLst>
            <a:outerShdw blurRad="142875" dist="57150" dir="2700000" algn="bl" rotWithShape="0">
              <a:srgbClr val="0B1F3A">
                <a:alpha val="7843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278752" y="245346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0"/>
                </a:moveTo>
                <a:lnTo>
                  <a:pt x="247650" y="0"/>
                </a:lnTo>
                <a:quadBezTo>
                  <a:pt x="304800" y="0"/>
                  <a:pt x="304800" y="57150"/>
                </a:quadBezTo>
                <a:lnTo>
                  <a:pt x="304800" y="247650"/>
                </a:lnTo>
                <a:quadBezTo>
                  <a:pt x="304800" y="304800"/>
                  <a:pt x="247650" y="304800"/>
                </a:quadBezTo>
                <a:lnTo>
                  <a:pt x="57150" y="304800"/>
                </a:lnTo>
                <a:quadBezTo>
                  <a:pt x="0" y="304800"/>
                  <a:pt x="0" y="247650"/>
                </a:quadBezTo>
                <a:lnTo>
                  <a:pt x="0" y="57150"/>
                </a:lnTo>
                <a:quadBezTo>
                  <a:pt x="0" y="0"/>
                  <a:pt x="57150" y="0"/>
                </a:quadBezTo>
                <a:close/>
              </a:path>
            </a:pathLst>
          </a:custGeom>
          <a:solidFill>
            <a:srgbClr val="0FA3B1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715" y="2534423"/>
            <a:ext cx="142875" cy="142875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5678951" y="2501086"/>
            <a:ext cx="1614488" cy="209550"/>
          </a:xfrm>
          <a:custGeom>
            <a:avLst/>
            <a:gdLst/>
            <a:ahLst/>
            <a:cxnLst/>
            <a:rect l="l" t="t" r="r" b="b"/>
            <a:pathLst>
              <a:path w="1614488" h="209550">
                <a:moveTo>
                  <a:pt x="0" y="0"/>
                </a:moveTo>
                <a:lnTo>
                  <a:pt x="1614488" y="0"/>
                </a:lnTo>
                <a:lnTo>
                  <a:pt x="1614488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5678951" y="2501086"/>
            <a:ext cx="16144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response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5278752" y="2939236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34" name="Text 28"/>
          <p:cNvSpPr/>
          <p:nvPr/>
        </p:nvSpPr>
        <p:spPr>
          <a:xfrm>
            <a:off x="5278752" y="2939236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5535451" y="2938760"/>
            <a:ext cx="2114550" cy="180975"/>
          </a:xfrm>
          <a:custGeom>
            <a:avLst/>
            <a:gdLst/>
            <a:ahLst/>
            <a:cxnLst/>
            <a:rect l="l" t="t" r="r" b="b"/>
            <a:pathLst>
              <a:path w="2114550" h="180975">
                <a:moveTo>
                  <a:pt x="0" y="0"/>
                </a:moveTo>
                <a:lnTo>
                  <a:pt x="2114550" y="0"/>
                </a:lnTo>
                <a:lnTo>
                  <a:pt x="21145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5535451" y="2938760"/>
            <a:ext cx="2114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Extract, normalize, and validate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278752" y="3262133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38" name="Text 32"/>
          <p:cNvSpPr/>
          <p:nvPr/>
        </p:nvSpPr>
        <p:spPr>
          <a:xfrm>
            <a:off x="5278752" y="3262133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5535183" y="3261658"/>
            <a:ext cx="2152650" cy="180975"/>
          </a:xfrm>
          <a:custGeom>
            <a:avLst/>
            <a:gdLst/>
            <a:ahLst/>
            <a:cxnLst/>
            <a:rect l="l" t="t" r="r" b="b"/>
            <a:pathLst>
              <a:path w="2152650" h="180975">
                <a:moveTo>
                  <a:pt x="0" y="0"/>
                </a:moveTo>
                <a:lnTo>
                  <a:pt x="2152650" y="0"/>
                </a:lnTo>
                <a:lnTo>
                  <a:pt x="215265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5535183" y="3261658"/>
            <a:ext cx="21526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 verified metrics to the LLM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5278752" y="3585031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0B1F3A"/>
          </a:solidFill>
          <a:ln/>
        </p:spPr>
      </p:sp>
      <p:sp>
        <p:nvSpPr>
          <p:cNvPr id="42" name="Text 36"/>
          <p:cNvSpPr/>
          <p:nvPr/>
        </p:nvSpPr>
        <p:spPr>
          <a:xfrm>
            <a:off x="5278752" y="3585031"/>
            <a:ext cx="1619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536195" y="3584555"/>
            <a:ext cx="2157413" cy="180975"/>
          </a:xfrm>
          <a:custGeom>
            <a:avLst/>
            <a:gdLst/>
            <a:ahLst/>
            <a:cxnLst/>
            <a:rect l="l" t="t" r="r" b="b"/>
            <a:pathLst>
              <a:path w="2157413" h="180975">
                <a:moveTo>
                  <a:pt x="0" y="0"/>
                </a:moveTo>
                <a:lnTo>
                  <a:pt x="2157413" y="0"/>
                </a:lnTo>
                <a:lnTo>
                  <a:pt x="215741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5536195" y="3584555"/>
            <a:ext cx="21574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a grounded explanation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5279227" y="3945315"/>
            <a:ext cx="3167063" cy="142875"/>
          </a:xfrm>
          <a:custGeom>
            <a:avLst/>
            <a:gdLst/>
            <a:ahLst/>
            <a:cxnLst/>
            <a:rect l="l" t="t" r="r" b="b"/>
            <a:pathLst>
              <a:path w="3167063" h="142875">
                <a:moveTo>
                  <a:pt x="0" y="0"/>
                </a:moveTo>
                <a:lnTo>
                  <a:pt x="3167063" y="0"/>
                </a:lnTo>
                <a:lnTo>
                  <a:pt x="3167063" y="142875"/>
                </a:lnTo>
                <a:lnTo>
                  <a:pt x="0" y="1428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5279227" y="3945315"/>
            <a:ext cx="31670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dashboard shows evidence-backed output.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9004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9004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FRAMEWORK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604926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04926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and Validation Strategy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30784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1030784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layer is tested for correctness, resilience, grounding, and stability.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6396" y="2051775"/>
            <a:ext cx="2605087" cy="2728913"/>
          </a:xfrm>
          <a:custGeom>
            <a:avLst/>
            <a:gdLst/>
            <a:ahLst/>
            <a:cxnLst/>
            <a:rect l="l" t="t" r="r" b="b"/>
            <a:pathLst>
              <a:path w="2605087" h="2728913">
                <a:moveTo>
                  <a:pt x="36784" y="0"/>
                </a:moveTo>
                <a:lnTo>
                  <a:pt x="2568304" y="0"/>
                </a:lnTo>
                <a:quadBezTo>
                  <a:pt x="2605087" y="0"/>
                  <a:pt x="2605087" y="36784"/>
                </a:quadBezTo>
                <a:lnTo>
                  <a:pt x="2605087" y="2692129"/>
                </a:lnTo>
                <a:quadBezTo>
                  <a:pt x="2605087" y="2728913"/>
                  <a:pt x="2568304" y="2728913"/>
                </a:quadBezTo>
                <a:lnTo>
                  <a:pt x="36784" y="2728913"/>
                </a:lnTo>
                <a:quadBezTo>
                  <a:pt x="0" y="2728913"/>
                  <a:pt x="0" y="2692129"/>
                </a:quadBezTo>
                <a:lnTo>
                  <a:pt x="0" y="36784"/>
                </a:lnTo>
                <a:quadBezTo>
                  <a:pt x="0" y="0"/>
                  <a:pt x="3678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76200" dir="2700000" algn="bl" rotWithShape="0">
              <a:srgbClr val="0B1F3A">
                <a:alpha val="10196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255699"/>
            <a:ext cx="161925" cy="16192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13745" y="2250937"/>
            <a:ext cx="1104900" cy="171450"/>
          </a:xfrm>
          <a:custGeom>
            <a:avLst/>
            <a:gdLst/>
            <a:ahLst/>
            <a:cxnLst/>
            <a:rect l="l" t="t" r="r" b="b"/>
            <a:pathLst>
              <a:path w="1104900" h="171450">
                <a:moveTo>
                  <a:pt x="0" y="0"/>
                </a:moveTo>
                <a:lnTo>
                  <a:pt x="1104900" y="0"/>
                </a:lnTo>
                <a:lnTo>
                  <a:pt x="11049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13745" y="2250937"/>
            <a:ext cx="1104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FILE PIPELINE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65946" y="2537402"/>
            <a:ext cx="2185988" cy="228600"/>
          </a:xfrm>
          <a:custGeom>
            <a:avLst/>
            <a:gdLst/>
            <a:ahLst/>
            <a:cxnLst/>
            <a:rect l="l" t="t" r="r" b="b"/>
            <a:pathLst>
              <a:path w="2185988" h="228600">
                <a:moveTo>
                  <a:pt x="0" y="0"/>
                </a:moveTo>
                <a:lnTo>
                  <a:pt x="2185988" y="0"/>
                </a:lnTo>
                <a:lnTo>
                  <a:pt x="2185988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65946" y="2537402"/>
            <a:ext cx="2185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Validated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66750" y="2881045"/>
            <a:ext cx="2047875" cy="547687"/>
          </a:xfrm>
          <a:custGeom>
            <a:avLst/>
            <a:gdLst/>
            <a:ahLst/>
            <a:cxnLst/>
            <a:rect l="l" t="t" r="r" b="b"/>
            <a:pathLst>
              <a:path w="2047875" h="547687">
                <a:moveTo>
                  <a:pt x="0" y="0"/>
                </a:moveTo>
                <a:lnTo>
                  <a:pt x="2047875" y="0"/>
                </a:lnTo>
                <a:lnTo>
                  <a:pt x="2047875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66750" y="2881045"/>
            <a:ext cx="2047875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PDF upload, extraction, and calculation paths are tested together.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65946" y="4175760"/>
            <a:ext cx="2185988" cy="423862"/>
          </a:xfrm>
          <a:custGeom>
            <a:avLst/>
            <a:gdLst/>
            <a:ahLst/>
            <a:cxnLst/>
            <a:rect l="l" t="t" r="r" b="b"/>
            <a:pathLst>
              <a:path w="2185988" h="423862">
                <a:moveTo>
                  <a:pt x="0" y="0"/>
                </a:moveTo>
                <a:lnTo>
                  <a:pt x="2185988" y="0"/>
                </a:lnTo>
                <a:lnTo>
                  <a:pt x="2185988" y="423862"/>
                </a:lnTo>
                <a:lnTo>
                  <a:pt x="0" y="4238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65946" y="4175760"/>
            <a:ext cx="2185988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arrives cleanly. Results compute correctly.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269425" y="2051775"/>
            <a:ext cx="2605087" cy="2728913"/>
          </a:xfrm>
          <a:custGeom>
            <a:avLst/>
            <a:gdLst/>
            <a:ahLst/>
            <a:cxnLst/>
            <a:rect l="l" t="t" r="r" b="b"/>
            <a:pathLst>
              <a:path w="2605087" h="2728913">
                <a:moveTo>
                  <a:pt x="36784" y="0"/>
                </a:moveTo>
                <a:lnTo>
                  <a:pt x="2568304" y="0"/>
                </a:lnTo>
                <a:quadBezTo>
                  <a:pt x="2605087" y="0"/>
                  <a:pt x="2605087" y="36784"/>
                </a:quadBezTo>
                <a:lnTo>
                  <a:pt x="2605087" y="2692129"/>
                </a:lnTo>
                <a:quadBezTo>
                  <a:pt x="2605087" y="2728913"/>
                  <a:pt x="2568304" y="2728913"/>
                </a:quadBezTo>
                <a:lnTo>
                  <a:pt x="36784" y="2728913"/>
                </a:lnTo>
                <a:quadBezTo>
                  <a:pt x="0" y="2728913"/>
                  <a:pt x="0" y="2692129"/>
                </a:quadBezTo>
                <a:lnTo>
                  <a:pt x="0" y="36784"/>
                </a:lnTo>
                <a:quadBezTo>
                  <a:pt x="0" y="0"/>
                  <a:pt x="3678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76200" dir="2700000" algn="bl" rotWithShape="0">
              <a:srgbClr val="0B1F3A">
                <a:alpha val="10196"/>
              </a:srgbClr>
            </a:outerShdw>
          </a:effectLst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9778" y="2255699"/>
            <a:ext cx="161925" cy="16192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3726981" y="2250937"/>
            <a:ext cx="1400175" cy="171450"/>
          </a:xfrm>
          <a:custGeom>
            <a:avLst/>
            <a:gdLst/>
            <a:ahLst/>
            <a:cxnLst/>
            <a:rect l="l" t="t" r="r" b="b"/>
            <a:pathLst>
              <a:path w="1400175" h="171450">
                <a:moveTo>
                  <a:pt x="0" y="0"/>
                </a:moveTo>
                <a:lnTo>
                  <a:pt x="1400175" y="0"/>
                </a:lnTo>
                <a:lnTo>
                  <a:pt x="140017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3726981" y="2250937"/>
            <a:ext cx="14001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INPUT RESILIENCE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478975" y="2537402"/>
            <a:ext cx="2185988" cy="228600"/>
          </a:xfrm>
          <a:custGeom>
            <a:avLst/>
            <a:gdLst/>
            <a:ahLst/>
            <a:cxnLst/>
            <a:rect l="l" t="t" r="r" b="b"/>
            <a:pathLst>
              <a:path w="2185988" h="228600">
                <a:moveTo>
                  <a:pt x="0" y="0"/>
                </a:moveTo>
                <a:lnTo>
                  <a:pt x="2185988" y="0"/>
                </a:lnTo>
                <a:lnTo>
                  <a:pt x="2185988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3478975" y="2537402"/>
            <a:ext cx="2185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3479778" y="2880241"/>
            <a:ext cx="2047875" cy="366712"/>
          </a:xfrm>
          <a:custGeom>
            <a:avLst/>
            <a:gdLst/>
            <a:ahLst/>
            <a:cxnLst/>
            <a:rect l="l" t="t" r="r" b="b"/>
            <a:pathLst>
              <a:path w="2047875" h="366712">
                <a:moveTo>
                  <a:pt x="0" y="0"/>
                </a:moveTo>
                <a:lnTo>
                  <a:pt x="2047875" y="0"/>
                </a:lnTo>
                <a:lnTo>
                  <a:pt x="2047875" y="366712"/>
                </a:lnTo>
                <a:lnTo>
                  <a:pt x="0" y="366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3479778" y="2880241"/>
            <a:ext cx="2047875" cy="366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Missing-data and invalid-input cases are deliberately exercised.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3478975" y="4175760"/>
            <a:ext cx="2185988" cy="423862"/>
          </a:xfrm>
          <a:custGeom>
            <a:avLst/>
            <a:gdLst/>
            <a:ahLst/>
            <a:cxnLst/>
            <a:rect l="l" t="t" r="r" b="b"/>
            <a:pathLst>
              <a:path w="2185988" h="423862">
                <a:moveTo>
                  <a:pt x="0" y="0"/>
                </a:moveTo>
                <a:lnTo>
                  <a:pt x="2185988" y="0"/>
                </a:lnTo>
                <a:lnTo>
                  <a:pt x="2185988" y="423862"/>
                </a:lnTo>
                <a:lnTo>
                  <a:pt x="0" y="4238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478975" y="4175760"/>
            <a:ext cx="2185988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Unexpected inputs remain visible and controlled.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082458" y="2051775"/>
            <a:ext cx="2605087" cy="2728913"/>
          </a:xfrm>
          <a:custGeom>
            <a:avLst/>
            <a:gdLst/>
            <a:ahLst/>
            <a:cxnLst/>
            <a:rect l="l" t="t" r="r" b="b"/>
            <a:pathLst>
              <a:path w="2605087" h="2728913">
                <a:moveTo>
                  <a:pt x="36784" y="0"/>
                </a:moveTo>
                <a:lnTo>
                  <a:pt x="2568304" y="0"/>
                </a:lnTo>
                <a:quadBezTo>
                  <a:pt x="2605087" y="0"/>
                  <a:pt x="2605087" y="36784"/>
                </a:quadBezTo>
                <a:lnTo>
                  <a:pt x="2605087" y="2692129"/>
                </a:lnTo>
                <a:quadBezTo>
                  <a:pt x="2605087" y="2728913"/>
                  <a:pt x="2568304" y="2728913"/>
                </a:quadBezTo>
                <a:lnTo>
                  <a:pt x="36784" y="2728913"/>
                </a:lnTo>
                <a:quadBezTo>
                  <a:pt x="0" y="2728913"/>
                  <a:pt x="0" y="2692129"/>
                </a:quadBezTo>
                <a:lnTo>
                  <a:pt x="0" y="36784"/>
                </a:lnTo>
                <a:quadBezTo>
                  <a:pt x="0" y="0"/>
                  <a:pt x="3678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76200" dir="2700000" algn="bl" rotWithShape="0">
              <a:srgbClr val="0B1F3A">
                <a:alpha val="10196"/>
              </a:srgbClr>
            </a:outerShdw>
          </a:effectLst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811" y="2255699"/>
            <a:ext cx="161925" cy="161925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540312" y="2250937"/>
            <a:ext cx="1476375" cy="171450"/>
          </a:xfrm>
          <a:custGeom>
            <a:avLst/>
            <a:gdLst/>
            <a:ahLst/>
            <a:cxnLst/>
            <a:rect l="l" t="t" r="r" b="b"/>
            <a:pathLst>
              <a:path w="1476375" h="171450">
                <a:moveTo>
                  <a:pt x="0" y="0"/>
                </a:moveTo>
                <a:lnTo>
                  <a:pt x="1476375" y="0"/>
                </a:lnTo>
                <a:lnTo>
                  <a:pt x="147637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8"/>
          <p:cNvSpPr/>
          <p:nvPr/>
        </p:nvSpPr>
        <p:spPr>
          <a:xfrm>
            <a:off x="6540312" y="2250937"/>
            <a:ext cx="14763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TRUSTED DELIVERY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292008" y="2537402"/>
            <a:ext cx="2185988" cy="228600"/>
          </a:xfrm>
          <a:custGeom>
            <a:avLst/>
            <a:gdLst/>
            <a:ahLst/>
            <a:cxnLst/>
            <a:rect l="l" t="t" r="r" b="b"/>
            <a:pathLst>
              <a:path w="2185988" h="228600">
                <a:moveTo>
                  <a:pt x="0" y="0"/>
                </a:moveTo>
                <a:lnTo>
                  <a:pt x="2185988" y="0"/>
                </a:lnTo>
                <a:lnTo>
                  <a:pt x="2185988" y="22860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0"/>
          <p:cNvSpPr/>
          <p:nvPr/>
        </p:nvSpPr>
        <p:spPr>
          <a:xfrm>
            <a:off x="6292008" y="2537402"/>
            <a:ext cx="21859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292811" y="2881045"/>
            <a:ext cx="2047875" cy="547687"/>
          </a:xfrm>
          <a:custGeom>
            <a:avLst/>
            <a:gdLst/>
            <a:ahLst/>
            <a:cxnLst/>
            <a:rect l="l" t="t" r="r" b="b"/>
            <a:pathLst>
              <a:path w="2047875" h="547687">
                <a:moveTo>
                  <a:pt x="0" y="0"/>
                </a:moveTo>
                <a:lnTo>
                  <a:pt x="2047875" y="0"/>
                </a:lnTo>
                <a:lnTo>
                  <a:pt x="2047875" y="547687"/>
                </a:lnTo>
                <a:lnTo>
                  <a:pt x="0" y="5476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2"/>
          <p:cNvSpPr/>
          <p:nvPr/>
        </p:nvSpPr>
        <p:spPr>
          <a:xfrm>
            <a:off x="6292811" y="2881045"/>
            <a:ext cx="2047875" cy="547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217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responses are checked for grounding across end-to-end and UI flows.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6292008" y="4175760"/>
            <a:ext cx="2185988" cy="423862"/>
          </a:xfrm>
          <a:custGeom>
            <a:avLst/>
            <a:gdLst/>
            <a:ahLst/>
            <a:cxnLst/>
            <a:rect l="l" t="t" r="r" b="b"/>
            <a:pathLst>
              <a:path w="2185988" h="423862">
                <a:moveTo>
                  <a:pt x="0" y="0"/>
                </a:moveTo>
                <a:lnTo>
                  <a:pt x="2185988" y="0"/>
                </a:lnTo>
                <a:lnTo>
                  <a:pt x="2185988" y="423862"/>
                </a:lnTo>
                <a:lnTo>
                  <a:pt x="0" y="4238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/>
          <p:nvPr/>
        </p:nvSpPr>
        <p:spPr>
          <a:xfrm>
            <a:off x="6292008" y="4175760"/>
            <a:ext cx="2185988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experience stays reliable from prompt to screen.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370999"/>
            <a:ext cx="8229600" cy="138113"/>
          </a:xfrm>
          <a:custGeom>
            <a:avLst/>
            <a:gdLst/>
            <a:ahLst/>
            <a:cxnLst/>
            <a:rect l="l" t="t" r="r" b="b"/>
            <a:pathLst>
              <a:path w="8229600" h="138113">
                <a:moveTo>
                  <a:pt x="0" y="0"/>
                </a:moveTo>
                <a:lnTo>
                  <a:pt x="8229600" y="0"/>
                </a:lnTo>
                <a:lnTo>
                  <a:pt x="8229600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70999"/>
            <a:ext cx="8229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CLOSEOUT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576351"/>
            <a:ext cx="8229600" cy="347663"/>
          </a:xfrm>
          <a:custGeom>
            <a:avLst/>
            <a:gdLst/>
            <a:ahLst/>
            <a:cxnLst/>
            <a:rect l="l" t="t" r="r" b="b"/>
            <a:pathLst>
              <a:path w="8229600" h="347663">
                <a:moveTo>
                  <a:pt x="0" y="0"/>
                </a:moveTo>
                <a:lnTo>
                  <a:pt x="8229600" y="0"/>
                </a:lnTo>
                <a:lnTo>
                  <a:pt x="8229600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76351"/>
            <a:ext cx="8229600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Progress and Next Steps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992684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992684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foundation is defined; implementation now moves from design into delivery.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944" y="1975574"/>
            <a:ext cx="5353050" cy="2824163"/>
          </a:xfrm>
          <a:custGeom>
            <a:avLst/>
            <a:gdLst/>
            <a:ahLst/>
            <a:cxnLst/>
            <a:rect l="l" t="t" r="r" b="b"/>
            <a:pathLst>
              <a:path w="5353050" h="2824163">
                <a:moveTo>
                  <a:pt x="33918" y="0"/>
                </a:moveTo>
                <a:lnTo>
                  <a:pt x="5319132" y="0"/>
                </a:lnTo>
                <a:quadBezTo>
                  <a:pt x="5353050" y="0"/>
                  <a:pt x="5353050" y="33918"/>
                </a:quadBezTo>
                <a:lnTo>
                  <a:pt x="5353050" y="2790244"/>
                </a:lnTo>
                <a:quadBezTo>
                  <a:pt x="5353050" y="2824163"/>
                  <a:pt x="5319132" y="2824163"/>
                </a:quadBezTo>
                <a:lnTo>
                  <a:pt x="33918" y="2824163"/>
                </a:lnTo>
                <a:quadBezTo>
                  <a:pt x="0" y="2824163"/>
                  <a:pt x="0" y="2790244"/>
                </a:quadBezTo>
                <a:lnTo>
                  <a:pt x="0" y="33918"/>
                </a:lnTo>
                <a:quadBezTo>
                  <a:pt x="0" y="0"/>
                  <a:pt x="3391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1F3A">
                <a:alpha val="7843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4644" y="2333447"/>
            <a:ext cx="4819650" cy="161925"/>
          </a:xfrm>
          <a:custGeom>
            <a:avLst/>
            <a:gdLst/>
            <a:ahLst/>
            <a:cxnLst/>
            <a:rect l="l" t="t" r="r" b="b"/>
            <a:pathLst>
              <a:path w="4819650" h="161925">
                <a:moveTo>
                  <a:pt x="0" y="0"/>
                </a:moveTo>
                <a:lnTo>
                  <a:pt x="4819650" y="0"/>
                </a:lnTo>
                <a:lnTo>
                  <a:pt x="4819650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24644" y="2333447"/>
            <a:ext cx="48196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565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Delivery path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23900" y="2656343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123825"/>
                </a:moveTo>
                <a:cubicBezTo>
                  <a:pt x="0" y="192212"/>
                  <a:pt x="55438" y="247650"/>
                  <a:pt x="123825" y="247650"/>
                </a:cubicBezTo>
                <a:cubicBezTo>
                  <a:pt x="192212" y="247650"/>
                  <a:pt x="247650" y="192212"/>
                  <a:pt x="247650" y="123825"/>
                </a:cubicBezTo>
                <a:cubicBezTo>
                  <a:pt x="247650" y="55438"/>
                  <a:pt x="192212" y="0"/>
                  <a:pt x="123825" y="0"/>
                </a:cubicBezTo>
                <a:cubicBezTo>
                  <a:pt x="55438" y="0"/>
                  <a:pt x="0" y="55438"/>
                  <a:pt x="0" y="123825"/>
                </a:cubicBezTo>
                <a:close/>
              </a:path>
            </a:pathLst>
          </a:custGeom>
          <a:solidFill>
            <a:srgbClr val="0FA3B1"/>
          </a:solidFill>
          <a:ln/>
        </p:spPr>
      </p:sp>
      <p:sp>
        <p:nvSpPr>
          <p:cNvPr id="15" name="Text 12"/>
          <p:cNvSpPr/>
          <p:nvPr/>
        </p:nvSpPr>
        <p:spPr>
          <a:xfrm>
            <a:off x="723900" y="2656343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86594" y="2657296"/>
            <a:ext cx="4457700" cy="180975"/>
          </a:xfrm>
          <a:custGeom>
            <a:avLst/>
            <a:gdLst/>
            <a:ahLst/>
            <a:cxnLst/>
            <a:rect l="l" t="t" r="r" b="b"/>
            <a:pathLst>
              <a:path w="4457700" h="180975">
                <a:moveTo>
                  <a:pt x="0" y="0"/>
                </a:moveTo>
                <a:lnTo>
                  <a:pt x="4457700" y="0"/>
                </a:lnTo>
                <a:lnTo>
                  <a:pt x="445770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086594" y="2657296"/>
            <a:ext cx="4457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 finalized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86594" y="2877801"/>
            <a:ext cx="4457700" cy="333375"/>
          </a:xfrm>
          <a:custGeom>
            <a:avLst/>
            <a:gdLst/>
            <a:ahLst/>
            <a:cxnLst/>
            <a:rect l="l" t="t" r="r" b="b"/>
            <a:pathLst>
              <a:path w="4457700" h="333375">
                <a:moveTo>
                  <a:pt x="0" y="0"/>
                </a:moveTo>
                <a:lnTo>
                  <a:pt x="4457700" y="0"/>
                </a:lnTo>
                <a:lnTo>
                  <a:pt x="44577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086594" y="2877801"/>
            <a:ext cx="4457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Architecture, modules, data flow, calculation, and output structure are defined.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23900" y="3354527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123825"/>
                </a:moveTo>
                <a:cubicBezTo>
                  <a:pt x="0" y="192212"/>
                  <a:pt x="55438" y="247650"/>
                  <a:pt x="123825" y="247650"/>
                </a:cubicBezTo>
                <a:cubicBezTo>
                  <a:pt x="192212" y="247650"/>
                  <a:pt x="247650" y="192212"/>
                  <a:pt x="247650" y="123825"/>
                </a:cubicBezTo>
                <a:cubicBezTo>
                  <a:pt x="247650" y="55438"/>
                  <a:pt x="192212" y="0"/>
                  <a:pt x="123825" y="0"/>
                </a:cubicBezTo>
                <a:cubicBezTo>
                  <a:pt x="55438" y="0"/>
                  <a:pt x="0" y="55438"/>
                  <a:pt x="0" y="1238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1" name="Text 18"/>
          <p:cNvSpPr/>
          <p:nvPr/>
        </p:nvSpPr>
        <p:spPr>
          <a:xfrm>
            <a:off x="723900" y="3354527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086594" y="3355478"/>
            <a:ext cx="4457700" cy="180975"/>
          </a:xfrm>
          <a:custGeom>
            <a:avLst/>
            <a:gdLst/>
            <a:ahLst/>
            <a:cxnLst/>
            <a:rect l="l" t="t" r="r" b="b"/>
            <a:pathLst>
              <a:path w="4457700" h="180975">
                <a:moveTo>
                  <a:pt x="0" y="0"/>
                </a:moveTo>
                <a:lnTo>
                  <a:pt x="4457700" y="0"/>
                </a:lnTo>
                <a:lnTo>
                  <a:pt x="4457700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086594" y="3355478"/>
            <a:ext cx="44577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working pipeline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086594" y="3575982"/>
            <a:ext cx="4457700" cy="333375"/>
          </a:xfrm>
          <a:custGeom>
            <a:avLst/>
            <a:gdLst/>
            <a:ahLst/>
            <a:cxnLst/>
            <a:rect l="l" t="t" r="r" b="b"/>
            <a:pathLst>
              <a:path w="4457700" h="333375">
                <a:moveTo>
                  <a:pt x="0" y="0"/>
                </a:moveTo>
                <a:lnTo>
                  <a:pt x="4457700" y="0"/>
                </a:lnTo>
                <a:lnTo>
                  <a:pt x="44577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086594" y="3575982"/>
            <a:ext cx="44577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Extraction, validation, LLM processing, and dashboard integration come next.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23900" y="4052710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123825"/>
                </a:moveTo>
                <a:cubicBezTo>
                  <a:pt x="0" y="192212"/>
                  <a:pt x="55438" y="247650"/>
                  <a:pt x="123825" y="247650"/>
                </a:cubicBezTo>
                <a:cubicBezTo>
                  <a:pt x="192212" y="247650"/>
                  <a:pt x="247650" y="192212"/>
                  <a:pt x="247650" y="123825"/>
                </a:cubicBezTo>
                <a:cubicBezTo>
                  <a:pt x="247650" y="55438"/>
                  <a:pt x="192212" y="0"/>
                  <a:pt x="123825" y="0"/>
                </a:cubicBezTo>
                <a:cubicBezTo>
                  <a:pt x="55438" y="0"/>
                  <a:pt x="0" y="55438"/>
                  <a:pt x="0" y="1238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7" name="Text 24"/>
          <p:cNvSpPr/>
          <p:nvPr/>
        </p:nvSpPr>
        <p:spPr>
          <a:xfrm>
            <a:off x="723900" y="405271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86803" y="4053662"/>
            <a:ext cx="4062412" cy="180975"/>
          </a:xfrm>
          <a:custGeom>
            <a:avLst/>
            <a:gdLst/>
            <a:ahLst/>
            <a:cxnLst/>
            <a:rect l="l" t="t" r="r" b="b"/>
            <a:pathLst>
              <a:path w="4062412" h="180975">
                <a:moveTo>
                  <a:pt x="0" y="0"/>
                </a:moveTo>
                <a:lnTo>
                  <a:pt x="4062412" y="0"/>
                </a:lnTo>
                <a:lnTo>
                  <a:pt x="4062412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086803" y="4053662"/>
            <a:ext cx="406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1F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 and present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086803" y="4273927"/>
            <a:ext cx="4062412" cy="166688"/>
          </a:xfrm>
          <a:custGeom>
            <a:avLst/>
            <a:gdLst/>
            <a:ahLst/>
            <a:cxnLst/>
            <a:rect l="l" t="t" r="r" b="b"/>
            <a:pathLst>
              <a:path w="4062412" h="166688">
                <a:moveTo>
                  <a:pt x="0" y="0"/>
                </a:moveTo>
                <a:lnTo>
                  <a:pt x="4062412" y="0"/>
                </a:lnTo>
                <a:lnTo>
                  <a:pt x="4062412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086803" y="4273927"/>
            <a:ext cx="4062412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 and final demo preparation complete the path to delivery.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115794" y="1975574"/>
            <a:ext cx="2571750" cy="2824163"/>
          </a:xfrm>
          <a:custGeom>
            <a:avLst/>
            <a:gdLst/>
            <a:ahLst/>
            <a:cxnLst/>
            <a:rect l="l" t="t" r="r" b="b"/>
            <a:pathLst>
              <a:path w="2571750" h="2824163">
                <a:moveTo>
                  <a:pt x="37265" y="0"/>
                </a:moveTo>
                <a:lnTo>
                  <a:pt x="2534485" y="0"/>
                </a:lnTo>
                <a:quadBezTo>
                  <a:pt x="2571750" y="0"/>
                  <a:pt x="2571750" y="37265"/>
                </a:quadBezTo>
                <a:lnTo>
                  <a:pt x="2571750" y="2786898"/>
                </a:lnTo>
                <a:quadBezTo>
                  <a:pt x="2571750" y="2824163"/>
                  <a:pt x="2534485" y="2824163"/>
                </a:quadBezTo>
                <a:lnTo>
                  <a:pt x="37265" y="2824163"/>
                </a:lnTo>
                <a:quadBezTo>
                  <a:pt x="0" y="2824163"/>
                  <a:pt x="0" y="2786898"/>
                </a:quadBezTo>
                <a:lnTo>
                  <a:pt x="0" y="37265"/>
                </a:lnTo>
                <a:quadBezTo>
                  <a:pt x="0" y="0"/>
                  <a:pt x="37265" y="0"/>
                </a:quadBezTo>
                <a:close/>
              </a:path>
            </a:pathLst>
          </a:custGeom>
          <a:solidFill>
            <a:srgbClr val="0B1F3A"/>
          </a:solidFill>
          <a:ln/>
          <a:effectLst>
            <a:outerShdw blurRad="161925" dist="66675" dir="2700000" algn="bl" rotWithShape="0">
              <a:srgbClr val="0B1F3A">
                <a:alpha val="14118"/>
              </a:srgbClr>
            </a:outerShdw>
          </a:effectLst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38" y="2222362"/>
            <a:ext cx="200025" cy="200025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344394" y="2517637"/>
            <a:ext cx="2114550" cy="438150"/>
          </a:xfrm>
          <a:custGeom>
            <a:avLst/>
            <a:gdLst/>
            <a:ahLst/>
            <a:cxnLst/>
            <a:rect l="l" t="t" r="r" b="b"/>
            <a:pathLst>
              <a:path w="2114550" h="438150">
                <a:moveTo>
                  <a:pt x="0" y="0"/>
                </a:moveTo>
                <a:lnTo>
                  <a:pt x="2114550" y="0"/>
                </a:lnTo>
                <a:lnTo>
                  <a:pt x="2114550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6344394" y="2517637"/>
            <a:ext cx="21145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blueprint</a:t>
            </a:r>
            <a:endParaRPr lang="en-US" sz="900" dirty="0"/>
          </a:p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evidence.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344394" y="3051274"/>
            <a:ext cx="2114550" cy="538163"/>
          </a:xfrm>
          <a:custGeom>
            <a:avLst/>
            <a:gdLst/>
            <a:ahLst/>
            <a:cxnLst/>
            <a:rect l="l" t="t" r="r" b="b"/>
            <a:pathLst>
              <a:path w="2114550" h="538163">
                <a:moveTo>
                  <a:pt x="0" y="0"/>
                </a:moveTo>
                <a:lnTo>
                  <a:pt x="2114550" y="0"/>
                </a:lnTo>
                <a:lnTo>
                  <a:pt x="2114550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6344394" y="3051274"/>
            <a:ext cx="2114550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next milestone is a tested, integrated workflow that can be demonstrated with confidence.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344394" y="4281250"/>
            <a:ext cx="2114550" cy="271463"/>
          </a:xfrm>
          <a:custGeom>
            <a:avLst/>
            <a:gdLst/>
            <a:ahLst/>
            <a:cxnLst/>
            <a:rect l="l" t="t" r="r" b="b"/>
            <a:pathLst>
              <a:path w="2114550" h="271463">
                <a:moveTo>
                  <a:pt x="0" y="0"/>
                </a:moveTo>
                <a:lnTo>
                  <a:pt x="2114550" y="0"/>
                </a:lnTo>
                <a:lnTo>
                  <a:pt x="2114550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6344394" y="4281250"/>
            <a:ext cx="21145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A3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FOR IMPLEMENTATION</a:t>
            </a:r>
            <a:endParaRPr lang="en-US" sz="9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4394" y="4281250"/>
            <a:ext cx="2114550" cy="2714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1042</Words>
  <Application>Microsoft Office PowerPoint</Application>
  <PresentationFormat>On-screen Show (16:9)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Inconsolata</vt:lpstr>
      <vt:lpstr>Lexend Deca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RAYAKANTI</cp:lastModifiedBy>
  <cp:revision>2</cp:revision>
  <dcterms:created xsi:type="dcterms:W3CDTF">2026-10-04T13:27:43Z</dcterms:created>
  <dcterms:modified xsi:type="dcterms:W3CDTF">2026-10-04T13:59:51Z</dcterms:modified>
</cp:coreProperties>
</file>